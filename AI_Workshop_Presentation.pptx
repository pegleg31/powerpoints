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44E"/>
        </a:solidFill>
        <a:effectLst/>
      </p:bgPr>
    </p:bg>
    <p:spTree>
      <p:nvGrpSpPr>
        <p:cNvPr id="1" name=""/>
        <p:cNvGrpSpPr/>
        <p:nvPr/>
      </p:nvGrpSpPr>
      <p:grpSpPr/>
      <p:sp>
        <p:nvSpPr>
          <p:cNvPr id="2" name="Rectangle 1"/>
          <p:cNvSpPr/>
          <p:nvPr/>
        </p:nvSpPr>
        <p:spPr>
          <a:xfrm>
            <a:off x="0" y="0"/>
            <a:ext cx="6400800" cy="6858000"/>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14400"/>
            <a:ext cx="9144000" cy="1051560"/>
          </a:xfrm>
          <a:prstGeom prst="rect">
            <a:avLst/>
          </a:prstGeom>
          <a:noFill/>
        </p:spPr>
        <p:txBody>
          <a:bodyPr wrap="square">
            <a:spAutoFit/>
          </a:bodyPr>
          <a:lstStyle/>
          <a:p>
            <a:pPr algn="l"/>
            <a:r>
              <a:rPr sz="5600" b="1" i="0">
                <a:solidFill>
                  <a:srgbClr val="FFFFFF"/>
                </a:solidFill>
                <a:latin typeface="Franklin Gothic Medium Cond"/>
              </a:rPr>
              <a:t>AI as Your</a:t>
            </a:r>
          </a:p>
        </p:txBody>
      </p:sp>
      <p:sp>
        <p:nvSpPr>
          <p:cNvPr id="5" name="TextBox 4"/>
          <p:cNvSpPr txBox="1"/>
          <p:nvPr/>
        </p:nvSpPr>
        <p:spPr>
          <a:xfrm>
            <a:off x="822960" y="2011680"/>
            <a:ext cx="9144000" cy="1051560"/>
          </a:xfrm>
          <a:prstGeom prst="rect">
            <a:avLst/>
          </a:prstGeom>
          <a:noFill/>
        </p:spPr>
        <p:txBody>
          <a:bodyPr wrap="square">
            <a:spAutoFit/>
          </a:bodyPr>
          <a:lstStyle/>
          <a:p>
            <a:pPr algn="l"/>
            <a:r>
              <a:rPr sz="5600" b="1" i="0">
                <a:solidFill>
                  <a:srgbClr val="FDB913"/>
                </a:solidFill>
                <a:latin typeface="Franklin Gothic Medium Cond"/>
              </a:rPr>
              <a:t>Collaborator</a:t>
            </a:r>
          </a:p>
        </p:txBody>
      </p:sp>
      <p:sp>
        <p:nvSpPr>
          <p:cNvPr id="6" name="TextBox 5"/>
          <p:cNvSpPr txBox="1"/>
          <p:nvPr/>
        </p:nvSpPr>
        <p:spPr>
          <a:xfrm>
            <a:off x="822960" y="3246120"/>
            <a:ext cx="8686800" cy="777240"/>
          </a:xfrm>
          <a:prstGeom prst="rect">
            <a:avLst/>
          </a:prstGeom>
          <a:noFill/>
        </p:spPr>
        <p:txBody>
          <a:bodyPr wrap="square">
            <a:spAutoFit/>
          </a:bodyPr>
          <a:lstStyle/>
          <a:p>
            <a:pPr algn="l"/>
            <a:r>
              <a:rPr sz="2400" b="0" i="1">
                <a:solidFill>
                  <a:srgbClr val="FFFFFF"/>
                </a:solidFill>
                <a:latin typeface="Franklin Gothic Medium Cond"/>
              </a:rPr>
              <a:t>An Interactive Workshop for International College Students</a:t>
            </a:r>
          </a:p>
        </p:txBody>
      </p:sp>
      <p:sp>
        <p:nvSpPr>
          <p:cNvPr id="7" name="Rectangle 6"/>
          <p:cNvSpPr/>
          <p:nvPr/>
        </p:nvSpPr>
        <p:spPr>
          <a:xfrm>
            <a:off x="822960" y="4160520"/>
            <a:ext cx="8686800" cy="64008"/>
          </a:xfrm>
          <a:prstGeom prst="rect">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343400"/>
            <a:ext cx="8686800" cy="548640"/>
          </a:xfrm>
          <a:prstGeom prst="rect">
            <a:avLst/>
          </a:prstGeom>
          <a:noFill/>
        </p:spPr>
        <p:txBody>
          <a:bodyPr wrap="square">
            <a:spAutoFit/>
          </a:bodyPr>
          <a:lstStyle/>
          <a:p>
            <a:pPr algn="l"/>
            <a:r>
              <a:rPr sz="1700" b="0" i="0">
                <a:solidFill>
                  <a:srgbClr val="F0F4FA"/>
                </a:solidFill>
                <a:latin typeface="Franklin Gothic Medium Cond"/>
              </a:rPr>
              <a:t>Basics  ·  Mindset Shift  ·  Prompting Lab  ·  Evaluation  ·  Responsible Use</a:t>
            </a:r>
          </a:p>
        </p:txBody>
      </p:sp>
      <p:sp>
        <p:nvSpPr>
          <p:cNvPr id="9" name="TextBox 8"/>
          <p:cNvSpPr txBox="1"/>
          <p:nvPr/>
        </p:nvSpPr>
        <p:spPr>
          <a:xfrm>
            <a:off x="822960" y="5074920"/>
            <a:ext cx="6400800" cy="457200"/>
          </a:xfrm>
          <a:prstGeom prst="rect">
            <a:avLst/>
          </a:prstGeom>
          <a:noFill/>
        </p:spPr>
        <p:txBody>
          <a:bodyPr wrap="square">
            <a:spAutoFit/>
          </a:bodyPr>
          <a:lstStyle/>
          <a:p>
            <a:pPr algn="l"/>
            <a:r>
              <a:rPr sz="1500" b="0" i="1">
                <a:solidFill>
                  <a:srgbClr val="F0F4FA"/>
                </a:solidFill>
                <a:latin typeface="Franklin Gothic Medium Cond"/>
              </a:rPr>
              <a:t>Facilitator Guide  |  Workshop Version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91E8C"/>
        </a:solidFill>
        <a:effectLst/>
      </p:bgPr>
    </p:bg>
    <p:spTree>
      <p:nvGrpSpPr>
        <p:cNvPr id="1" name=""/>
        <p:cNvGrpSpPr/>
        <p:nvPr/>
      </p:nvGrpSpPr>
      <p:grpSpPr/>
      <p:sp>
        <p:nvSpPr>
          <p:cNvPr id="2" name="TextBox 1"/>
          <p:cNvSpPr txBox="1"/>
          <p:nvPr/>
        </p:nvSpPr>
        <p:spPr>
          <a:xfrm>
            <a:off x="7772400" y="457200"/>
            <a:ext cx="4114800" cy="5943600"/>
          </a:xfrm>
          <a:prstGeom prst="rect">
            <a:avLst/>
          </a:prstGeom>
          <a:noFill/>
        </p:spPr>
        <p:txBody>
          <a:bodyPr wrap="square">
            <a:spAutoFit/>
          </a:bodyPr>
          <a:lstStyle/>
          <a:p>
            <a:pPr algn="l"/>
            <a:r>
              <a:rPr sz="28000" b="1" i="0">
                <a:solidFill>
                  <a:srgbClr val="FFFFFF"/>
                </a:solidFill>
                <a:latin typeface="Franklin Gothic Medium Cond"/>
              </a:rPr>
              <a:t>0</a:t>
            </a:r>
          </a:p>
        </p:txBody>
      </p:sp>
      <p:sp>
        <p:nvSpPr>
          <p:cNvPr id="3" name="Rectangle 2"/>
          <p:cNvSpPr/>
          <p:nvPr/>
        </p:nvSpPr>
        <p:spPr>
          <a:xfrm>
            <a:off x="0" y="0"/>
            <a:ext cx="502920" cy="6858000"/>
          </a:xfrm>
          <a:prstGeom prst="rect">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20240"/>
            <a:ext cx="9144000" cy="502920"/>
          </a:xfrm>
          <a:prstGeom prst="rect">
            <a:avLst/>
          </a:prstGeom>
          <a:noFill/>
        </p:spPr>
        <p:txBody>
          <a:bodyPr wrap="square">
            <a:spAutoFit/>
          </a:bodyPr>
          <a:lstStyle/>
          <a:p>
            <a:pPr algn="l"/>
            <a:r>
              <a:rPr sz="1800" b="1" i="1">
                <a:solidFill>
                  <a:srgbClr val="FDB913"/>
                </a:solidFill>
                <a:latin typeface="Franklin Gothic Medium Cond"/>
              </a:rPr>
              <a:t>SECTION 0</a:t>
            </a:r>
          </a:p>
        </p:txBody>
      </p:sp>
      <p:sp>
        <p:nvSpPr>
          <p:cNvPr id="5" name="TextBox 4"/>
          <p:cNvSpPr txBox="1"/>
          <p:nvPr/>
        </p:nvSpPr>
        <p:spPr>
          <a:xfrm>
            <a:off x="777240" y="2514600"/>
            <a:ext cx="9601200" cy="1371600"/>
          </a:xfrm>
          <a:prstGeom prst="rect">
            <a:avLst/>
          </a:prstGeom>
          <a:noFill/>
        </p:spPr>
        <p:txBody>
          <a:bodyPr wrap="square">
            <a:spAutoFit/>
          </a:bodyPr>
          <a:lstStyle/>
          <a:p>
            <a:pPr algn="l"/>
            <a:r>
              <a:rPr sz="4600" b="1" i="0">
                <a:solidFill>
                  <a:srgbClr val="FFFFFF"/>
                </a:solidFill>
                <a:latin typeface="Franklin Gothic Medium Cond"/>
              </a:rPr>
              <a:t>Opening Quiz</a:t>
            </a:r>
          </a:p>
        </p:txBody>
      </p:sp>
      <p:sp>
        <p:nvSpPr>
          <p:cNvPr id="6" name="TextBox 5"/>
          <p:cNvSpPr txBox="1"/>
          <p:nvPr/>
        </p:nvSpPr>
        <p:spPr>
          <a:xfrm>
            <a:off x="777240" y="4023360"/>
            <a:ext cx="9601200" cy="777240"/>
          </a:xfrm>
          <a:prstGeom prst="rect">
            <a:avLst/>
          </a:prstGeom>
          <a:noFill/>
        </p:spPr>
        <p:txBody>
          <a:bodyPr wrap="square">
            <a:spAutoFit/>
          </a:bodyPr>
          <a:lstStyle/>
          <a:p>
            <a:pPr algn="l"/>
            <a:r>
              <a:rPr sz="2200" b="0" i="1">
                <a:solidFill>
                  <a:srgbClr val="F0F4FA"/>
                </a:solidFill>
                <a:latin typeface="Franklin Gothic Medium Cond"/>
              </a:rPr>
              <a:t>Let's see what you already know — no grades, just fun!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How the Quiz Works</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DB913"/>
                </a:solidFill>
                <a:latin typeface="Franklin Gothic Medium Cond"/>
              </a:rPr>
              <a:t>Scan the QR code — answer on your device!</a:t>
            </a:r>
          </a:p>
        </p:txBody>
      </p:sp>
      <p:sp>
        <p:nvSpPr>
          <p:cNvPr id="5" name="Rectangle 4"/>
          <p:cNvSpPr/>
          <p:nvPr/>
        </p:nvSpPr>
        <p:spPr>
          <a:xfrm>
            <a:off x="365760" y="1444752"/>
            <a:ext cx="7498079" cy="51206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27632"/>
            <a:ext cx="7132320" cy="4754880"/>
          </a:xfrm>
          <a:prstGeom prst="rect">
            <a:avLst/>
          </a:prstGeom>
          <a:noFill/>
        </p:spPr>
        <p:txBody>
          <a:bodyPr wrap="square">
            <a:spAutoFit/>
          </a:bodyPr>
          <a:lstStyle/>
          <a:p>
            <a:pPr>
              <a:spcBef>
                <a:spcPts val="600"/>
              </a:spcBef>
            </a:pPr>
            <a:r>
              <a:rPr sz="2000">
                <a:solidFill>
                  <a:srgbClr val="00244E"/>
                </a:solidFill>
                <a:latin typeface="Franklin Gothic Medium Cond"/>
              </a:rPr>
              <a:t>📋  12 quick questions across 4 categories.</a:t>
            </a:r>
          </a:p>
          <a:p>
            <a:pPr>
              <a:spcBef>
                <a:spcPts val="600"/>
              </a:spcBef>
            </a:pPr>
            <a:r>
              <a:rPr sz="2000">
                <a:solidFill>
                  <a:srgbClr val="00244E"/>
                </a:solidFill>
                <a:latin typeface="Franklin Gothic Medium Cond"/>
              </a:rPr>
              <a:t>🤔  Answer honestly — this is NOT graded.</a:t>
            </a:r>
          </a:p>
          <a:p>
            <a:pPr>
              <a:spcBef>
                <a:spcPts val="600"/>
              </a:spcBef>
            </a:pPr>
            <a:r>
              <a:rPr sz="2000">
                <a:solidFill>
                  <a:srgbClr val="00244E"/>
                </a:solidFill>
                <a:latin typeface="Franklin Gothic Medium Cond"/>
              </a:rPr>
              <a:t>🤫  Results are for your reflection only.</a:t>
            </a:r>
          </a:p>
          <a:p>
            <a:pPr>
              <a:spcBef>
                <a:spcPts val="600"/>
              </a:spcBef>
            </a:pPr>
            <a:r>
              <a:rPr sz="2000">
                <a:solidFill>
                  <a:srgbClr val="00244E"/>
                </a:solidFill>
                <a:latin typeface="Franklin Gothic Medium Cond"/>
              </a:rPr>
              <a:t>📱  Use your phone or laptop to respond.</a:t>
            </a:r>
          </a:p>
          <a:p>
            <a:pPr>
              <a:spcBef>
                <a:spcPts val="600"/>
              </a:spcBef>
            </a:pPr>
            <a:r>
              <a:rPr sz="2000">
                <a:solidFill>
                  <a:srgbClr val="00244E"/>
                </a:solidFill>
                <a:latin typeface="Franklin Gothic Medium Cond"/>
              </a:rPr>
              <a:t>⏱   About 1–2 minutes per question.</a:t>
            </a:r>
          </a:p>
          <a:p>
            <a:pPr>
              <a:spcBef>
                <a:spcPts val="600"/>
              </a:spcBef>
            </a:pPr>
            <a:r>
              <a:rPr sz="2000">
                <a:solidFill>
                  <a:srgbClr val="00244E"/>
                </a:solidFill>
                <a:latin typeface="Franklin Gothic Medium Cond"/>
              </a:rPr>
              <a:t>🎯  Goal: understand where you start today.</a:t>
            </a:r>
          </a:p>
          <a:p>
            <a:pPr>
              <a:spcBef>
                <a:spcPts val="600"/>
              </a:spcBef>
            </a:pPr>
            <a:r>
              <a:rPr sz="2000">
                <a:solidFill>
                  <a:srgbClr val="00244E"/>
                </a:solidFill>
                <a:latin typeface="Franklin Gothic Medium Cond"/>
              </a:rPr>
              <a:t/>
            </a:r>
          </a:p>
          <a:p>
            <a:pPr>
              <a:spcBef>
                <a:spcPts val="600"/>
              </a:spcBef>
            </a:pPr>
            <a:r>
              <a:rPr sz="2000" b="1">
                <a:solidFill>
                  <a:srgbClr val="E28E03"/>
                </a:solidFill>
                <a:latin typeface="Franklin Gothic Medium Cond"/>
              </a:rPr>
              <a:t>Categories:</a:t>
            </a:r>
          </a:p>
          <a:p>
            <a:pPr>
              <a:spcBef>
                <a:spcPts val="600"/>
              </a:spcBef>
            </a:pPr>
            <a:r>
              <a:rPr sz="2000" b="1">
                <a:solidFill>
                  <a:srgbClr val="00244E"/>
                </a:solidFill>
                <a:latin typeface="Franklin Gothic Medium Cond"/>
              </a:rPr>
              <a:t>   AI Basics  |  Mindset  |  Prompting Clarity  |  Responsible Use</a:t>
            </a:r>
          </a:p>
        </p:txBody>
      </p:sp>
      <p:sp>
        <p:nvSpPr>
          <p:cNvPr id="7" name="Rectangle 6"/>
          <p:cNvSpPr/>
          <p:nvPr/>
        </p:nvSpPr>
        <p:spPr>
          <a:xfrm>
            <a:off x="8229600" y="1554480"/>
            <a:ext cx="3566160" cy="35661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66760" y="1691640"/>
            <a:ext cx="3291840" cy="3291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58200" y="1783080"/>
            <a:ext cx="822960" cy="82296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03920" y="2834640"/>
            <a:ext cx="640080" cy="6400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458200" y="3794760"/>
            <a:ext cx="822960" cy="82296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509760" y="1828800"/>
            <a:ext cx="640080" cy="6400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23960" y="2148840"/>
            <a:ext cx="274320" cy="27432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509760" y="3840480"/>
            <a:ext cx="640080" cy="6400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469880" y="1783080"/>
            <a:ext cx="822960" cy="82296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515600" y="2834640"/>
            <a:ext cx="640080" cy="6400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515600" y="3840480"/>
            <a:ext cx="640080" cy="6400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5212080"/>
            <a:ext cx="3566160" cy="502920"/>
          </a:xfrm>
          <a:prstGeom prst="rect">
            <a:avLst/>
          </a:prstGeom>
          <a:noFill/>
        </p:spPr>
        <p:txBody>
          <a:bodyPr wrap="square">
            <a:spAutoFit/>
          </a:bodyPr>
          <a:lstStyle/>
          <a:p>
            <a:pPr algn="ctr"/>
            <a:r>
              <a:rPr sz="1800" b="1" i="0">
                <a:solidFill>
                  <a:srgbClr val="E28E03"/>
                </a:solidFill>
                <a:latin typeface="Franklin Gothic Medium Cond"/>
              </a:rPr>
              <a:t>SCAN ME</a:t>
            </a:r>
          </a:p>
        </p:txBody>
      </p:sp>
      <p:sp>
        <p:nvSpPr>
          <p:cNvPr id="19" name="TextBox 18"/>
          <p:cNvSpPr txBox="1"/>
          <p:nvPr/>
        </p:nvSpPr>
        <p:spPr>
          <a:xfrm>
            <a:off x="8138160" y="5760720"/>
            <a:ext cx="3749039" cy="822960"/>
          </a:xfrm>
          <a:prstGeom prst="rect">
            <a:avLst/>
          </a:prstGeom>
          <a:noFill/>
        </p:spPr>
        <p:txBody>
          <a:bodyPr wrap="square">
            <a:spAutoFit/>
          </a:bodyPr>
          <a:lstStyle/>
          <a:p>
            <a:pPr algn="ctr"/>
            <a:r>
              <a:rPr sz="1300" b="0" i="1">
                <a:solidFill>
                  <a:srgbClr val="0A3370"/>
                </a:solidFill>
                <a:latin typeface="Franklin Gothic Medium Cond"/>
              </a:rPr>
              <a:t>Place your quiz link / Mentimeter /
Poll Everywhere QR code 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Quiz Debrief</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DB913"/>
                </a:solidFill>
                <a:latin typeface="Franklin Gothic Medium Cond"/>
              </a:rPr>
              <a:t>Let's talk about what we discovered</a:t>
            </a:r>
          </a:p>
        </p:txBody>
      </p:sp>
      <p:sp>
        <p:nvSpPr>
          <p:cNvPr id="5" name="Rectangle 4"/>
          <p:cNvSpPr/>
          <p:nvPr/>
        </p:nvSpPr>
        <p:spPr>
          <a:xfrm>
            <a:off x="365760" y="1444752"/>
            <a:ext cx="11457432" cy="51206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27632"/>
            <a:ext cx="10972800" cy="4754880"/>
          </a:xfrm>
          <a:prstGeom prst="rect">
            <a:avLst/>
          </a:prstGeom>
          <a:noFill/>
        </p:spPr>
        <p:txBody>
          <a:bodyPr wrap="square">
            <a:spAutoFit/>
          </a:bodyPr>
          <a:lstStyle/>
          <a:p>
            <a:pPr>
              <a:spcBef>
                <a:spcPts val="900"/>
              </a:spcBef>
            </a:pPr>
            <a:r>
              <a:rPr sz="2100">
                <a:solidFill>
                  <a:srgbClr val="00244E"/>
                </a:solidFill>
                <a:latin typeface="Franklin Gothic Medium Cond"/>
              </a:rPr>
              <a:t>✅  Q1–Q3  |  AI Basics:  AI predicts language — it doesn't 'know' truth.</a:t>
            </a:r>
          </a:p>
          <a:p>
            <a:pPr>
              <a:spcBef>
                <a:spcPts val="900"/>
              </a:spcBef>
            </a:pPr>
            <a:r>
              <a:rPr sz="2100">
                <a:solidFill>
                  <a:srgbClr val="00244E"/>
                </a:solidFill>
                <a:latin typeface="Franklin Gothic Medium Cond"/>
              </a:rPr>
              <a:t>✅  Q4–Q5  |  Mindset:  Specific, collaborative prompts get better results.</a:t>
            </a:r>
          </a:p>
          <a:p>
            <a:pPr>
              <a:spcBef>
                <a:spcPts val="900"/>
              </a:spcBef>
            </a:pPr>
            <a:r>
              <a:rPr sz="2100">
                <a:solidFill>
                  <a:srgbClr val="00244E"/>
                </a:solidFill>
                <a:latin typeface="Franklin Gothic Medium Cond"/>
              </a:rPr>
              <a:t>✅  Q6–Q8  |  Prompting:  Role, format, and follow‑up questions improve AI output.</a:t>
            </a:r>
          </a:p>
          <a:p>
            <a:pPr>
              <a:spcBef>
                <a:spcPts val="900"/>
              </a:spcBef>
            </a:pPr>
            <a:r>
              <a:rPr sz="2100">
                <a:solidFill>
                  <a:srgbClr val="00244E"/>
                </a:solidFill>
                <a:latin typeface="Franklin Gothic Medium Cond"/>
              </a:rPr>
              <a:t>✅  Q9–Q12 |  Responsible Use:  AI is a tool — how you use it is your choice.</a:t>
            </a:r>
          </a:p>
          <a:p>
            <a:pPr>
              <a:spcBef>
                <a:spcPts val="900"/>
              </a:spcBef>
            </a:pPr>
            <a:r>
              <a:rPr sz="2100">
                <a:solidFill>
                  <a:srgbClr val="00244E"/>
                </a:solidFill>
                <a:latin typeface="Franklin Gothic Medium Cond"/>
              </a:rPr>
              <a:t/>
            </a:r>
          </a:p>
          <a:p>
            <a:pPr>
              <a:spcBef>
                <a:spcPts val="900"/>
              </a:spcBef>
            </a:pPr>
            <a:r>
              <a:rPr sz="2100" b="1">
                <a:solidFill>
                  <a:srgbClr val="E28E03"/>
                </a:solidFill>
                <a:latin typeface="Franklin Gothic Medium Cond"/>
              </a:rPr>
              <a:t>Key takeaway:</a:t>
            </a:r>
          </a:p>
          <a:p>
            <a:pPr>
              <a:spcBef>
                <a:spcPts val="900"/>
              </a:spcBef>
            </a:pPr>
            <a:r>
              <a:rPr sz="2100" b="1">
                <a:solidFill>
                  <a:srgbClr val="00244E"/>
                </a:solidFill>
                <a:latin typeface="Franklin Gothic Medium Cond"/>
              </a:rPr>
              <a:t>→  The goal of this workshop is to move from passive user to active collaborator.</a:t>
            </a:r>
          </a:p>
          <a:p>
            <a:pPr>
              <a:spcBef>
                <a:spcPts val="900"/>
              </a:spcBef>
            </a:pPr>
            <a:r>
              <a:rPr sz="2100" b="1">
                <a:solidFill>
                  <a:srgbClr val="00244E"/>
                </a:solidFill>
                <a:latin typeface="Franklin Gothic Medium Cond"/>
              </a:rPr>
              <a:t>→  Every strategy we practice today will make your AI interactions more powerful.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9DEA"/>
        </a:solidFill>
        <a:effectLst/>
      </p:bgPr>
    </p:bg>
    <p:spTree>
      <p:nvGrpSpPr>
        <p:cNvPr id="1" name=""/>
        <p:cNvGrpSpPr/>
        <p:nvPr/>
      </p:nvGrpSpPr>
      <p:grpSpPr/>
      <p:sp>
        <p:nvSpPr>
          <p:cNvPr id="2" name="TextBox 1"/>
          <p:cNvSpPr txBox="1"/>
          <p:nvPr/>
        </p:nvSpPr>
        <p:spPr>
          <a:xfrm>
            <a:off x="7772400" y="457200"/>
            <a:ext cx="4114800" cy="5943600"/>
          </a:xfrm>
          <a:prstGeom prst="rect">
            <a:avLst/>
          </a:prstGeom>
          <a:noFill/>
        </p:spPr>
        <p:txBody>
          <a:bodyPr wrap="square">
            <a:spAutoFit/>
          </a:bodyPr>
          <a:lstStyle/>
          <a:p>
            <a:pPr algn="l"/>
            <a:r>
              <a:rPr sz="28000" b="1" i="0">
                <a:solidFill>
                  <a:srgbClr val="FFFFFF"/>
                </a:solidFill>
                <a:latin typeface="Franklin Gothic Medium Cond"/>
              </a:rPr>
              <a:t>1</a:t>
            </a:r>
          </a:p>
        </p:txBody>
      </p:sp>
      <p:sp>
        <p:nvSpPr>
          <p:cNvPr id="3" name="Rectangle 2"/>
          <p:cNvSpPr/>
          <p:nvPr/>
        </p:nvSpPr>
        <p:spPr>
          <a:xfrm>
            <a:off x="0" y="0"/>
            <a:ext cx="502920" cy="6858000"/>
          </a:xfrm>
          <a:prstGeom prst="rect">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20240"/>
            <a:ext cx="9144000" cy="502920"/>
          </a:xfrm>
          <a:prstGeom prst="rect">
            <a:avLst/>
          </a:prstGeom>
          <a:noFill/>
        </p:spPr>
        <p:txBody>
          <a:bodyPr wrap="square">
            <a:spAutoFit/>
          </a:bodyPr>
          <a:lstStyle/>
          <a:p>
            <a:pPr algn="l"/>
            <a:r>
              <a:rPr sz="1800" b="1" i="1">
                <a:solidFill>
                  <a:srgbClr val="FDB913"/>
                </a:solidFill>
                <a:latin typeface="Franklin Gothic Medium Cond"/>
              </a:rPr>
              <a:t>SECTION 1</a:t>
            </a:r>
          </a:p>
        </p:txBody>
      </p:sp>
      <p:sp>
        <p:nvSpPr>
          <p:cNvPr id="5" name="TextBox 4"/>
          <p:cNvSpPr txBox="1"/>
          <p:nvPr/>
        </p:nvSpPr>
        <p:spPr>
          <a:xfrm>
            <a:off x="777240" y="2514600"/>
            <a:ext cx="9601200" cy="1371600"/>
          </a:xfrm>
          <a:prstGeom prst="rect">
            <a:avLst/>
          </a:prstGeom>
          <a:noFill/>
        </p:spPr>
        <p:txBody>
          <a:bodyPr wrap="square">
            <a:spAutoFit/>
          </a:bodyPr>
          <a:lstStyle/>
          <a:p>
            <a:pPr algn="l"/>
            <a:r>
              <a:rPr sz="4600" b="1" i="0">
                <a:solidFill>
                  <a:srgbClr val="FFFFFF"/>
                </a:solidFill>
                <a:latin typeface="Franklin Gothic Medium Cond"/>
              </a:rPr>
              <a:t>Basics of AI</a:t>
            </a:r>
          </a:p>
        </p:txBody>
      </p:sp>
      <p:sp>
        <p:nvSpPr>
          <p:cNvPr id="6" name="TextBox 5"/>
          <p:cNvSpPr txBox="1"/>
          <p:nvPr/>
        </p:nvSpPr>
        <p:spPr>
          <a:xfrm>
            <a:off x="777240" y="4023360"/>
            <a:ext cx="9601200" cy="777240"/>
          </a:xfrm>
          <a:prstGeom prst="rect">
            <a:avLst/>
          </a:prstGeom>
          <a:noFill/>
        </p:spPr>
        <p:txBody>
          <a:bodyPr wrap="square">
            <a:spAutoFit/>
          </a:bodyPr>
          <a:lstStyle/>
          <a:p>
            <a:pPr algn="l"/>
            <a:r>
              <a:rPr sz="2200" b="0" i="1">
                <a:solidFill>
                  <a:srgbClr val="F0F4FA"/>
                </a:solidFill>
                <a:latin typeface="Franklin Gothic Medium Cond"/>
              </a:rPr>
              <a:t>What it is, what it can do, and where it falls short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What Is AI?</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A simple explanation for everyday use</a:t>
            </a:r>
          </a:p>
        </p:txBody>
      </p:sp>
      <p:sp>
        <p:nvSpPr>
          <p:cNvPr id="5" name="Rectangle 4"/>
          <p:cNvSpPr/>
          <p:nvPr/>
        </p:nvSpPr>
        <p:spPr>
          <a:xfrm>
            <a:off x="274320" y="1417320"/>
            <a:ext cx="3749039" cy="5166360"/>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1600200"/>
            <a:ext cx="3474720" cy="685800"/>
          </a:xfrm>
          <a:prstGeom prst="rect">
            <a:avLst/>
          </a:prstGeom>
          <a:noFill/>
        </p:spPr>
        <p:txBody>
          <a:bodyPr wrap="square">
            <a:spAutoFit/>
          </a:bodyPr>
          <a:lstStyle/>
          <a:p>
            <a:pPr algn="ctr"/>
            <a:r>
              <a:rPr sz="2000" b="1" i="0">
                <a:solidFill>
                  <a:srgbClr val="FFFFFF"/>
                </a:solidFill>
                <a:latin typeface="Franklin Gothic Medium Cond"/>
              </a:rPr>
              <a:t>🔍 Pattern Recognition</a:t>
            </a:r>
          </a:p>
        </p:txBody>
      </p:sp>
      <p:sp>
        <p:nvSpPr>
          <p:cNvPr id="7" name="Rectangle 6"/>
          <p:cNvSpPr/>
          <p:nvPr/>
        </p:nvSpPr>
        <p:spPr>
          <a:xfrm>
            <a:off x="365760" y="2377440"/>
            <a:ext cx="356616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2514600"/>
            <a:ext cx="3474720" cy="3749039"/>
          </a:xfrm>
          <a:prstGeom prst="rect">
            <a:avLst/>
          </a:prstGeom>
          <a:noFill/>
        </p:spPr>
        <p:txBody>
          <a:bodyPr wrap="square">
            <a:spAutoFit/>
          </a:bodyPr>
          <a:lstStyle/>
          <a:p>
            <a:r>
              <a:rPr sz="1800">
                <a:solidFill>
                  <a:srgbClr val="FFFFFF"/>
                </a:solidFill>
                <a:latin typeface="Franklin Gothic Medium Cond"/>
              </a:rPr>
              <a:t>AI learns by finding patterns in enormous amounts of text, images, and data. It does not 'think' — it matches patterns.</a:t>
            </a:r>
          </a:p>
        </p:txBody>
      </p:sp>
      <p:sp>
        <p:nvSpPr>
          <p:cNvPr id="9" name="Rectangle 8"/>
          <p:cNvSpPr/>
          <p:nvPr/>
        </p:nvSpPr>
        <p:spPr>
          <a:xfrm>
            <a:off x="4251959" y="1417320"/>
            <a:ext cx="3749039" cy="516636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0" y="1600200"/>
            <a:ext cx="3474720" cy="685800"/>
          </a:xfrm>
          <a:prstGeom prst="rect">
            <a:avLst/>
          </a:prstGeom>
          <a:noFill/>
        </p:spPr>
        <p:txBody>
          <a:bodyPr wrap="square">
            <a:spAutoFit/>
          </a:bodyPr>
          <a:lstStyle/>
          <a:p>
            <a:pPr algn="ctr"/>
            <a:r>
              <a:rPr sz="2000" b="1" i="0">
                <a:solidFill>
                  <a:srgbClr val="FFFFFF"/>
                </a:solidFill>
                <a:latin typeface="Franklin Gothic Medium Cond"/>
              </a:rPr>
              <a:t>💬 Language Generation</a:t>
            </a:r>
          </a:p>
        </p:txBody>
      </p:sp>
      <p:sp>
        <p:nvSpPr>
          <p:cNvPr id="11" name="Rectangle 10"/>
          <p:cNvSpPr/>
          <p:nvPr/>
        </p:nvSpPr>
        <p:spPr>
          <a:xfrm>
            <a:off x="4343399" y="2377440"/>
            <a:ext cx="356616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2514600"/>
            <a:ext cx="3474720" cy="3749039"/>
          </a:xfrm>
          <a:prstGeom prst="rect">
            <a:avLst/>
          </a:prstGeom>
          <a:noFill/>
        </p:spPr>
        <p:txBody>
          <a:bodyPr wrap="square">
            <a:spAutoFit/>
          </a:bodyPr>
          <a:lstStyle/>
          <a:p>
            <a:r>
              <a:rPr sz="1800">
                <a:solidFill>
                  <a:srgbClr val="FFFFFF"/>
                </a:solidFill>
                <a:latin typeface="Franklin Gothic Medium Cond"/>
              </a:rPr>
              <a:t>AI chatbots predict the most likely next word — like autocomplete on a massive scale. Each word is chosen statistically.</a:t>
            </a:r>
          </a:p>
        </p:txBody>
      </p:sp>
      <p:sp>
        <p:nvSpPr>
          <p:cNvPr id="13" name="Rectangle 12"/>
          <p:cNvSpPr/>
          <p:nvPr/>
        </p:nvSpPr>
        <p:spPr>
          <a:xfrm>
            <a:off x="8229600" y="1417320"/>
            <a:ext cx="3749039" cy="516636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6760" y="1600200"/>
            <a:ext cx="3474720" cy="685800"/>
          </a:xfrm>
          <a:prstGeom prst="rect">
            <a:avLst/>
          </a:prstGeom>
          <a:noFill/>
        </p:spPr>
        <p:txBody>
          <a:bodyPr wrap="square">
            <a:spAutoFit/>
          </a:bodyPr>
          <a:lstStyle/>
          <a:p>
            <a:pPr algn="ctr"/>
            <a:r>
              <a:rPr sz="2000" b="1" i="0">
                <a:solidFill>
                  <a:srgbClr val="FFFFFF"/>
                </a:solidFill>
                <a:latin typeface="Franklin Gothic Medium Cond"/>
              </a:rPr>
              <a:t>🚫 No Understanding</a:t>
            </a:r>
          </a:p>
        </p:txBody>
      </p:sp>
      <p:sp>
        <p:nvSpPr>
          <p:cNvPr id="15" name="Rectangle 14"/>
          <p:cNvSpPr/>
          <p:nvPr/>
        </p:nvSpPr>
        <p:spPr>
          <a:xfrm>
            <a:off x="8321040" y="2377440"/>
            <a:ext cx="356616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514600"/>
            <a:ext cx="3474720" cy="3749039"/>
          </a:xfrm>
          <a:prstGeom prst="rect">
            <a:avLst/>
          </a:prstGeom>
          <a:noFill/>
        </p:spPr>
        <p:txBody>
          <a:bodyPr wrap="square">
            <a:spAutoFit/>
          </a:bodyPr>
          <a:lstStyle/>
          <a:p>
            <a:r>
              <a:rPr sz="1800">
                <a:solidFill>
                  <a:srgbClr val="FFFFFF"/>
                </a:solidFill>
                <a:latin typeface="Franklin Gothic Medium Cond"/>
              </a:rPr>
              <a:t>AI does not truly 'know' things. It has no beliefs, no memory between sessions (by default), and no lived experience.</a:t>
            </a:r>
          </a:p>
        </p:txBody>
      </p:sp>
      <p:sp>
        <p:nvSpPr>
          <p:cNvPr id="17" name="TextBox 16"/>
          <p:cNvSpPr txBox="1"/>
          <p:nvPr/>
        </p:nvSpPr>
        <p:spPr>
          <a:xfrm>
            <a:off x="274320" y="6446520"/>
            <a:ext cx="11612880" cy="384048"/>
          </a:xfrm>
          <a:prstGeom prst="rect">
            <a:avLst/>
          </a:prstGeom>
          <a:noFill/>
        </p:spPr>
        <p:txBody>
          <a:bodyPr wrap="square">
            <a:spAutoFit/>
          </a:bodyPr>
          <a:lstStyle/>
          <a:p>
            <a:pPr algn="l"/>
            <a:r>
              <a:rPr sz="1500" b="0" i="1">
                <a:solidFill>
                  <a:srgbClr val="009DEA"/>
                </a:solidFill>
                <a:latin typeface="Franklin Gothic Medium Cond"/>
              </a:rPr>
              <a:t>🔍  Analogy: AI is like very well-read autocomplete — not a search engine, not a brain.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What AI Can Do</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Tasks where AI adds genuine value</a:t>
            </a:r>
          </a:p>
        </p:txBody>
      </p:sp>
      <p:sp>
        <p:nvSpPr>
          <p:cNvPr id="5" name="TextBox 4"/>
          <p:cNvSpPr txBox="1"/>
          <p:nvPr/>
        </p:nvSpPr>
        <p:spPr>
          <a:xfrm>
            <a:off x="548640" y="1463040"/>
            <a:ext cx="11064240" cy="5120640"/>
          </a:xfrm>
          <a:prstGeom prst="rect">
            <a:avLst/>
          </a:prstGeom>
          <a:noFill/>
        </p:spPr>
        <p:txBody>
          <a:bodyPr wrap="square">
            <a:spAutoFit/>
          </a:bodyPr>
          <a:lstStyle/>
          <a:p>
            <a:pPr>
              <a:spcBef>
                <a:spcPts val="900"/>
              </a:spcBef>
            </a:pPr>
            <a:r>
              <a:rPr sz="2100">
                <a:solidFill>
                  <a:srgbClr val="0A3370"/>
                </a:solidFill>
                <a:latin typeface="Franklin Gothic Medium Cond"/>
              </a:rPr>
              <a:t>✓  Summarise long documents into key points</a:t>
            </a:r>
          </a:p>
          <a:p>
            <a:pPr>
              <a:spcBef>
                <a:spcPts val="900"/>
              </a:spcBef>
            </a:pPr>
            <a:r>
              <a:rPr sz="2100">
                <a:solidFill>
                  <a:srgbClr val="0A3370"/>
                </a:solidFill>
                <a:latin typeface="Franklin Gothic Medium Cond"/>
              </a:rPr>
              <a:t>✓  Translate text between languages (with imperfect nuance)</a:t>
            </a:r>
          </a:p>
          <a:p>
            <a:pPr>
              <a:spcBef>
                <a:spcPts val="900"/>
              </a:spcBef>
            </a:pPr>
            <a:r>
              <a:rPr sz="2100">
                <a:solidFill>
                  <a:srgbClr val="0A3370"/>
                </a:solidFill>
                <a:latin typeface="Franklin Gothic Medium Cond"/>
              </a:rPr>
              <a:t>✓  Help plan projects, essays, or schedules</a:t>
            </a:r>
          </a:p>
          <a:p>
            <a:pPr>
              <a:spcBef>
                <a:spcPts val="900"/>
              </a:spcBef>
            </a:pPr>
            <a:r>
              <a:rPr sz="2100">
                <a:solidFill>
                  <a:srgbClr val="0A3370"/>
                </a:solidFill>
                <a:latin typeface="Franklin Gothic Medium Cond"/>
              </a:rPr>
              <a:t>✓  Brainstorm ideas, names, titles, and arguments</a:t>
            </a:r>
          </a:p>
          <a:p>
            <a:pPr>
              <a:spcBef>
                <a:spcPts val="900"/>
              </a:spcBef>
            </a:pPr>
            <a:r>
              <a:rPr sz="2100">
                <a:solidFill>
                  <a:srgbClr val="0A3370"/>
                </a:solidFill>
                <a:latin typeface="Franklin Gothic Medium Cond"/>
              </a:rPr>
              <a:t>✓  Generate templates: emails, outlines, cover letters</a:t>
            </a:r>
          </a:p>
          <a:p>
            <a:pPr>
              <a:spcBef>
                <a:spcPts val="900"/>
              </a:spcBef>
            </a:pPr>
            <a:r>
              <a:rPr sz="2100">
                <a:solidFill>
                  <a:srgbClr val="0A3370"/>
                </a:solidFill>
                <a:latin typeface="Franklin Gothic Medium Cond"/>
              </a:rPr>
              <a:t>✓  Explain complex topics in simpler language</a:t>
            </a:r>
          </a:p>
          <a:p>
            <a:pPr>
              <a:spcBef>
                <a:spcPts val="900"/>
              </a:spcBef>
            </a:pPr>
            <a:r>
              <a:rPr sz="2100">
                <a:solidFill>
                  <a:srgbClr val="0A3370"/>
                </a:solidFill>
                <a:latin typeface="Franklin Gothic Medium Cond"/>
              </a:rPr>
              <a:t>✓  Give feedback on writing drafts</a:t>
            </a:r>
          </a:p>
          <a:p>
            <a:pPr>
              <a:spcBef>
                <a:spcPts val="900"/>
              </a:spcBef>
            </a:pPr>
            <a:r>
              <a:rPr sz="2100">
                <a:solidFill>
                  <a:srgbClr val="0A3370"/>
                </a:solidFill>
                <a:latin typeface="Franklin Gothic Medium Cond"/>
              </a:rPr>
              <a:t>✓  Answer general knowledge questions (with caveats)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What AI Cannot Do</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Critical limitations every user must know</a:t>
            </a:r>
          </a:p>
        </p:txBody>
      </p:sp>
      <p:sp>
        <p:nvSpPr>
          <p:cNvPr id="5" name="TextBox 4"/>
          <p:cNvSpPr txBox="1"/>
          <p:nvPr/>
        </p:nvSpPr>
        <p:spPr>
          <a:xfrm>
            <a:off x="548640" y="1463040"/>
            <a:ext cx="11064240" cy="5120640"/>
          </a:xfrm>
          <a:prstGeom prst="rect">
            <a:avLst/>
          </a:prstGeom>
          <a:noFill/>
        </p:spPr>
        <p:txBody>
          <a:bodyPr wrap="square">
            <a:spAutoFit/>
          </a:bodyPr>
          <a:lstStyle/>
          <a:p>
            <a:pPr>
              <a:spcBef>
                <a:spcPts val="900"/>
              </a:spcBef>
            </a:pPr>
            <a:r>
              <a:rPr sz="2100">
                <a:solidFill>
                  <a:srgbClr val="E28E03"/>
                </a:solidFill>
                <a:latin typeface="Franklin Gothic Medium Cond"/>
              </a:rPr>
              <a:t>✗  Know the truth — AI can confidently state false information ('hallucinations')</a:t>
            </a:r>
          </a:p>
          <a:p>
            <a:pPr>
              <a:spcBef>
                <a:spcPts val="900"/>
              </a:spcBef>
            </a:pPr>
            <a:r>
              <a:rPr sz="2100">
                <a:solidFill>
                  <a:srgbClr val="E28E03"/>
                </a:solidFill>
                <a:latin typeface="Franklin Gothic Medium Cond"/>
              </a:rPr>
              <a:t>✗  Be perfectly accurate — always verify important facts from primary sources</a:t>
            </a:r>
          </a:p>
          <a:p>
            <a:pPr>
              <a:spcBef>
                <a:spcPts val="900"/>
              </a:spcBef>
            </a:pPr>
            <a:r>
              <a:rPr sz="2100">
                <a:solidFill>
                  <a:srgbClr val="E28E03"/>
                </a:solidFill>
                <a:latin typeface="Franklin Gothic Medium Cond"/>
              </a:rPr>
              <a:t>✗  Replace your judgment — AI has no understanding of your unique situation</a:t>
            </a:r>
          </a:p>
          <a:p>
            <a:pPr>
              <a:spcBef>
                <a:spcPts val="900"/>
              </a:spcBef>
            </a:pPr>
            <a:r>
              <a:rPr sz="2100">
                <a:solidFill>
                  <a:srgbClr val="E28E03"/>
                </a:solidFill>
                <a:latin typeface="Franklin Gothic Medium Cond"/>
              </a:rPr>
              <a:t>✗  Understand cultural nuance, humor, sarcasm, or local context reliably</a:t>
            </a:r>
          </a:p>
          <a:p>
            <a:pPr>
              <a:spcBef>
                <a:spcPts val="900"/>
              </a:spcBef>
            </a:pPr>
            <a:r>
              <a:rPr sz="2100">
                <a:solidFill>
                  <a:srgbClr val="E28E03"/>
                </a:solidFill>
                <a:latin typeface="Franklin Gothic Medium Cond"/>
              </a:rPr>
              <a:t>✗  Access live information (unless given web search tools explicitly)</a:t>
            </a:r>
          </a:p>
          <a:p>
            <a:pPr>
              <a:spcBef>
                <a:spcPts val="900"/>
              </a:spcBef>
            </a:pPr>
            <a:r>
              <a:rPr sz="2100">
                <a:solidFill>
                  <a:srgbClr val="E28E03"/>
                </a:solidFill>
                <a:latin typeface="Franklin Gothic Medium Cond"/>
              </a:rPr>
              <a:t>✗  Remember previous conversations (by default)</a:t>
            </a:r>
          </a:p>
          <a:p>
            <a:pPr>
              <a:spcBef>
                <a:spcPts val="900"/>
              </a:spcBef>
            </a:pPr>
            <a:r>
              <a:rPr sz="2100">
                <a:solidFill>
                  <a:srgbClr val="E28E03"/>
                </a:solidFill>
                <a:latin typeface="Franklin Gothic Medium Cond"/>
              </a:rPr>
              <a:t>✗  Think creatively — it recombines existing patterns, not novel ideas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Why AI Makes Mistakes</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Understanding this makes you a smarter user</a:t>
            </a:r>
          </a:p>
        </p:txBody>
      </p:sp>
      <p:sp>
        <p:nvSpPr>
          <p:cNvPr id="5" name="Rectangle 4"/>
          <p:cNvSpPr/>
          <p:nvPr/>
        </p:nvSpPr>
        <p:spPr>
          <a:xfrm>
            <a:off x="274320" y="1444752"/>
            <a:ext cx="5669280" cy="242316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81912"/>
            <a:ext cx="5303520" cy="594360"/>
          </a:xfrm>
          <a:prstGeom prst="rect">
            <a:avLst/>
          </a:prstGeom>
          <a:noFill/>
        </p:spPr>
        <p:txBody>
          <a:bodyPr wrap="square">
            <a:spAutoFit/>
          </a:bodyPr>
          <a:lstStyle/>
          <a:p>
            <a:pPr algn="l"/>
            <a:r>
              <a:rPr sz="2200" b="1" i="0">
                <a:solidFill>
                  <a:srgbClr val="FFFFFF"/>
                </a:solidFill>
                <a:latin typeface="Franklin Gothic Medium Cond"/>
              </a:rPr>
              <a:t>💭 Hallucinations</a:t>
            </a:r>
          </a:p>
        </p:txBody>
      </p:sp>
      <p:sp>
        <p:nvSpPr>
          <p:cNvPr id="7" name="TextBox 6"/>
          <p:cNvSpPr txBox="1"/>
          <p:nvPr/>
        </p:nvSpPr>
        <p:spPr>
          <a:xfrm>
            <a:off x="457200" y="2221992"/>
            <a:ext cx="5303520" cy="1508760"/>
          </a:xfrm>
          <a:prstGeom prst="rect">
            <a:avLst/>
          </a:prstGeom>
          <a:noFill/>
        </p:spPr>
        <p:txBody>
          <a:bodyPr wrap="square">
            <a:spAutoFit/>
          </a:bodyPr>
          <a:lstStyle/>
          <a:p>
            <a:r>
              <a:rPr sz="1700">
                <a:solidFill>
                  <a:srgbClr val="FFFFFF"/>
                </a:solidFill>
                <a:latin typeface="Franklin Gothic Medium Cond"/>
              </a:rPr>
              <a:t>AI sometimes generates plausible-sounding but completely false information — including fake citations, statistics, or events.</a:t>
            </a:r>
          </a:p>
        </p:txBody>
      </p:sp>
      <p:sp>
        <p:nvSpPr>
          <p:cNvPr id="8" name="Rectangle 7"/>
          <p:cNvSpPr/>
          <p:nvPr/>
        </p:nvSpPr>
        <p:spPr>
          <a:xfrm>
            <a:off x="6263640" y="1444752"/>
            <a:ext cx="5669280" cy="242316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581912"/>
            <a:ext cx="5303520" cy="594360"/>
          </a:xfrm>
          <a:prstGeom prst="rect">
            <a:avLst/>
          </a:prstGeom>
          <a:noFill/>
        </p:spPr>
        <p:txBody>
          <a:bodyPr wrap="square">
            <a:spAutoFit/>
          </a:bodyPr>
          <a:lstStyle/>
          <a:p>
            <a:pPr algn="l"/>
            <a:r>
              <a:rPr sz="2200" b="1" i="0">
                <a:solidFill>
                  <a:srgbClr val="FFFFFF"/>
                </a:solidFill>
                <a:latin typeface="Franklin Gothic Medium Cond"/>
              </a:rPr>
              <a:t>⚖️ Bias in Training Data</a:t>
            </a:r>
          </a:p>
        </p:txBody>
      </p:sp>
      <p:sp>
        <p:nvSpPr>
          <p:cNvPr id="10" name="TextBox 9"/>
          <p:cNvSpPr txBox="1"/>
          <p:nvPr/>
        </p:nvSpPr>
        <p:spPr>
          <a:xfrm>
            <a:off x="6446520" y="2221992"/>
            <a:ext cx="5303520" cy="1508760"/>
          </a:xfrm>
          <a:prstGeom prst="rect">
            <a:avLst/>
          </a:prstGeom>
          <a:noFill/>
        </p:spPr>
        <p:txBody>
          <a:bodyPr wrap="square">
            <a:spAutoFit/>
          </a:bodyPr>
          <a:lstStyle/>
          <a:p>
            <a:r>
              <a:rPr sz="1700">
                <a:solidFill>
                  <a:srgbClr val="FFFFFF"/>
                </a:solidFill>
                <a:latin typeface="Franklin Gothic Medium Cond"/>
              </a:rPr>
              <a:t>AI learns from internet text, which reflects human biases around gender, race, culture, and language. These biases can appear in outputs.</a:t>
            </a:r>
          </a:p>
        </p:txBody>
      </p:sp>
      <p:sp>
        <p:nvSpPr>
          <p:cNvPr id="11" name="Rectangle 10"/>
          <p:cNvSpPr/>
          <p:nvPr/>
        </p:nvSpPr>
        <p:spPr>
          <a:xfrm>
            <a:off x="274320" y="4050791"/>
            <a:ext cx="5669280" cy="2423160"/>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187952"/>
            <a:ext cx="5303520" cy="594360"/>
          </a:xfrm>
          <a:prstGeom prst="rect">
            <a:avLst/>
          </a:prstGeom>
          <a:noFill/>
        </p:spPr>
        <p:txBody>
          <a:bodyPr wrap="square">
            <a:spAutoFit/>
          </a:bodyPr>
          <a:lstStyle/>
          <a:p>
            <a:pPr algn="l"/>
            <a:r>
              <a:rPr sz="2200" b="1" i="0">
                <a:solidFill>
                  <a:srgbClr val="FFFFFF"/>
                </a:solidFill>
                <a:latin typeface="Franklin Gothic Medium Cond"/>
              </a:rPr>
              <a:t>❓ Missing Context</a:t>
            </a:r>
          </a:p>
        </p:txBody>
      </p:sp>
      <p:sp>
        <p:nvSpPr>
          <p:cNvPr id="13" name="TextBox 12"/>
          <p:cNvSpPr txBox="1"/>
          <p:nvPr/>
        </p:nvSpPr>
        <p:spPr>
          <a:xfrm>
            <a:off x="457200" y="4828031"/>
            <a:ext cx="5303520" cy="1508760"/>
          </a:xfrm>
          <a:prstGeom prst="rect">
            <a:avLst/>
          </a:prstGeom>
          <a:noFill/>
        </p:spPr>
        <p:txBody>
          <a:bodyPr wrap="square">
            <a:spAutoFit/>
          </a:bodyPr>
          <a:lstStyle/>
          <a:p>
            <a:r>
              <a:rPr sz="1700">
                <a:solidFill>
                  <a:srgbClr val="FFFFFF"/>
                </a:solidFill>
                <a:latin typeface="Franklin Gothic Medium Cond"/>
              </a:rPr>
              <a:t>Without enough context from you, AI fills gaps with assumptions — which may not match your actual situation or needs.</a:t>
            </a:r>
          </a:p>
        </p:txBody>
      </p:sp>
      <p:sp>
        <p:nvSpPr>
          <p:cNvPr id="14" name="Rectangle 13"/>
          <p:cNvSpPr/>
          <p:nvPr/>
        </p:nvSpPr>
        <p:spPr>
          <a:xfrm>
            <a:off x="6263640" y="4050791"/>
            <a:ext cx="5669280" cy="242316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187952"/>
            <a:ext cx="5303520" cy="594360"/>
          </a:xfrm>
          <a:prstGeom prst="rect">
            <a:avLst/>
          </a:prstGeom>
          <a:noFill/>
        </p:spPr>
        <p:txBody>
          <a:bodyPr wrap="square">
            <a:spAutoFit/>
          </a:bodyPr>
          <a:lstStyle/>
          <a:p>
            <a:pPr algn="l"/>
            <a:r>
              <a:rPr sz="2200" b="1" i="0">
                <a:solidFill>
                  <a:srgbClr val="FFFFFF"/>
                </a:solidFill>
                <a:latin typeface="Franklin Gothic Medium Cond"/>
              </a:rPr>
              <a:t>📅 Outdated Training Data</a:t>
            </a:r>
          </a:p>
        </p:txBody>
      </p:sp>
      <p:sp>
        <p:nvSpPr>
          <p:cNvPr id="16" name="TextBox 15"/>
          <p:cNvSpPr txBox="1"/>
          <p:nvPr/>
        </p:nvSpPr>
        <p:spPr>
          <a:xfrm>
            <a:off x="6446520" y="4828031"/>
            <a:ext cx="5303520" cy="1508760"/>
          </a:xfrm>
          <a:prstGeom prst="rect">
            <a:avLst/>
          </a:prstGeom>
          <a:noFill/>
        </p:spPr>
        <p:txBody>
          <a:bodyPr wrap="square">
            <a:spAutoFit/>
          </a:bodyPr>
          <a:lstStyle/>
          <a:p>
            <a:r>
              <a:rPr sz="1700">
                <a:solidFill>
                  <a:srgbClr val="FFFFFF"/>
                </a:solidFill>
                <a:latin typeface="Franklin Gothic Medium Cond"/>
              </a:rPr>
              <a:t>Most AI models have a knowledge cutoff. Events, research, or policies after that date may not be reflected in responses.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Hallucination Example</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This is what a hallucination looks like — confident but false</a:t>
            </a:r>
          </a:p>
        </p:txBody>
      </p:sp>
      <p:sp>
        <p:nvSpPr>
          <p:cNvPr id="5" name="Rectangle 4"/>
          <p:cNvSpPr/>
          <p:nvPr/>
        </p:nvSpPr>
        <p:spPr>
          <a:xfrm>
            <a:off x="274320" y="1417320"/>
            <a:ext cx="11640312" cy="384048"/>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44752"/>
            <a:ext cx="3657600" cy="329184"/>
          </a:xfrm>
          <a:prstGeom prst="rect">
            <a:avLst/>
          </a:prstGeom>
          <a:noFill/>
        </p:spPr>
        <p:txBody>
          <a:bodyPr wrap="square">
            <a:spAutoFit/>
          </a:bodyPr>
          <a:lstStyle/>
          <a:p>
            <a:pPr algn="l"/>
            <a:r>
              <a:rPr sz="1400" b="1" i="0">
                <a:solidFill>
                  <a:srgbClr val="FFFFFF"/>
                </a:solidFill>
                <a:latin typeface="Franklin Gothic Medium Cond"/>
              </a:rPr>
              <a:t>PROMPT</a:t>
            </a:r>
          </a:p>
        </p:txBody>
      </p:sp>
      <p:sp>
        <p:nvSpPr>
          <p:cNvPr id="7" name="Rectangle 6"/>
          <p:cNvSpPr/>
          <p:nvPr/>
        </p:nvSpPr>
        <p:spPr>
          <a:xfrm>
            <a:off x="274320" y="1801368"/>
            <a:ext cx="11640312" cy="1874519"/>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47088"/>
            <a:ext cx="11247120" cy="1737360"/>
          </a:xfrm>
          <a:prstGeom prst="rect">
            <a:avLst/>
          </a:prstGeom>
          <a:noFill/>
        </p:spPr>
        <p:txBody>
          <a:bodyPr wrap="square">
            <a:spAutoFit/>
          </a:bodyPr>
          <a:lstStyle/>
          <a:p>
            <a:r>
              <a:rPr sz="1900" i="1">
                <a:solidFill>
                  <a:srgbClr val="00244E"/>
                </a:solidFill>
                <a:latin typeface="Franklin Gothic Medium Cond"/>
              </a:rPr>
              <a:t>Who wrote the novel 'The Language of Seasons' published in 2019?</a:t>
            </a:r>
          </a:p>
        </p:txBody>
      </p:sp>
      <p:sp>
        <p:nvSpPr>
          <p:cNvPr id="9" name="Rectangle 8"/>
          <p:cNvSpPr/>
          <p:nvPr/>
        </p:nvSpPr>
        <p:spPr>
          <a:xfrm>
            <a:off x="274320" y="3767328"/>
            <a:ext cx="11640312" cy="384048"/>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794760"/>
            <a:ext cx="4572000" cy="329184"/>
          </a:xfrm>
          <a:prstGeom prst="rect">
            <a:avLst/>
          </a:prstGeom>
          <a:noFill/>
        </p:spPr>
        <p:txBody>
          <a:bodyPr wrap="square">
            <a:spAutoFit/>
          </a:bodyPr>
          <a:lstStyle/>
          <a:p>
            <a:pPr algn="l"/>
            <a:r>
              <a:rPr sz="1400" b="1" i="0">
                <a:solidFill>
                  <a:srgbClr val="FFFFFF"/>
                </a:solidFill>
                <a:latin typeface="Franklin Gothic Medium Cond"/>
              </a:rPr>
              <a:t>AI OUTPUT</a:t>
            </a:r>
          </a:p>
        </p:txBody>
      </p:sp>
      <p:sp>
        <p:nvSpPr>
          <p:cNvPr id="11" name="Rectangle 10"/>
          <p:cNvSpPr/>
          <p:nvPr/>
        </p:nvSpPr>
        <p:spPr>
          <a:xfrm>
            <a:off x="274320" y="4151376"/>
            <a:ext cx="11640312" cy="24231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197096"/>
            <a:ext cx="11247120" cy="2286000"/>
          </a:xfrm>
          <a:prstGeom prst="rect">
            <a:avLst/>
          </a:prstGeom>
          <a:noFill/>
        </p:spPr>
        <p:txBody>
          <a:bodyPr wrap="square">
            <a:spAutoFit/>
          </a:bodyPr>
          <a:lstStyle/>
          <a:p>
            <a:r>
              <a:rPr sz="1800">
                <a:solidFill>
                  <a:srgbClr val="0A3370"/>
                </a:solidFill>
              </a:rPr>
              <a:t>The novel 'The Language of Seasons' was written by Maria Chen and published by Penguin Random House in April 2019. It won the Booker Prize shortlist that year.
⚠️  This book, author, and award are completely fabricated. Always verify book titles, authors, and awards with a library catalogue or publisher website.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3370"/>
        </a:solidFill>
        <a:effectLst/>
      </p:bgPr>
    </p:bg>
    <p:spTree>
      <p:nvGrpSpPr>
        <p:cNvPr id="1" name=""/>
        <p:cNvGrpSpPr/>
        <p:nvPr/>
      </p:nvGrpSpPr>
      <p:grpSpPr/>
      <p:sp>
        <p:nvSpPr>
          <p:cNvPr id="2" name="TextBox 1"/>
          <p:cNvSpPr txBox="1"/>
          <p:nvPr/>
        </p:nvSpPr>
        <p:spPr>
          <a:xfrm>
            <a:off x="7772400" y="457200"/>
            <a:ext cx="4114800" cy="5943600"/>
          </a:xfrm>
          <a:prstGeom prst="rect">
            <a:avLst/>
          </a:prstGeom>
          <a:noFill/>
        </p:spPr>
        <p:txBody>
          <a:bodyPr wrap="square">
            <a:spAutoFit/>
          </a:bodyPr>
          <a:lstStyle/>
          <a:p>
            <a:pPr algn="l"/>
            <a:r>
              <a:rPr sz="28000" b="1" i="0">
                <a:solidFill>
                  <a:srgbClr val="FFFFFF"/>
                </a:solidFill>
                <a:latin typeface="Franklin Gothic Medium Cond"/>
              </a:rPr>
              <a:t>2</a:t>
            </a:r>
          </a:p>
        </p:txBody>
      </p:sp>
      <p:sp>
        <p:nvSpPr>
          <p:cNvPr id="3" name="Rectangle 2"/>
          <p:cNvSpPr/>
          <p:nvPr/>
        </p:nvSpPr>
        <p:spPr>
          <a:xfrm>
            <a:off x="0" y="0"/>
            <a:ext cx="502920" cy="6858000"/>
          </a:xfrm>
          <a:prstGeom prst="rect">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20240"/>
            <a:ext cx="9144000" cy="502920"/>
          </a:xfrm>
          <a:prstGeom prst="rect">
            <a:avLst/>
          </a:prstGeom>
          <a:noFill/>
        </p:spPr>
        <p:txBody>
          <a:bodyPr wrap="square">
            <a:spAutoFit/>
          </a:bodyPr>
          <a:lstStyle/>
          <a:p>
            <a:pPr algn="l"/>
            <a:r>
              <a:rPr sz="1800" b="1" i="1">
                <a:solidFill>
                  <a:srgbClr val="FDB913"/>
                </a:solidFill>
                <a:latin typeface="Franklin Gothic Medium Cond"/>
              </a:rPr>
              <a:t>SECTION 2</a:t>
            </a:r>
          </a:p>
        </p:txBody>
      </p:sp>
      <p:sp>
        <p:nvSpPr>
          <p:cNvPr id="5" name="TextBox 4"/>
          <p:cNvSpPr txBox="1"/>
          <p:nvPr/>
        </p:nvSpPr>
        <p:spPr>
          <a:xfrm>
            <a:off x="777240" y="2514600"/>
            <a:ext cx="9601200" cy="1371600"/>
          </a:xfrm>
          <a:prstGeom prst="rect">
            <a:avLst/>
          </a:prstGeom>
          <a:noFill/>
        </p:spPr>
        <p:txBody>
          <a:bodyPr wrap="square">
            <a:spAutoFit/>
          </a:bodyPr>
          <a:lstStyle/>
          <a:p>
            <a:pPr algn="l"/>
            <a:r>
              <a:rPr sz="4600" b="1" i="0">
                <a:solidFill>
                  <a:srgbClr val="FFFFFF"/>
                </a:solidFill>
                <a:latin typeface="Franklin Gothic Medium Cond"/>
              </a:rPr>
              <a:t>Mindset Shift: Search → Collaboration</a:t>
            </a:r>
          </a:p>
        </p:txBody>
      </p:sp>
      <p:sp>
        <p:nvSpPr>
          <p:cNvPr id="6" name="TextBox 5"/>
          <p:cNvSpPr txBox="1"/>
          <p:nvPr/>
        </p:nvSpPr>
        <p:spPr>
          <a:xfrm>
            <a:off x="777240" y="4023360"/>
            <a:ext cx="9601200" cy="777240"/>
          </a:xfrm>
          <a:prstGeom prst="rect">
            <a:avLst/>
          </a:prstGeom>
          <a:noFill/>
        </p:spPr>
        <p:txBody>
          <a:bodyPr wrap="square">
            <a:spAutoFit/>
          </a:bodyPr>
          <a:lstStyle/>
          <a:p>
            <a:pPr algn="l"/>
            <a:r>
              <a:rPr sz="2200" b="0" i="1">
                <a:solidFill>
                  <a:srgbClr val="F0F4FA"/>
                </a:solidFill>
                <a:latin typeface="Franklin Gothic Medium Cond"/>
              </a:rPr>
              <a:t>Change how you talk to AI and transform what you get back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The 'Search Engine' Mindset</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Short, keyword-style queries — passive information retrieval</a:t>
            </a:r>
          </a:p>
        </p:txBody>
      </p:sp>
      <p:sp>
        <p:nvSpPr>
          <p:cNvPr id="5" name="TextBox 4"/>
          <p:cNvSpPr txBox="1"/>
          <p:nvPr/>
        </p:nvSpPr>
        <p:spPr>
          <a:xfrm>
            <a:off x="548640" y="1463040"/>
            <a:ext cx="11064240" cy="5120640"/>
          </a:xfrm>
          <a:prstGeom prst="rect">
            <a:avLst/>
          </a:prstGeom>
          <a:noFill/>
        </p:spPr>
        <p:txBody>
          <a:bodyPr wrap="square">
            <a:spAutoFit/>
          </a:bodyPr>
          <a:lstStyle/>
          <a:p>
            <a:pPr>
              <a:spcBef>
                <a:spcPts val="900"/>
              </a:spcBef>
            </a:pPr>
            <a:r>
              <a:rPr sz="2100">
                <a:solidFill>
                  <a:srgbClr val="E28E03"/>
                </a:solidFill>
                <a:latin typeface="Franklin Gothic Medium Cond"/>
              </a:rPr>
              <a:t>🔎  "What is climate change?"</a:t>
            </a:r>
          </a:p>
          <a:p>
            <a:pPr>
              <a:spcBef>
                <a:spcPts val="900"/>
              </a:spcBef>
            </a:pPr>
            <a:r>
              <a:rPr sz="2100">
                <a:solidFill>
                  <a:srgbClr val="E28E03"/>
                </a:solidFill>
                <a:latin typeface="Franklin Gothic Medium Cond"/>
              </a:rPr>
              <a:t>🔎  "Causes of World War II"</a:t>
            </a:r>
          </a:p>
          <a:p>
            <a:pPr>
              <a:spcBef>
                <a:spcPts val="900"/>
              </a:spcBef>
            </a:pPr>
            <a:r>
              <a:rPr sz="2100">
                <a:solidFill>
                  <a:srgbClr val="E28E03"/>
                </a:solidFill>
                <a:latin typeface="Franklin Gothic Medium Cond"/>
              </a:rPr>
              <a:t>🔎  "Healthy foods"</a:t>
            </a:r>
          </a:p>
          <a:p>
            <a:pPr>
              <a:spcBef>
                <a:spcPts val="900"/>
              </a:spcBef>
            </a:pPr>
            <a:r>
              <a:rPr sz="2100">
                <a:solidFill>
                  <a:srgbClr val="E28E03"/>
                </a:solidFill>
                <a:latin typeface="Franklin Gothic Medium Cond"/>
              </a:rPr>
              <a:t>🔎  "Grammar rules English"</a:t>
            </a:r>
          </a:p>
          <a:p>
            <a:pPr>
              <a:spcBef>
                <a:spcPts val="900"/>
              </a:spcBef>
            </a:pPr>
            <a:r>
              <a:rPr sz="2100">
                <a:solidFill>
                  <a:srgbClr val="E28E03"/>
                </a:solidFill>
                <a:latin typeface="Franklin Gothic Medium Cond"/>
              </a:rPr>
              <a:t>🔎  "Essay about leadership"</a:t>
            </a:r>
          </a:p>
          <a:p>
            <a:pPr>
              <a:spcBef>
                <a:spcPts val="900"/>
              </a:spcBef>
            </a:pPr>
            <a:r>
              <a:rPr sz="2100">
                <a:solidFill>
                  <a:srgbClr val="E28E03"/>
                </a:solidFill>
                <a:latin typeface="Franklin Gothic Medium Cond"/>
              </a:rPr>
              <a:t>🔎  "Python tutorial"</a:t>
            </a:r>
          </a:p>
          <a:p>
            <a:pPr>
              <a:spcBef>
                <a:spcPts val="900"/>
              </a:spcBef>
            </a:pPr>
            <a:r>
              <a:rPr sz="2100">
                <a:solidFill>
                  <a:srgbClr val="E28E03"/>
                </a:solidFill>
                <a:latin typeface="Franklin Gothic Medium Cond"/>
              </a:rPr>
              <a:t>🔎  "Symptoms of anxiety"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The 'Collaborator' Mindset</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Specific, contextual, interactive — active collaboration</a:t>
            </a:r>
          </a:p>
        </p:txBody>
      </p:sp>
      <p:sp>
        <p:nvSpPr>
          <p:cNvPr id="5" name="TextBox 4"/>
          <p:cNvSpPr txBox="1"/>
          <p:nvPr/>
        </p:nvSpPr>
        <p:spPr>
          <a:xfrm>
            <a:off x="548640" y="1463040"/>
            <a:ext cx="11064240" cy="5120640"/>
          </a:xfrm>
          <a:prstGeom prst="rect">
            <a:avLst/>
          </a:prstGeom>
          <a:noFill/>
        </p:spPr>
        <p:txBody>
          <a:bodyPr wrap="square">
            <a:spAutoFit/>
          </a:bodyPr>
          <a:lstStyle/>
          <a:p>
            <a:pPr>
              <a:spcBef>
                <a:spcPts val="900"/>
              </a:spcBef>
            </a:pPr>
            <a:r>
              <a:rPr sz="2100">
                <a:solidFill>
                  <a:srgbClr val="0A3370"/>
                </a:solidFill>
                <a:latin typeface="Franklin Gothic Medium Cond"/>
              </a:rPr>
              <a:t>🤝  "Act as an environmental scientist. Explain climate change to a first-year student in 3 bullet points."</a:t>
            </a:r>
          </a:p>
          <a:p>
            <a:pPr>
              <a:spcBef>
                <a:spcPts val="900"/>
              </a:spcBef>
            </a:pPr>
            <a:r>
              <a:rPr sz="2100">
                <a:solidFill>
                  <a:srgbClr val="0A3370"/>
                </a:solidFill>
                <a:latin typeface="Franklin Gothic Medium Cond"/>
              </a:rPr>
              <a:t>🤝  "Help me understand the main causes of WWI vs. WWII. Ask me questions first to check my knowledge gaps."</a:t>
            </a:r>
          </a:p>
          <a:p>
            <a:pPr>
              <a:spcBef>
                <a:spcPts val="900"/>
              </a:spcBef>
            </a:pPr>
            <a:r>
              <a:rPr sz="2100">
                <a:solidFill>
                  <a:srgbClr val="0A3370"/>
                </a:solidFill>
                <a:latin typeface="Franklin Gothic Medium Cond"/>
              </a:rPr>
              <a:t>🤝  "Give me a weekly meal plan as a table. I'm vegetarian and on a budget."</a:t>
            </a:r>
          </a:p>
          <a:p>
            <a:pPr>
              <a:spcBef>
                <a:spcPts val="900"/>
              </a:spcBef>
            </a:pPr>
            <a:r>
              <a:rPr sz="2100">
                <a:solidFill>
                  <a:srgbClr val="0A3370"/>
                </a:solidFill>
                <a:latin typeface="Franklin Gothic Medium Cond"/>
              </a:rPr>
              <a:t>🤝  "I'm writing an essay on leadership. Suggest 5 thesis angles and explain the pros of each."</a:t>
            </a:r>
          </a:p>
          <a:p>
            <a:pPr>
              <a:spcBef>
                <a:spcPts val="900"/>
              </a:spcBef>
            </a:pPr>
            <a:r>
              <a:rPr sz="2100">
                <a:solidFill>
                  <a:srgbClr val="0A3370"/>
                </a:solidFill>
                <a:latin typeface="Franklin Gothic Medium Cond"/>
              </a:rPr>
              <a:t>🤝  "I'm a beginner. Teach me Python step-by-step, starting with variables. Check my understanding after each step."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Search vs. Collaboration — Side by Side</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Which mindset produces better results?</a:t>
            </a:r>
          </a:p>
        </p:txBody>
      </p:sp>
      <p:sp>
        <p:nvSpPr>
          <p:cNvPr id="5" name="Rectangle 4"/>
          <p:cNvSpPr/>
          <p:nvPr/>
        </p:nvSpPr>
        <p:spPr>
          <a:xfrm>
            <a:off x="274320" y="1417320"/>
            <a:ext cx="5623560" cy="516636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08760"/>
            <a:ext cx="5257800" cy="658368"/>
          </a:xfrm>
          <a:prstGeom prst="rect">
            <a:avLst/>
          </a:prstGeom>
          <a:noFill/>
        </p:spPr>
        <p:txBody>
          <a:bodyPr wrap="square">
            <a:spAutoFit/>
          </a:bodyPr>
          <a:lstStyle/>
          <a:p>
            <a:pPr algn="ctr"/>
            <a:r>
              <a:rPr sz="2200" b="1" i="0">
                <a:solidFill>
                  <a:srgbClr val="FFFFFF"/>
                </a:solidFill>
                <a:latin typeface="Franklin Gothic Medium Cond"/>
              </a:rPr>
              <a:t>🔎  Search Mindset</a:t>
            </a:r>
          </a:p>
        </p:txBody>
      </p:sp>
      <p:sp>
        <p:nvSpPr>
          <p:cNvPr id="7" name="TextBox 6"/>
          <p:cNvSpPr txBox="1"/>
          <p:nvPr/>
        </p:nvSpPr>
        <p:spPr>
          <a:xfrm>
            <a:off x="457200" y="2267712"/>
            <a:ext cx="5257800" cy="4160520"/>
          </a:xfrm>
          <a:prstGeom prst="rect">
            <a:avLst/>
          </a:prstGeom>
          <a:noFill/>
        </p:spPr>
        <p:txBody>
          <a:bodyPr wrap="square">
            <a:spAutoFit/>
          </a:bodyPr>
          <a:lstStyle/>
          <a:p>
            <a:pPr>
              <a:spcBef>
                <a:spcPts val="800"/>
              </a:spcBef>
            </a:pPr>
            <a:r>
              <a:rPr sz="1900">
                <a:solidFill>
                  <a:srgbClr val="FFFFFF"/>
                </a:solidFill>
                <a:latin typeface="Franklin Gothic Medium Cond"/>
              </a:rPr>
              <a:t>▸  Short, keyword queries</a:t>
            </a:r>
          </a:p>
          <a:p>
            <a:pPr>
              <a:spcBef>
                <a:spcPts val="800"/>
              </a:spcBef>
            </a:pPr>
            <a:r>
              <a:rPr sz="1900">
                <a:solidFill>
                  <a:srgbClr val="FFFFFF"/>
                </a:solidFill>
                <a:latin typeface="Franklin Gothic Medium Cond"/>
              </a:rPr>
              <a:t>▸  Expects one correct answer</a:t>
            </a:r>
          </a:p>
          <a:p>
            <a:pPr>
              <a:spcBef>
                <a:spcPts val="800"/>
              </a:spcBef>
            </a:pPr>
            <a:r>
              <a:rPr sz="1900">
                <a:solidFill>
                  <a:srgbClr val="FFFFFF"/>
                </a:solidFill>
                <a:latin typeface="Franklin Gothic Medium Cond"/>
              </a:rPr>
              <a:t>▸  Passive — reads and accepts</a:t>
            </a:r>
          </a:p>
          <a:p>
            <a:pPr>
              <a:spcBef>
                <a:spcPts val="800"/>
              </a:spcBef>
            </a:pPr>
            <a:r>
              <a:rPr sz="1900">
                <a:solidFill>
                  <a:srgbClr val="FFFFFF"/>
                </a:solidFill>
                <a:latin typeface="Franklin Gothic Medium Cond"/>
              </a:rPr>
              <a:t>▸  No follow-up or iteration</a:t>
            </a:r>
          </a:p>
          <a:p>
            <a:pPr>
              <a:spcBef>
                <a:spcPts val="800"/>
              </a:spcBef>
            </a:pPr>
            <a:r>
              <a:rPr sz="1900">
                <a:solidFill>
                  <a:srgbClr val="FFFFFF"/>
                </a:solidFill>
                <a:latin typeface="Franklin Gothic Medium Cond"/>
              </a:rPr>
              <a:t>▸  Treats AI like a dictionary</a:t>
            </a:r>
          </a:p>
          <a:p>
            <a:pPr>
              <a:spcBef>
                <a:spcPts val="800"/>
              </a:spcBef>
            </a:pPr>
            <a:r>
              <a:rPr sz="1900">
                <a:solidFill>
                  <a:srgbClr val="FFFFFF"/>
                </a:solidFill>
                <a:latin typeface="Franklin Gothic Medium Cond"/>
              </a:rPr>
              <a:t>▸  Frustrated when answer is vague</a:t>
            </a:r>
          </a:p>
        </p:txBody>
      </p:sp>
      <p:sp>
        <p:nvSpPr>
          <p:cNvPr id="8" name="Rectangle 7"/>
          <p:cNvSpPr/>
          <p:nvPr/>
        </p:nvSpPr>
        <p:spPr>
          <a:xfrm>
            <a:off x="6291072" y="1417320"/>
            <a:ext cx="5623560" cy="5166360"/>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508760"/>
            <a:ext cx="5257800" cy="658368"/>
          </a:xfrm>
          <a:prstGeom prst="rect">
            <a:avLst/>
          </a:prstGeom>
          <a:noFill/>
        </p:spPr>
        <p:txBody>
          <a:bodyPr wrap="square">
            <a:spAutoFit/>
          </a:bodyPr>
          <a:lstStyle/>
          <a:p>
            <a:pPr algn="ctr"/>
            <a:r>
              <a:rPr sz="2200" b="1" i="0">
                <a:solidFill>
                  <a:srgbClr val="FFFFFF"/>
                </a:solidFill>
                <a:latin typeface="Franklin Gothic Medium Cond"/>
              </a:rPr>
              <a:t>🤝  Collaborator Mindset</a:t>
            </a:r>
          </a:p>
        </p:txBody>
      </p:sp>
      <p:sp>
        <p:nvSpPr>
          <p:cNvPr id="10" name="TextBox 9"/>
          <p:cNvSpPr txBox="1"/>
          <p:nvPr/>
        </p:nvSpPr>
        <p:spPr>
          <a:xfrm>
            <a:off x="6473952" y="2267712"/>
            <a:ext cx="5257800" cy="4160520"/>
          </a:xfrm>
          <a:prstGeom prst="rect">
            <a:avLst/>
          </a:prstGeom>
          <a:noFill/>
        </p:spPr>
        <p:txBody>
          <a:bodyPr wrap="square">
            <a:spAutoFit/>
          </a:bodyPr>
          <a:lstStyle/>
          <a:p>
            <a:pPr>
              <a:spcBef>
                <a:spcPts val="800"/>
              </a:spcBef>
            </a:pPr>
            <a:r>
              <a:rPr sz="1900">
                <a:solidFill>
                  <a:srgbClr val="FFFFFF"/>
                </a:solidFill>
                <a:latin typeface="Franklin Gothic Medium Cond"/>
              </a:rPr>
              <a:t>▸  Context-rich, specific prompts</a:t>
            </a:r>
          </a:p>
          <a:p>
            <a:pPr>
              <a:spcBef>
                <a:spcPts val="800"/>
              </a:spcBef>
            </a:pPr>
            <a:r>
              <a:rPr sz="1900">
                <a:solidFill>
                  <a:srgbClr val="FFFFFF"/>
                </a:solidFill>
                <a:latin typeface="Franklin Gothic Medium Cond"/>
              </a:rPr>
              <a:t>▸  Expects a starting point to refine</a:t>
            </a:r>
          </a:p>
          <a:p>
            <a:pPr>
              <a:spcBef>
                <a:spcPts val="800"/>
              </a:spcBef>
            </a:pPr>
            <a:r>
              <a:rPr sz="1900">
                <a:solidFill>
                  <a:srgbClr val="FFFFFF"/>
                </a:solidFill>
                <a:latin typeface="Franklin Gothic Medium Cond"/>
              </a:rPr>
              <a:t>▸  Active — questions, pushes back</a:t>
            </a:r>
          </a:p>
          <a:p>
            <a:pPr>
              <a:spcBef>
                <a:spcPts val="800"/>
              </a:spcBef>
            </a:pPr>
            <a:r>
              <a:rPr sz="1900">
                <a:solidFill>
                  <a:srgbClr val="FFFFFF"/>
                </a:solidFill>
                <a:latin typeface="Franklin Gothic Medium Cond"/>
              </a:rPr>
              <a:t>▸  Iterates and asks follow-ups</a:t>
            </a:r>
          </a:p>
          <a:p>
            <a:pPr>
              <a:spcBef>
                <a:spcPts val="800"/>
              </a:spcBef>
            </a:pPr>
            <a:r>
              <a:rPr sz="1900">
                <a:solidFill>
                  <a:srgbClr val="FFFFFF"/>
                </a:solidFill>
                <a:latin typeface="Franklin Gothic Medium Cond"/>
              </a:rPr>
              <a:t>▸  Treats AI like a smart assistant</a:t>
            </a:r>
          </a:p>
          <a:p>
            <a:pPr>
              <a:spcBef>
                <a:spcPts val="800"/>
              </a:spcBef>
            </a:pPr>
            <a:r>
              <a:rPr sz="1900">
                <a:solidFill>
                  <a:srgbClr val="FFFFFF"/>
                </a:solidFill>
                <a:latin typeface="Franklin Gothic Medium Cond"/>
              </a:rPr>
              <a:t>▸  Uses vague answers as a chance to clarify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875520" cy="749808"/>
          </a:xfrm>
          <a:prstGeom prst="rect">
            <a:avLst/>
          </a:prstGeom>
          <a:noFill/>
        </p:spPr>
        <p:txBody>
          <a:bodyPr wrap="square">
            <a:spAutoFit/>
          </a:bodyPr>
          <a:lstStyle/>
          <a:p>
            <a:pPr algn="l"/>
            <a:r>
              <a:rPr sz="3200" b="1" i="0">
                <a:solidFill>
                  <a:srgbClr val="FFFFFF"/>
                </a:solidFill>
                <a:latin typeface="Franklin Gothic Medium Cond"/>
              </a:rPr>
              <a:t>✏️  Activity: Mindset Makeover</a:t>
            </a:r>
          </a:p>
        </p:txBody>
      </p:sp>
      <p:sp>
        <p:nvSpPr>
          <p:cNvPr id="4" name="TextBox 3"/>
          <p:cNvSpPr txBox="1"/>
          <p:nvPr/>
        </p:nvSpPr>
        <p:spPr>
          <a:xfrm>
            <a:off x="9875520" y="137160"/>
            <a:ext cx="2103120" cy="594360"/>
          </a:xfrm>
          <a:prstGeom prst="rect">
            <a:avLst/>
          </a:prstGeom>
          <a:noFill/>
        </p:spPr>
        <p:txBody>
          <a:bodyPr wrap="square">
            <a:spAutoFit/>
          </a:bodyPr>
          <a:lstStyle/>
          <a:p>
            <a:pPr algn="r"/>
            <a:r>
              <a:rPr sz="2200" b="1" i="0">
                <a:solidFill>
                  <a:srgbClr val="FFFFFF"/>
                </a:solidFill>
                <a:latin typeface="Franklin Gothic Medium Cond"/>
              </a:rPr>
              <a:t>⏱  8 min</a:t>
            </a:r>
          </a:p>
        </p:txBody>
      </p:sp>
      <p:sp>
        <p:nvSpPr>
          <p:cNvPr id="5" name="Rectangle 4"/>
          <p:cNvSpPr/>
          <p:nvPr/>
        </p:nvSpPr>
        <p:spPr>
          <a:xfrm>
            <a:off x="365760" y="1463040"/>
            <a:ext cx="11457432" cy="507492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45920"/>
            <a:ext cx="10972800" cy="4709160"/>
          </a:xfrm>
          <a:prstGeom prst="rect">
            <a:avLst/>
          </a:prstGeom>
          <a:noFill/>
        </p:spPr>
        <p:txBody>
          <a:bodyPr wrap="square">
            <a:spAutoFit/>
          </a:bodyPr>
          <a:lstStyle/>
          <a:p>
            <a:pPr>
              <a:spcBef>
                <a:spcPts val="900"/>
              </a:spcBef>
            </a:pPr>
            <a:r>
              <a:rPr sz="2100">
                <a:solidFill>
                  <a:srgbClr val="00244E"/>
                </a:solidFill>
                <a:latin typeface="Franklin Gothic Medium Cond"/>
              </a:rPr>
              <a:t>Work with a partner (2 min each direction).</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Step 1:  Partner A reads a 'search mindset' prompt aloud.</a:t>
            </a:r>
          </a:p>
          <a:p>
            <a:pPr>
              <a:spcBef>
                <a:spcPts val="900"/>
              </a:spcBef>
            </a:pPr>
            <a:r>
              <a:rPr sz="2100">
                <a:solidFill>
                  <a:srgbClr val="00244E"/>
                </a:solidFill>
                <a:latin typeface="Franklin Gothic Medium Cond"/>
              </a:rPr>
              <a:t>Step 2:  Partner B rewrites it as a 'collaborator mindset' prompt.</a:t>
            </a:r>
          </a:p>
          <a:p>
            <a:pPr>
              <a:spcBef>
                <a:spcPts val="900"/>
              </a:spcBef>
            </a:pPr>
            <a:r>
              <a:rPr sz="2100">
                <a:solidFill>
                  <a:srgbClr val="00244E"/>
                </a:solidFill>
                <a:latin typeface="Franklin Gothic Medium Cond"/>
              </a:rPr>
              <a:t>Step 3:  Switch roles.</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Starter prompts to transform:</a:t>
            </a:r>
          </a:p>
          <a:p>
            <a:pPr>
              <a:spcBef>
                <a:spcPts val="900"/>
              </a:spcBef>
            </a:pPr>
            <a:r>
              <a:rPr sz="2100" b="1">
                <a:solidFill>
                  <a:srgbClr val="00244E"/>
                </a:solidFill>
                <a:latin typeface="Franklin Gothic Medium Cond"/>
              </a:rPr>
              <a:t>→  'Study tips for exams'</a:t>
            </a:r>
          </a:p>
          <a:p>
            <a:pPr>
              <a:spcBef>
                <a:spcPts val="900"/>
              </a:spcBef>
            </a:pPr>
            <a:r>
              <a:rPr sz="2100" b="1">
                <a:solidFill>
                  <a:srgbClr val="00244E"/>
                </a:solidFill>
                <a:latin typeface="Franklin Gothic Medium Cond"/>
              </a:rPr>
              <a:t>→  'How to write a conclusion'</a:t>
            </a:r>
          </a:p>
          <a:p>
            <a:pPr>
              <a:spcBef>
                <a:spcPts val="900"/>
              </a:spcBef>
            </a:pPr>
            <a:r>
              <a:rPr sz="2100" b="1">
                <a:solidFill>
                  <a:srgbClr val="00244E"/>
                </a:solidFill>
                <a:latin typeface="Franklin Gothic Medium Cond"/>
              </a:rPr>
              <a:t>→  'Vocabulary for academic writing'</a:t>
            </a:r>
          </a:p>
          <a:p>
            <a:pPr>
              <a:spcBef>
                <a:spcPts val="900"/>
              </a:spcBef>
            </a:pPr>
            <a:r>
              <a:rPr sz="2100" b="1">
                <a:solidFill>
                  <a:srgbClr val="00244E"/>
                </a:solidFill>
                <a:latin typeface="Franklin Gothic Medium Cond"/>
              </a:rPr>
              <a:t>→  'What is plagiarism?'</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Share your best rewrite with the group!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244E"/>
        </a:solidFill>
        <a:effectLst/>
      </p:bgPr>
    </p:bg>
    <p:spTree>
      <p:nvGrpSpPr>
        <p:cNvPr id="1" name=""/>
        <p:cNvGrpSpPr/>
        <p:nvPr/>
      </p:nvGrpSpPr>
      <p:grpSpPr/>
      <p:sp>
        <p:nvSpPr>
          <p:cNvPr id="2" name="TextBox 1"/>
          <p:cNvSpPr txBox="1"/>
          <p:nvPr/>
        </p:nvSpPr>
        <p:spPr>
          <a:xfrm>
            <a:off x="7772400" y="457200"/>
            <a:ext cx="4114800" cy="5943600"/>
          </a:xfrm>
          <a:prstGeom prst="rect">
            <a:avLst/>
          </a:prstGeom>
          <a:noFill/>
        </p:spPr>
        <p:txBody>
          <a:bodyPr wrap="square">
            <a:spAutoFit/>
          </a:bodyPr>
          <a:lstStyle/>
          <a:p>
            <a:pPr algn="l"/>
            <a:r>
              <a:rPr sz="28000" b="1" i="0">
                <a:solidFill>
                  <a:srgbClr val="FFFFFF"/>
                </a:solidFill>
                <a:latin typeface="Franklin Gothic Medium Cond"/>
              </a:rPr>
              <a:t>3</a:t>
            </a:r>
          </a:p>
        </p:txBody>
      </p:sp>
      <p:sp>
        <p:nvSpPr>
          <p:cNvPr id="3" name="Rectangle 2"/>
          <p:cNvSpPr/>
          <p:nvPr/>
        </p:nvSpPr>
        <p:spPr>
          <a:xfrm>
            <a:off x="0" y="0"/>
            <a:ext cx="502920" cy="6858000"/>
          </a:xfrm>
          <a:prstGeom prst="rect">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20240"/>
            <a:ext cx="9144000" cy="502920"/>
          </a:xfrm>
          <a:prstGeom prst="rect">
            <a:avLst/>
          </a:prstGeom>
          <a:noFill/>
        </p:spPr>
        <p:txBody>
          <a:bodyPr wrap="square">
            <a:spAutoFit/>
          </a:bodyPr>
          <a:lstStyle/>
          <a:p>
            <a:pPr algn="l"/>
            <a:r>
              <a:rPr sz="1800" b="1" i="1">
                <a:solidFill>
                  <a:srgbClr val="FDB913"/>
                </a:solidFill>
                <a:latin typeface="Franklin Gothic Medium Cond"/>
              </a:rPr>
              <a:t>SECTION 3</a:t>
            </a:r>
          </a:p>
        </p:txBody>
      </p:sp>
      <p:sp>
        <p:nvSpPr>
          <p:cNvPr id="5" name="TextBox 4"/>
          <p:cNvSpPr txBox="1"/>
          <p:nvPr/>
        </p:nvSpPr>
        <p:spPr>
          <a:xfrm>
            <a:off x="777240" y="2514600"/>
            <a:ext cx="9601200" cy="1371600"/>
          </a:xfrm>
          <a:prstGeom prst="rect">
            <a:avLst/>
          </a:prstGeom>
          <a:noFill/>
        </p:spPr>
        <p:txBody>
          <a:bodyPr wrap="square">
            <a:spAutoFit/>
          </a:bodyPr>
          <a:lstStyle/>
          <a:p>
            <a:pPr algn="l"/>
            <a:r>
              <a:rPr sz="4600" b="1" i="0">
                <a:solidFill>
                  <a:srgbClr val="FFFFFF"/>
                </a:solidFill>
                <a:latin typeface="Franklin Gothic Medium Cond"/>
              </a:rPr>
              <a:t>Prompting Lab</a:t>
            </a:r>
          </a:p>
        </p:txBody>
      </p:sp>
      <p:sp>
        <p:nvSpPr>
          <p:cNvPr id="6" name="TextBox 5"/>
          <p:cNvSpPr txBox="1"/>
          <p:nvPr/>
        </p:nvSpPr>
        <p:spPr>
          <a:xfrm>
            <a:off x="777240" y="4023360"/>
            <a:ext cx="9601200" cy="777240"/>
          </a:xfrm>
          <a:prstGeom prst="rect">
            <a:avLst/>
          </a:prstGeom>
          <a:noFill/>
        </p:spPr>
        <p:txBody>
          <a:bodyPr wrap="square">
            <a:spAutoFit/>
          </a:bodyPr>
          <a:lstStyle/>
          <a:p>
            <a:pPr algn="l"/>
            <a:r>
              <a:rPr sz="2200" b="0" i="1">
                <a:solidFill>
                  <a:srgbClr val="F0F4FA"/>
                </a:solidFill>
                <a:latin typeface="Franklin Gothic Medium Cond"/>
              </a:rPr>
              <a:t>4 Strategies  ·  Examples  ·  Try-It Activities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Strategy 1: Role + Task Prompting</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Tell AI WHO it is and WHAT you need it to do</a:t>
            </a:r>
          </a:p>
        </p:txBody>
      </p:sp>
      <p:sp>
        <p:nvSpPr>
          <p:cNvPr id="5" name="Rectangle 4"/>
          <p:cNvSpPr/>
          <p:nvPr/>
        </p:nvSpPr>
        <p:spPr>
          <a:xfrm>
            <a:off x="274320" y="1444752"/>
            <a:ext cx="11640312" cy="51206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36192"/>
            <a:ext cx="3200400" cy="411480"/>
          </a:xfrm>
          <a:prstGeom prst="rect">
            <a:avLst/>
          </a:prstGeom>
          <a:noFill/>
        </p:spPr>
        <p:txBody>
          <a:bodyPr wrap="square">
            <a:spAutoFit/>
          </a:bodyPr>
          <a:lstStyle/>
          <a:p>
            <a:pPr algn="l"/>
            <a:r>
              <a:rPr sz="1500" b="1" i="0">
                <a:solidFill>
                  <a:srgbClr val="00244E"/>
                </a:solidFill>
                <a:latin typeface="Franklin Gothic Medium Cond"/>
              </a:rPr>
              <a:t>TEMPLATE</a:t>
            </a:r>
          </a:p>
        </p:txBody>
      </p:sp>
      <p:sp>
        <p:nvSpPr>
          <p:cNvPr id="7" name="TextBox 6"/>
          <p:cNvSpPr txBox="1"/>
          <p:nvPr/>
        </p:nvSpPr>
        <p:spPr>
          <a:xfrm>
            <a:off x="457200" y="1956816"/>
            <a:ext cx="11247120" cy="731520"/>
          </a:xfrm>
          <a:prstGeom prst="rect">
            <a:avLst/>
          </a:prstGeom>
          <a:noFill/>
        </p:spPr>
        <p:txBody>
          <a:bodyPr wrap="square">
            <a:spAutoFit/>
          </a:bodyPr>
          <a:lstStyle/>
          <a:p>
            <a:pPr algn="l"/>
            <a:r>
              <a:rPr sz="2200" b="1" i="1">
                <a:solidFill>
                  <a:srgbClr val="00244E"/>
                </a:solidFill>
                <a:latin typeface="Franklin Gothic Medium Cond"/>
              </a:rPr>
              <a:t>"Act as [ROLE]. Your audience is [AUDIENCE]. [TASK]. Use [TONE/FORMAT]."</a:t>
            </a:r>
          </a:p>
        </p:txBody>
      </p:sp>
      <p:sp>
        <p:nvSpPr>
          <p:cNvPr id="8" name="Rectangle 7"/>
          <p:cNvSpPr/>
          <p:nvPr/>
        </p:nvSpPr>
        <p:spPr>
          <a:xfrm>
            <a:off x="274320" y="2788920"/>
            <a:ext cx="11640312" cy="54864"/>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80360"/>
            <a:ext cx="3200400" cy="384048"/>
          </a:xfrm>
          <a:prstGeom prst="rect">
            <a:avLst/>
          </a:prstGeom>
          <a:noFill/>
        </p:spPr>
        <p:txBody>
          <a:bodyPr wrap="square">
            <a:spAutoFit/>
          </a:bodyPr>
          <a:lstStyle/>
          <a:p>
            <a:pPr algn="l"/>
            <a:r>
              <a:rPr sz="1700" b="1" i="0">
                <a:solidFill>
                  <a:srgbClr val="E28E03"/>
                </a:solidFill>
                <a:latin typeface="Franklin Gothic Medium Cond"/>
              </a:rPr>
              <a:t>Why it works:</a:t>
            </a:r>
          </a:p>
        </p:txBody>
      </p:sp>
      <p:sp>
        <p:nvSpPr>
          <p:cNvPr id="10" name="TextBox 9"/>
          <p:cNvSpPr txBox="1"/>
          <p:nvPr/>
        </p:nvSpPr>
        <p:spPr>
          <a:xfrm>
            <a:off x="594360" y="3310128"/>
            <a:ext cx="10972800" cy="420624"/>
          </a:xfrm>
          <a:prstGeom prst="rect">
            <a:avLst/>
          </a:prstGeom>
          <a:noFill/>
        </p:spPr>
        <p:txBody>
          <a:bodyPr wrap="square">
            <a:spAutoFit/>
          </a:bodyPr>
          <a:lstStyle/>
          <a:p>
            <a:pPr algn="l"/>
            <a:r>
              <a:rPr sz="1900" b="0" i="0">
                <a:solidFill>
                  <a:srgbClr val="00244E"/>
                </a:solidFill>
                <a:latin typeface="Franklin Gothic Medium Cond"/>
              </a:rPr>
              <a:t>▸  Role sets the expertise level and vocabulary AI uses</a:t>
            </a:r>
          </a:p>
        </p:txBody>
      </p:sp>
      <p:sp>
        <p:nvSpPr>
          <p:cNvPr id="11" name="TextBox 10"/>
          <p:cNvSpPr txBox="1"/>
          <p:nvPr/>
        </p:nvSpPr>
        <p:spPr>
          <a:xfrm>
            <a:off x="594360" y="3785616"/>
            <a:ext cx="10972800" cy="420624"/>
          </a:xfrm>
          <a:prstGeom prst="rect">
            <a:avLst/>
          </a:prstGeom>
          <a:noFill/>
        </p:spPr>
        <p:txBody>
          <a:bodyPr wrap="square">
            <a:spAutoFit/>
          </a:bodyPr>
          <a:lstStyle/>
          <a:p>
            <a:pPr algn="l"/>
            <a:r>
              <a:rPr sz="1900" b="0" i="0">
                <a:solidFill>
                  <a:srgbClr val="00244E"/>
                </a:solidFill>
                <a:latin typeface="Franklin Gothic Medium Cond"/>
              </a:rPr>
              <a:t>▸  Task gives a clear goal — no guessing</a:t>
            </a:r>
          </a:p>
        </p:txBody>
      </p:sp>
      <p:sp>
        <p:nvSpPr>
          <p:cNvPr id="12" name="TextBox 11"/>
          <p:cNvSpPr txBox="1"/>
          <p:nvPr/>
        </p:nvSpPr>
        <p:spPr>
          <a:xfrm>
            <a:off x="594360" y="4261104"/>
            <a:ext cx="10972800" cy="420624"/>
          </a:xfrm>
          <a:prstGeom prst="rect">
            <a:avLst/>
          </a:prstGeom>
          <a:noFill/>
        </p:spPr>
        <p:txBody>
          <a:bodyPr wrap="square">
            <a:spAutoFit/>
          </a:bodyPr>
          <a:lstStyle/>
          <a:p>
            <a:pPr algn="l"/>
            <a:r>
              <a:rPr sz="1900" b="0" i="0">
                <a:solidFill>
                  <a:srgbClr val="00244E"/>
                </a:solidFill>
                <a:latin typeface="Franklin Gothic Medium Cond"/>
              </a:rPr>
              <a:t>▸  Audience shapes complexity and tone</a:t>
            </a:r>
          </a:p>
        </p:txBody>
      </p:sp>
      <p:sp>
        <p:nvSpPr>
          <p:cNvPr id="13" name="TextBox 12"/>
          <p:cNvSpPr txBox="1"/>
          <p:nvPr/>
        </p:nvSpPr>
        <p:spPr>
          <a:xfrm>
            <a:off x="594360" y="4736592"/>
            <a:ext cx="10972800" cy="420624"/>
          </a:xfrm>
          <a:prstGeom prst="rect">
            <a:avLst/>
          </a:prstGeom>
          <a:noFill/>
        </p:spPr>
        <p:txBody>
          <a:bodyPr wrap="square">
            <a:spAutoFit/>
          </a:bodyPr>
          <a:lstStyle/>
          <a:p>
            <a:pPr algn="l"/>
            <a:r>
              <a:rPr sz="1900" b="0" i="0">
                <a:solidFill>
                  <a:srgbClr val="00244E"/>
                </a:solidFill>
                <a:latin typeface="Franklin Gothic Medium Cond"/>
              </a:rPr>
              <a:t>▸  Format ensures output is ready to use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Strategy 1 — Role + Task Example</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Role: Tutor  |  Audience: First-year student  |  Format: 3 examples</a:t>
            </a:r>
          </a:p>
        </p:txBody>
      </p:sp>
      <p:sp>
        <p:nvSpPr>
          <p:cNvPr id="5" name="Rectangle 4"/>
          <p:cNvSpPr/>
          <p:nvPr/>
        </p:nvSpPr>
        <p:spPr>
          <a:xfrm>
            <a:off x="274320" y="1417320"/>
            <a:ext cx="11640312" cy="384048"/>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44752"/>
            <a:ext cx="3657600" cy="329184"/>
          </a:xfrm>
          <a:prstGeom prst="rect">
            <a:avLst/>
          </a:prstGeom>
          <a:noFill/>
        </p:spPr>
        <p:txBody>
          <a:bodyPr wrap="square">
            <a:spAutoFit/>
          </a:bodyPr>
          <a:lstStyle/>
          <a:p>
            <a:pPr algn="l"/>
            <a:r>
              <a:rPr sz="1400" b="1" i="0">
                <a:solidFill>
                  <a:srgbClr val="FFFFFF"/>
                </a:solidFill>
                <a:latin typeface="Franklin Gothic Medium Cond"/>
              </a:rPr>
              <a:t>PROMPT</a:t>
            </a:r>
          </a:p>
        </p:txBody>
      </p:sp>
      <p:sp>
        <p:nvSpPr>
          <p:cNvPr id="7" name="Rectangle 6"/>
          <p:cNvSpPr/>
          <p:nvPr/>
        </p:nvSpPr>
        <p:spPr>
          <a:xfrm>
            <a:off x="274320" y="1801368"/>
            <a:ext cx="11640312" cy="1874519"/>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47088"/>
            <a:ext cx="11247120" cy="1737360"/>
          </a:xfrm>
          <a:prstGeom prst="rect">
            <a:avLst/>
          </a:prstGeom>
          <a:noFill/>
        </p:spPr>
        <p:txBody>
          <a:bodyPr wrap="square">
            <a:spAutoFit/>
          </a:bodyPr>
          <a:lstStyle/>
          <a:p>
            <a:r>
              <a:rPr sz="1900" i="1">
                <a:solidFill>
                  <a:srgbClr val="00244E"/>
                </a:solidFill>
                <a:latin typeface="Franklin Gothic Medium Cond"/>
              </a:rPr>
              <a:t>Act as an academic English tutor. My student is a first-year international student who struggles with thesis statements. Explain what a thesis statement is and give 3 examples — one weak, one okay, one strong. Use simple language.</a:t>
            </a:r>
          </a:p>
        </p:txBody>
      </p:sp>
      <p:sp>
        <p:nvSpPr>
          <p:cNvPr id="9" name="Rectangle 8"/>
          <p:cNvSpPr/>
          <p:nvPr/>
        </p:nvSpPr>
        <p:spPr>
          <a:xfrm>
            <a:off x="274320" y="3767328"/>
            <a:ext cx="11640312" cy="384048"/>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794760"/>
            <a:ext cx="4572000" cy="329184"/>
          </a:xfrm>
          <a:prstGeom prst="rect">
            <a:avLst/>
          </a:prstGeom>
          <a:noFill/>
        </p:spPr>
        <p:txBody>
          <a:bodyPr wrap="square">
            <a:spAutoFit/>
          </a:bodyPr>
          <a:lstStyle/>
          <a:p>
            <a:pPr algn="l"/>
            <a:r>
              <a:rPr sz="1400" b="1" i="0">
                <a:solidFill>
                  <a:srgbClr val="FFFFFF"/>
                </a:solidFill>
                <a:latin typeface="Franklin Gothic Medium Cond"/>
              </a:rPr>
              <a:t>AI OUTPUT</a:t>
            </a:r>
          </a:p>
        </p:txBody>
      </p:sp>
      <p:sp>
        <p:nvSpPr>
          <p:cNvPr id="11" name="Rectangle 10"/>
          <p:cNvSpPr/>
          <p:nvPr/>
        </p:nvSpPr>
        <p:spPr>
          <a:xfrm>
            <a:off x="274320" y="4151376"/>
            <a:ext cx="11640312" cy="24231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197096"/>
            <a:ext cx="11247120" cy="2286000"/>
          </a:xfrm>
          <a:prstGeom prst="rect">
            <a:avLst/>
          </a:prstGeom>
          <a:noFill/>
        </p:spPr>
        <p:txBody>
          <a:bodyPr wrap="square">
            <a:spAutoFit/>
          </a:bodyPr>
          <a:lstStyle/>
          <a:p>
            <a:r>
              <a:rPr sz="1800">
                <a:solidFill>
                  <a:srgbClr val="0A3370"/>
                </a:solidFill>
              </a:rPr>
              <a:t>A thesis statement is the main argument of your essay — it tells your reader what you will prove.
Weak: 'Social media is popular.'  (too vague — everyone agrees)
Okay: 'Social media affects students.'  (needs to say HOW and WHY)
Strong: 'Excessive social media use reduces academic focus because it fragments attention and displaces study time.'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875520" cy="749808"/>
          </a:xfrm>
          <a:prstGeom prst="rect">
            <a:avLst/>
          </a:prstGeom>
          <a:noFill/>
        </p:spPr>
        <p:txBody>
          <a:bodyPr wrap="square">
            <a:spAutoFit/>
          </a:bodyPr>
          <a:lstStyle/>
          <a:p>
            <a:pPr algn="l"/>
            <a:r>
              <a:rPr sz="3200" b="1" i="0">
                <a:solidFill>
                  <a:srgbClr val="FFFFFF"/>
                </a:solidFill>
                <a:latin typeface="Franklin Gothic Medium Cond"/>
              </a:rPr>
              <a:t>✏️  Activity: Try It: Role + Task</a:t>
            </a:r>
          </a:p>
        </p:txBody>
      </p:sp>
      <p:sp>
        <p:nvSpPr>
          <p:cNvPr id="4" name="TextBox 3"/>
          <p:cNvSpPr txBox="1"/>
          <p:nvPr/>
        </p:nvSpPr>
        <p:spPr>
          <a:xfrm>
            <a:off x="9875520" y="137160"/>
            <a:ext cx="2103120" cy="594360"/>
          </a:xfrm>
          <a:prstGeom prst="rect">
            <a:avLst/>
          </a:prstGeom>
          <a:noFill/>
        </p:spPr>
        <p:txBody>
          <a:bodyPr wrap="square">
            <a:spAutoFit/>
          </a:bodyPr>
          <a:lstStyle/>
          <a:p>
            <a:pPr algn="r"/>
            <a:r>
              <a:rPr sz="2200" b="1" i="0">
                <a:solidFill>
                  <a:srgbClr val="FFFFFF"/>
                </a:solidFill>
                <a:latin typeface="Franklin Gothic Medium Cond"/>
              </a:rPr>
              <a:t>⏱  6 min</a:t>
            </a:r>
          </a:p>
        </p:txBody>
      </p:sp>
      <p:sp>
        <p:nvSpPr>
          <p:cNvPr id="5" name="Rectangle 4"/>
          <p:cNvSpPr/>
          <p:nvPr/>
        </p:nvSpPr>
        <p:spPr>
          <a:xfrm>
            <a:off x="365760" y="1463040"/>
            <a:ext cx="11457432" cy="507492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45920"/>
            <a:ext cx="10972800" cy="4709160"/>
          </a:xfrm>
          <a:prstGeom prst="rect">
            <a:avLst/>
          </a:prstGeom>
          <a:noFill/>
        </p:spPr>
        <p:txBody>
          <a:bodyPr wrap="square">
            <a:spAutoFit/>
          </a:bodyPr>
          <a:lstStyle/>
          <a:p>
            <a:pPr>
              <a:spcBef>
                <a:spcPts val="900"/>
              </a:spcBef>
            </a:pPr>
            <a:r>
              <a:rPr sz="2100">
                <a:solidFill>
                  <a:srgbClr val="00244E"/>
                </a:solidFill>
                <a:latin typeface="Franklin Gothic Medium Cond"/>
              </a:rPr>
              <a:t>Write a Role + Task prompt for ONE of these situations:</a:t>
            </a:r>
          </a:p>
          <a:p>
            <a:pPr>
              <a:spcBef>
                <a:spcPts val="900"/>
              </a:spcBef>
            </a:pPr>
            <a:r>
              <a:rPr sz="2100">
                <a:solidFill>
                  <a:srgbClr val="00244E"/>
                </a:solidFill>
                <a:latin typeface="Franklin Gothic Medium Cond"/>
              </a:rPr>
              <a:t/>
            </a:r>
          </a:p>
          <a:p>
            <a:pPr>
              <a:spcBef>
                <a:spcPts val="900"/>
              </a:spcBef>
            </a:pPr>
            <a:r>
              <a:rPr sz="2100" b="1">
                <a:solidFill>
                  <a:srgbClr val="00244E"/>
                </a:solidFill>
                <a:latin typeface="Franklin Gothic Medium Cond"/>
              </a:rPr>
              <a:t>→  You are preparing for a job interview at a tech company.</a:t>
            </a:r>
          </a:p>
          <a:p>
            <a:pPr>
              <a:spcBef>
                <a:spcPts val="900"/>
              </a:spcBef>
            </a:pPr>
            <a:r>
              <a:rPr sz="2100" b="1">
                <a:solidFill>
                  <a:srgbClr val="00244E"/>
                </a:solidFill>
                <a:latin typeface="Franklin Gothic Medium Cond"/>
              </a:rPr>
              <a:t>→  You need to explain your research topic to a non-expert friend.</a:t>
            </a:r>
          </a:p>
          <a:p>
            <a:pPr>
              <a:spcBef>
                <a:spcPts val="900"/>
              </a:spcBef>
            </a:pPr>
            <a:r>
              <a:rPr sz="2100" b="1">
                <a:solidFill>
                  <a:srgbClr val="00244E"/>
                </a:solidFill>
                <a:latin typeface="Franklin Gothic Medium Cond"/>
              </a:rPr>
              <a:t>→  You want feedback on an email you wrote to a professor.</a:t>
            </a:r>
          </a:p>
          <a:p>
            <a:pPr>
              <a:spcBef>
                <a:spcPts val="900"/>
              </a:spcBef>
            </a:pPr>
            <a:r>
              <a:rPr sz="2100" b="1">
                <a:solidFill>
                  <a:srgbClr val="00244E"/>
                </a:solidFill>
                <a:latin typeface="Franklin Gothic Medium Cond"/>
              </a:rPr>
              <a:t>→  You are writing a cover letter for an internship.</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Use the template:</a:t>
            </a:r>
          </a:p>
          <a:p>
            <a:pPr>
              <a:spcBef>
                <a:spcPts val="900"/>
              </a:spcBef>
            </a:pPr>
            <a:r>
              <a:rPr sz="2100" b="1">
                <a:solidFill>
                  <a:srgbClr val="00244E"/>
                </a:solidFill>
                <a:latin typeface="Franklin Gothic Medium Cond"/>
              </a:rPr>
              <a:t>→  'Act as [ROLE]. My audience is [AUDIENCE]. [TASK]. Use [FORMAT].'</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Share your prompt with a neighbour and compare results!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Strategy 2: Step-by-Step / Scaffolded Prompting</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Break complex tasks into guided stages</a:t>
            </a:r>
          </a:p>
        </p:txBody>
      </p:sp>
      <p:sp>
        <p:nvSpPr>
          <p:cNvPr id="5" name="Rectangle 4"/>
          <p:cNvSpPr/>
          <p:nvPr/>
        </p:nvSpPr>
        <p:spPr>
          <a:xfrm>
            <a:off x="274320" y="1444752"/>
            <a:ext cx="11640312" cy="51206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36192"/>
            <a:ext cx="8229600" cy="411480"/>
          </a:xfrm>
          <a:prstGeom prst="rect">
            <a:avLst/>
          </a:prstGeom>
          <a:noFill/>
        </p:spPr>
        <p:txBody>
          <a:bodyPr wrap="square">
            <a:spAutoFit/>
          </a:bodyPr>
          <a:lstStyle/>
          <a:p>
            <a:pPr algn="l"/>
            <a:r>
              <a:rPr sz="1600" b="1" i="0">
                <a:solidFill>
                  <a:srgbClr val="009DEA"/>
                </a:solidFill>
                <a:latin typeface="Franklin Gothic Medium Cond"/>
              </a:rPr>
              <a:t>HOW TO ASK FOR BREAKDOWNS</a:t>
            </a:r>
          </a:p>
        </p:txBody>
      </p:sp>
      <p:sp>
        <p:nvSpPr>
          <p:cNvPr id="7" name="Rectangle 6"/>
          <p:cNvSpPr/>
          <p:nvPr/>
        </p:nvSpPr>
        <p:spPr>
          <a:xfrm>
            <a:off x="365760" y="2057400"/>
            <a:ext cx="2788920" cy="4343400"/>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2148840"/>
            <a:ext cx="713232" cy="731520"/>
          </a:xfrm>
          <a:prstGeom prst="rect">
            <a:avLst/>
          </a:prstGeom>
          <a:noFill/>
        </p:spPr>
        <p:txBody>
          <a:bodyPr wrap="square">
            <a:spAutoFit/>
          </a:bodyPr>
          <a:lstStyle/>
          <a:p>
            <a:pPr algn="l"/>
            <a:r>
              <a:rPr sz="3600" b="1" i="0">
                <a:solidFill>
                  <a:srgbClr val="FFFFFF"/>
                </a:solidFill>
                <a:latin typeface="Franklin Gothic Medium Cond"/>
              </a:rPr>
              <a:t>1</a:t>
            </a:r>
          </a:p>
        </p:txBody>
      </p:sp>
      <p:sp>
        <p:nvSpPr>
          <p:cNvPr id="9" name="TextBox 8"/>
          <p:cNvSpPr txBox="1"/>
          <p:nvPr/>
        </p:nvSpPr>
        <p:spPr>
          <a:xfrm>
            <a:off x="475488" y="2990088"/>
            <a:ext cx="2560320" cy="530352"/>
          </a:xfrm>
          <a:prstGeom prst="rect">
            <a:avLst/>
          </a:prstGeom>
          <a:noFill/>
        </p:spPr>
        <p:txBody>
          <a:bodyPr wrap="square">
            <a:spAutoFit/>
          </a:bodyPr>
          <a:lstStyle/>
          <a:p>
            <a:pPr algn="l"/>
            <a:r>
              <a:rPr sz="2000" b="1" i="0">
                <a:solidFill>
                  <a:srgbClr val="FFFFFF"/>
                </a:solidFill>
                <a:latin typeface="Franklin Gothic Medium Cond"/>
              </a:rPr>
              <a:t>Start Big</a:t>
            </a:r>
          </a:p>
        </p:txBody>
      </p:sp>
      <p:sp>
        <p:nvSpPr>
          <p:cNvPr id="10" name="TextBox 9"/>
          <p:cNvSpPr txBox="1"/>
          <p:nvPr/>
        </p:nvSpPr>
        <p:spPr>
          <a:xfrm>
            <a:off x="475488" y="3593591"/>
            <a:ext cx="2560320" cy="2651760"/>
          </a:xfrm>
          <a:prstGeom prst="rect">
            <a:avLst/>
          </a:prstGeom>
          <a:noFill/>
        </p:spPr>
        <p:txBody>
          <a:bodyPr wrap="square">
            <a:spAutoFit/>
          </a:bodyPr>
          <a:lstStyle/>
          <a:p>
            <a:r>
              <a:rPr sz="1700">
                <a:solidFill>
                  <a:srgbClr val="FFFFFF"/>
                </a:solidFill>
                <a:latin typeface="Franklin Gothic Medium Cond"/>
              </a:rPr>
              <a:t>Ask for an overview or outline first.</a:t>
            </a:r>
          </a:p>
        </p:txBody>
      </p:sp>
      <p:sp>
        <p:nvSpPr>
          <p:cNvPr id="11" name="Rectangle 10"/>
          <p:cNvSpPr/>
          <p:nvPr/>
        </p:nvSpPr>
        <p:spPr>
          <a:xfrm>
            <a:off x="3310128" y="2057400"/>
            <a:ext cx="2788920" cy="434340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9856" y="2148840"/>
            <a:ext cx="713232" cy="731520"/>
          </a:xfrm>
          <a:prstGeom prst="rect">
            <a:avLst/>
          </a:prstGeom>
          <a:noFill/>
        </p:spPr>
        <p:txBody>
          <a:bodyPr wrap="square">
            <a:spAutoFit/>
          </a:bodyPr>
          <a:lstStyle/>
          <a:p>
            <a:pPr algn="l"/>
            <a:r>
              <a:rPr sz="3600" b="1" i="0">
                <a:solidFill>
                  <a:srgbClr val="FFFFFF"/>
                </a:solidFill>
                <a:latin typeface="Franklin Gothic Medium Cond"/>
              </a:rPr>
              <a:t>2</a:t>
            </a:r>
          </a:p>
        </p:txBody>
      </p:sp>
      <p:sp>
        <p:nvSpPr>
          <p:cNvPr id="13" name="TextBox 12"/>
          <p:cNvSpPr txBox="1"/>
          <p:nvPr/>
        </p:nvSpPr>
        <p:spPr>
          <a:xfrm>
            <a:off x="3419856" y="2990088"/>
            <a:ext cx="2560320" cy="530352"/>
          </a:xfrm>
          <a:prstGeom prst="rect">
            <a:avLst/>
          </a:prstGeom>
          <a:noFill/>
        </p:spPr>
        <p:txBody>
          <a:bodyPr wrap="square">
            <a:spAutoFit/>
          </a:bodyPr>
          <a:lstStyle/>
          <a:p>
            <a:pPr algn="l"/>
            <a:r>
              <a:rPr sz="2000" b="1" i="0">
                <a:solidFill>
                  <a:srgbClr val="FFFFFF"/>
                </a:solidFill>
                <a:latin typeface="Franklin Gothic Medium Cond"/>
              </a:rPr>
              <a:t>Zoom In</a:t>
            </a:r>
          </a:p>
        </p:txBody>
      </p:sp>
      <p:sp>
        <p:nvSpPr>
          <p:cNvPr id="14" name="TextBox 13"/>
          <p:cNvSpPr txBox="1"/>
          <p:nvPr/>
        </p:nvSpPr>
        <p:spPr>
          <a:xfrm>
            <a:off x="3419856" y="3593591"/>
            <a:ext cx="2560320" cy="2651760"/>
          </a:xfrm>
          <a:prstGeom prst="rect">
            <a:avLst/>
          </a:prstGeom>
          <a:noFill/>
        </p:spPr>
        <p:txBody>
          <a:bodyPr wrap="square">
            <a:spAutoFit/>
          </a:bodyPr>
          <a:lstStyle/>
          <a:p>
            <a:r>
              <a:rPr sz="1700">
                <a:solidFill>
                  <a:srgbClr val="FFFFFF"/>
                </a:solidFill>
                <a:latin typeface="Franklin Gothic Medium Cond"/>
              </a:rPr>
              <a:t>Follow up: 'Now explain step 2 in more detail.'</a:t>
            </a:r>
          </a:p>
        </p:txBody>
      </p:sp>
      <p:sp>
        <p:nvSpPr>
          <p:cNvPr id="15" name="Rectangle 14"/>
          <p:cNvSpPr/>
          <p:nvPr/>
        </p:nvSpPr>
        <p:spPr>
          <a:xfrm>
            <a:off x="6254496" y="2057400"/>
            <a:ext cx="2788920" cy="4343400"/>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2148840"/>
            <a:ext cx="713232" cy="731520"/>
          </a:xfrm>
          <a:prstGeom prst="rect">
            <a:avLst/>
          </a:prstGeom>
          <a:noFill/>
        </p:spPr>
        <p:txBody>
          <a:bodyPr wrap="square">
            <a:spAutoFit/>
          </a:bodyPr>
          <a:lstStyle/>
          <a:p>
            <a:pPr algn="l"/>
            <a:r>
              <a:rPr sz="3600" b="1" i="0">
                <a:solidFill>
                  <a:srgbClr val="FFFFFF"/>
                </a:solidFill>
                <a:latin typeface="Franklin Gothic Medium Cond"/>
              </a:rPr>
              <a:t>3</a:t>
            </a:r>
          </a:p>
        </p:txBody>
      </p:sp>
      <p:sp>
        <p:nvSpPr>
          <p:cNvPr id="17" name="TextBox 16"/>
          <p:cNvSpPr txBox="1"/>
          <p:nvPr/>
        </p:nvSpPr>
        <p:spPr>
          <a:xfrm>
            <a:off x="6364224" y="2990088"/>
            <a:ext cx="2560320" cy="530352"/>
          </a:xfrm>
          <a:prstGeom prst="rect">
            <a:avLst/>
          </a:prstGeom>
          <a:noFill/>
        </p:spPr>
        <p:txBody>
          <a:bodyPr wrap="square">
            <a:spAutoFit/>
          </a:bodyPr>
          <a:lstStyle/>
          <a:p>
            <a:pPr algn="l"/>
            <a:r>
              <a:rPr sz="2000" b="1" i="0">
                <a:solidFill>
                  <a:srgbClr val="FFFFFF"/>
                </a:solidFill>
                <a:latin typeface="Franklin Gothic Medium Cond"/>
              </a:rPr>
              <a:t>Check In</a:t>
            </a:r>
          </a:p>
        </p:txBody>
      </p:sp>
      <p:sp>
        <p:nvSpPr>
          <p:cNvPr id="18" name="TextBox 17"/>
          <p:cNvSpPr txBox="1"/>
          <p:nvPr/>
        </p:nvSpPr>
        <p:spPr>
          <a:xfrm>
            <a:off x="6364224" y="3593591"/>
            <a:ext cx="2560320" cy="2651760"/>
          </a:xfrm>
          <a:prstGeom prst="rect">
            <a:avLst/>
          </a:prstGeom>
          <a:noFill/>
        </p:spPr>
        <p:txBody>
          <a:bodyPr wrap="square">
            <a:spAutoFit/>
          </a:bodyPr>
          <a:lstStyle/>
          <a:p>
            <a:r>
              <a:rPr sz="1700">
                <a:solidFill>
                  <a:srgbClr val="FFFFFF"/>
                </a:solidFill>
                <a:latin typeface="Franklin Gothic Medium Cond"/>
              </a:rPr>
              <a:t>Ask: 'What have I missed? What should I consider next?'</a:t>
            </a:r>
          </a:p>
        </p:txBody>
      </p:sp>
      <p:sp>
        <p:nvSpPr>
          <p:cNvPr id="19" name="Rectangle 18"/>
          <p:cNvSpPr/>
          <p:nvPr/>
        </p:nvSpPr>
        <p:spPr>
          <a:xfrm>
            <a:off x="9198864" y="2057400"/>
            <a:ext cx="2788920" cy="434340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08592" y="2148840"/>
            <a:ext cx="713232" cy="731520"/>
          </a:xfrm>
          <a:prstGeom prst="rect">
            <a:avLst/>
          </a:prstGeom>
          <a:noFill/>
        </p:spPr>
        <p:txBody>
          <a:bodyPr wrap="square">
            <a:spAutoFit/>
          </a:bodyPr>
          <a:lstStyle/>
          <a:p>
            <a:pPr algn="l"/>
            <a:r>
              <a:rPr sz="3600" b="1" i="0">
                <a:solidFill>
                  <a:srgbClr val="FFFFFF"/>
                </a:solidFill>
                <a:latin typeface="Franklin Gothic Medium Cond"/>
              </a:rPr>
              <a:t>4</a:t>
            </a:r>
          </a:p>
        </p:txBody>
      </p:sp>
      <p:sp>
        <p:nvSpPr>
          <p:cNvPr id="21" name="TextBox 20"/>
          <p:cNvSpPr txBox="1"/>
          <p:nvPr/>
        </p:nvSpPr>
        <p:spPr>
          <a:xfrm>
            <a:off x="9308592" y="2990088"/>
            <a:ext cx="2560320" cy="530352"/>
          </a:xfrm>
          <a:prstGeom prst="rect">
            <a:avLst/>
          </a:prstGeom>
          <a:noFill/>
        </p:spPr>
        <p:txBody>
          <a:bodyPr wrap="square">
            <a:spAutoFit/>
          </a:bodyPr>
          <a:lstStyle/>
          <a:p>
            <a:pPr algn="l"/>
            <a:r>
              <a:rPr sz="2000" b="1" i="0">
                <a:solidFill>
                  <a:srgbClr val="FFFFFF"/>
                </a:solidFill>
                <a:latin typeface="Franklin Gothic Medium Cond"/>
              </a:rPr>
              <a:t>Iterate</a:t>
            </a:r>
          </a:p>
        </p:txBody>
      </p:sp>
      <p:sp>
        <p:nvSpPr>
          <p:cNvPr id="22" name="TextBox 21"/>
          <p:cNvSpPr txBox="1"/>
          <p:nvPr/>
        </p:nvSpPr>
        <p:spPr>
          <a:xfrm>
            <a:off x="9308592" y="3593591"/>
            <a:ext cx="2560320" cy="2651760"/>
          </a:xfrm>
          <a:prstGeom prst="rect">
            <a:avLst/>
          </a:prstGeom>
          <a:noFill/>
        </p:spPr>
        <p:txBody>
          <a:bodyPr wrap="square">
            <a:spAutoFit/>
          </a:bodyPr>
          <a:lstStyle/>
          <a:p>
            <a:r>
              <a:rPr sz="1700">
                <a:solidFill>
                  <a:srgbClr val="FFFFFF"/>
                </a:solidFill>
                <a:latin typeface="Franklin Gothic Medium Cond"/>
              </a:rPr>
              <a:t>Refine: 'Simplify this section. Add an example.'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Strategy 2 — Scaffolded Prompting Example</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Notice: you control the pace, AI builds step by step</a:t>
            </a:r>
          </a:p>
        </p:txBody>
      </p:sp>
      <p:sp>
        <p:nvSpPr>
          <p:cNvPr id="5" name="Rectangle 4"/>
          <p:cNvSpPr/>
          <p:nvPr/>
        </p:nvSpPr>
        <p:spPr>
          <a:xfrm>
            <a:off x="274320" y="1417320"/>
            <a:ext cx="11640312" cy="384048"/>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44752"/>
            <a:ext cx="3657600" cy="329184"/>
          </a:xfrm>
          <a:prstGeom prst="rect">
            <a:avLst/>
          </a:prstGeom>
          <a:noFill/>
        </p:spPr>
        <p:txBody>
          <a:bodyPr wrap="square">
            <a:spAutoFit/>
          </a:bodyPr>
          <a:lstStyle/>
          <a:p>
            <a:pPr algn="l"/>
            <a:r>
              <a:rPr sz="1400" b="1" i="0">
                <a:solidFill>
                  <a:srgbClr val="FFFFFF"/>
                </a:solidFill>
                <a:latin typeface="Franklin Gothic Medium Cond"/>
              </a:rPr>
              <a:t>PROMPT</a:t>
            </a:r>
          </a:p>
        </p:txBody>
      </p:sp>
      <p:sp>
        <p:nvSpPr>
          <p:cNvPr id="7" name="Rectangle 6"/>
          <p:cNvSpPr/>
          <p:nvPr/>
        </p:nvSpPr>
        <p:spPr>
          <a:xfrm>
            <a:off x="274320" y="1801368"/>
            <a:ext cx="11640312" cy="1874519"/>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47088"/>
            <a:ext cx="11247120" cy="1737360"/>
          </a:xfrm>
          <a:prstGeom prst="rect">
            <a:avLst/>
          </a:prstGeom>
          <a:noFill/>
        </p:spPr>
        <p:txBody>
          <a:bodyPr wrap="square">
            <a:spAutoFit/>
          </a:bodyPr>
          <a:lstStyle/>
          <a:p>
            <a:r>
              <a:rPr sz="1900" i="1">
                <a:solidFill>
                  <a:srgbClr val="00244E"/>
                </a:solidFill>
                <a:latin typeface="Franklin Gothic Medium Cond"/>
              </a:rPr>
              <a:t>I need to write a 1,500-word essay on globalisation and education. Start by giving me an outline with 5 sections and 2–3 bullet points per section. Do not write the essay yet — just the structure.</a:t>
            </a:r>
          </a:p>
        </p:txBody>
      </p:sp>
      <p:sp>
        <p:nvSpPr>
          <p:cNvPr id="9" name="Rectangle 8"/>
          <p:cNvSpPr/>
          <p:nvPr/>
        </p:nvSpPr>
        <p:spPr>
          <a:xfrm>
            <a:off x="274320" y="3767328"/>
            <a:ext cx="11640312" cy="384048"/>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794760"/>
            <a:ext cx="4572000" cy="329184"/>
          </a:xfrm>
          <a:prstGeom prst="rect">
            <a:avLst/>
          </a:prstGeom>
          <a:noFill/>
        </p:spPr>
        <p:txBody>
          <a:bodyPr wrap="square">
            <a:spAutoFit/>
          </a:bodyPr>
          <a:lstStyle/>
          <a:p>
            <a:pPr algn="l"/>
            <a:r>
              <a:rPr sz="1400" b="1" i="0">
                <a:solidFill>
                  <a:srgbClr val="FFFFFF"/>
                </a:solidFill>
                <a:latin typeface="Franklin Gothic Medium Cond"/>
              </a:rPr>
              <a:t>AI OUTPUT</a:t>
            </a:r>
          </a:p>
        </p:txBody>
      </p:sp>
      <p:sp>
        <p:nvSpPr>
          <p:cNvPr id="11" name="Rectangle 10"/>
          <p:cNvSpPr/>
          <p:nvPr/>
        </p:nvSpPr>
        <p:spPr>
          <a:xfrm>
            <a:off x="274320" y="4151376"/>
            <a:ext cx="11640312" cy="24231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197096"/>
            <a:ext cx="11247120" cy="2286000"/>
          </a:xfrm>
          <a:prstGeom prst="rect">
            <a:avLst/>
          </a:prstGeom>
          <a:noFill/>
        </p:spPr>
        <p:txBody>
          <a:bodyPr wrap="square">
            <a:spAutoFit/>
          </a:bodyPr>
          <a:lstStyle/>
          <a:p>
            <a:r>
              <a:rPr sz="1800">
                <a:solidFill>
                  <a:srgbClr val="0A3370"/>
                </a:solidFill>
              </a:rPr>
              <a:t>Outline: Globalisation &amp; Education
1. Introduction  •  Define globalisation  •  Relevance to education  •  Thesis preview
2. Benefits  •  Access to resources  •  Cultural exchange  •  International opportunities
3. Challenges  •  Inequality of access  •  Language barriers  •  Cultural homogenisation
4. Case Studies  •  Online learning platforms  •  International student mobility
5. Conclusion  •  Summary  •  Future implications  •  Call to action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875520" cy="749808"/>
          </a:xfrm>
          <a:prstGeom prst="rect">
            <a:avLst/>
          </a:prstGeom>
          <a:noFill/>
        </p:spPr>
        <p:txBody>
          <a:bodyPr wrap="square">
            <a:spAutoFit/>
          </a:bodyPr>
          <a:lstStyle/>
          <a:p>
            <a:pPr algn="l"/>
            <a:r>
              <a:rPr sz="3200" b="1" i="0">
                <a:solidFill>
                  <a:srgbClr val="FFFFFF"/>
                </a:solidFill>
                <a:latin typeface="Franklin Gothic Medium Cond"/>
              </a:rPr>
              <a:t>✏️  Activity: Try It: Scaffolded Prompting</a:t>
            </a:r>
          </a:p>
        </p:txBody>
      </p:sp>
      <p:sp>
        <p:nvSpPr>
          <p:cNvPr id="4" name="TextBox 3"/>
          <p:cNvSpPr txBox="1"/>
          <p:nvPr/>
        </p:nvSpPr>
        <p:spPr>
          <a:xfrm>
            <a:off x="9875520" y="137160"/>
            <a:ext cx="2103120" cy="594360"/>
          </a:xfrm>
          <a:prstGeom prst="rect">
            <a:avLst/>
          </a:prstGeom>
          <a:noFill/>
        </p:spPr>
        <p:txBody>
          <a:bodyPr wrap="square">
            <a:spAutoFit/>
          </a:bodyPr>
          <a:lstStyle/>
          <a:p>
            <a:pPr algn="r"/>
            <a:r>
              <a:rPr sz="2200" b="1" i="0">
                <a:solidFill>
                  <a:srgbClr val="FFFFFF"/>
                </a:solidFill>
                <a:latin typeface="Franklin Gothic Medium Cond"/>
              </a:rPr>
              <a:t>⏱  7 min</a:t>
            </a:r>
          </a:p>
        </p:txBody>
      </p:sp>
      <p:sp>
        <p:nvSpPr>
          <p:cNvPr id="5" name="Rectangle 4"/>
          <p:cNvSpPr/>
          <p:nvPr/>
        </p:nvSpPr>
        <p:spPr>
          <a:xfrm>
            <a:off x="365760" y="1463040"/>
            <a:ext cx="11457432" cy="507492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45920"/>
            <a:ext cx="10972800" cy="4709160"/>
          </a:xfrm>
          <a:prstGeom prst="rect">
            <a:avLst/>
          </a:prstGeom>
          <a:noFill/>
        </p:spPr>
        <p:txBody>
          <a:bodyPr wrap="square">
            <a:spAutoFit/>
          </a:bodyPr>
          <a:lstStyle/>
          <a:p>
            <a:pPr>
              <a:spcBef>
                <a:spcPts val="900"/>
              </a:spcBef>
            </a:pPr>
            <a:r>
              <a:rPr sz="2100">
                <a:solidFill>
                  <a:srgbClr val="00244E"/>
                </a:solidFill>
                <a:latin typeface="Franklin Gothic Medium Cond"/>
              </a:rPr>
              <a:t>Pick a task you are currently working on (or use the prompt below):</a:t>
            </a:r>
          </a:p>
          <a:p>
            <a:pPr>
              <a:spcBef>
                <a:spcPts val="900"/>
              </a:spcBef>
            </a:pPr>
            <a:r>
              <a:rPr sz="2100">
                <a:solidFill>
                  <a:srgbClr val="00244E"/>
                </a:solidFill>
                <a:latin typeface="Franklin Gothic Medium Cond"/>
              </a:rPr>
              <a:t/>
            </a:r>
          </a:p>
          <a:p>
            <a:pPr>
              <a:spcBef>
                <a:spcPts val="900"/>
              </a:spcBef>
            </a:pPr>
            <a:r>
              <a:rPr sz="2100" b="1">
                <a:solidFill>
                  <a:srgbClr val="00244E"/>
                </a:solidFill>
                <a:latin typeface="Franklin Gothic Medium Cond"/>
              </a:rPr>
              <a:t>→  'I need to study for my midterm exam on [your subject].'</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Write a scaffolded prompt sequence (3 prompts in a chain):</a:t>
            </a:r>
          </a:p>
          <a:p>
            <a:pPr>
              <a:spcBef>
                <a:spcPts val="900"/>
              </a:spcBef>
            </a:pPr>
            <a:r>
              <a:rPr sz="2100" b="1">
                <a:solidFill>
                  <a:srgbClr val="00244E"/>
                </a:solidFill>
                <a:latin typeface="Franklin Gothic Medium Cond"/>
              </a:rPr>
              <a:t>→  Prompt 1: Ask for an overview / outline</a:t>
            </a:r>
          </a:p>
          <a:p>
            <a:pPr>
              <a:spcBef>
                <a:spcPts val="900"/>
              </a:spcBef>
            </a:pPr>
            <a:r>
              <a:rPr sz="2100" b="1">
                <a:solidFill>
                  <a:srgbClr val="00244E"/>
                </a:solidFill>
                <a:latin typeface="Franklin Gothic Medium Cond"/>
              </a:rPr>
              <a:t>→  Prompt 2: Ask to expand on one section</a:t>
            </a:r>
          </a:p>
          <a:p>
            <a:pPr>
              <a:spcBef>
                <a:spcPts val="900"/>
              </a:spcBef>
            </a:pPr>
            <a:r>
              <a:rPr sz="2100" b="1">
                <a:solidFill>
                  <a:srgbClr val="00244E"/>
                </a:solidFill>
                <a:latin typeface="Franklin Gothic Medium Cond"/>
              </a:rPr>
              <a:t>→  Prompt 3: Ask for a practice question or summary</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Optional: Try it live on your device and share the output!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Strategy 3: Format-Based Output</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Tell AI exactly how you want the answer structured</a:t>
            </a:r>
          </a:p>
        </p:txBody>
      </p:sp>
      <p:sp>
        <p:nvSpPr>
          <p:cNvPr id="5" name="Rectangle 4"/>
          <p:cNvSpPr/>
          <p:nvPr/>
        </p:nvSpPr>
        <p:spPr>
          <a:xfrm>
            <a:off x="274320" y="1481328"/>
            <a:ext cx="3749039" cy="2395728"/>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1609344"/>
            <a:ext cx="3474720" cy="530352"/>
          </a:xfrm>
          <a:prstGeom prst="rect">
            <a:avLst/>
          </a:prstGeom>
          <a:noFill/>
        </p:spPr>
        <p:txBody>
          <a:bodyPr wrap="square">
            <a:spAutoFit/>
          </a:bodyPr>
          <a:lstStyle/>
          <a:p>
            <a:pPr algn="l"/>
            <a:r>
              <a:rPr sz="1900" b="1" i="0">
                <a:solidFill>
                  <a:srgbClr val="FFFFFF"/>
                </a:solidFill>
                <a:latin typeface="Franklin Gothic Medium Cond"/>
              </a:rPr>
              <a:t>📊 Tables</a:t>
            </a:r>
          </a:p>
        </p:txBody>
      </p:sp>
      <p:sp>
        <p:nvSpPr>
          <p:cNvPr id="7" name="TextBox 6"/>
          <p:cNvSpPr txBox="1"/>
          <p:nvPr/>
        </p:nvSpPr>
        <p:spPr>
          <a:xfrm>
            <a:off x="411479" y="2194560"/>
            <a:ext cx="3474720" cy="1572768"/>
          </a:xfrm>
          <a:prstGeom prst="rect">
            <a:avLst/>
          </a:prstGeom>
          <a:noFill/>
        </p:spPr>
        <p:txBody>
          <a:bodyPr wrap="square">
            <a:spAutoFit/>
          </a:bodyPr>
          <a:lstStyle/>
          <a:p>
            <a:r>
              <a:rPr sz="1500">
                <a:solidFill>
                  <a:srgbClr val="FFFFFF"/>
                </a:solidFill>
                <a:latin typeface="Franklin Gothic Medium Cond"/>
              </a:rPr>
              <a:t>Compare options side by side.
'Give me a table comparing X, Y, Z by cost, features, and ease of use.'</a:t>
            </a:r>
          </a:p>
        </p:txBody>
      </p:sp>
      <p:sp>
        <p:nvSpPr>
          <p:cNvPr id="8" name="Rectangle 7"/>
          <p:cNvSpPr/>
          <p:nvPr/>
        </p:nvSpPr>
        <p:spPr>
          <a:xfrm>
            <a:off x="4251959" y="1481328"/>
            <a:ext cx="3749039" cy="2395728"/>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609344"/>
            <a:ext cx="3474720" cy="530352"/>
          </a:xfrm>
          <a:prstGeom prst="rect">
            <a:avLst/>
          </a:prstGeom>
          <a:noFill/>
        </p:spPr>
        <p:txBody>
          <a:bodyPr wrap="square">
            <a:spAutoFit/>
          </a:bodyPr>
          <a:lstStyle/>
          <a:p>
            <a:pPr algn="l"/>
            <a:r>
              <a:rPr sz="1900" b="1" i="0">
                <a:solidFill>
                  <a:srgbClr val="FFFFFF"/>
                </a:solidFill>
                <a:latin typeface="Franklin Gothic Medium Cond"/>
              </a:rPr>
              <a:t>☑️ Checklists</a:t>
            </a:r>
          </a:p>
        </p:txBody>
      </p:sp>
      <p:sp>
        <p:nvSpPr>
          <p:cNvPr id="10" name="TextBox 9"/>
          <p:cNvSpPr txBox="1"/>
          <p:nvPr/>
        </p:nvSpPr>
        <p:spPr>
          <a:xfrm>
            <a:off x="4389120" y="2194560"/>
            <a:ext cx="3474720" cy="1572768"/>
          </a:xfrm>
          <a:prstGeom prst="rect">
            <a:avLst/>
          </a:prstGeom>
          <a:noFill/>
        </p:spPr>
        <p:txBody>
          <a:bodyPr wrap="square">
            <a:spAutoFit/>
          </a:bodyPr>
          <a:lstStyle/>
          <a:p>
            <a:r>
              <a:rPr sz="1500">
                <a:solidFill>
                  <a:srgbClr val="FFFFFF"/>
                </a:solidFill>
                <a:latin typeface="Franklin Gothic Medium Cond"/>
              </a:rPr>
              <a:t>Get actionable to-do lists.
'Give me a checklist of things to do before submitting my assignment.'</a:t>
            </a:r>
          </a:p>
        </p:txBody>
      </p:sp>
      <p:sp>
        <p:nvSpPr>
          <p:cNvPr id="11" name="Rectangle 10"/>
          <p:cNvSpPr/>
          <p:nvPr/>
        </p:nvSpPr>
        <p:spPr>
          <a:xfrm>
            <a:off x="8229600" y="1481328"/>
            <a:ext cx="3749039" cy="2395728"/>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609344"/>
            <a:ext cx="3474720" cy="530352"/>
          </a:xfrm>
          <a:prstGeom prst="rect">
            <a:avLst/>
          </a:prstGeom>
          <a:noFill/>
        </p:spPr>
        <p:txBody>
          <a:bodyPr wrap="square">
            <a:spAutoFit/>
          </a:bodyPr>
          <a:lstStyle/>
          <a:p>
            <a:pPr algn="l"/>
            <a:r>
              <a:rPr sz="1900" b="1" i="0">
                <a:solidFill>
                  <a:srgbClr val="FFFFFF"/>
                </a:solidFill>
                <a:latin typeface="Franklin Gothic Medium Cond"/>
              </a:rPr>
              <a:t>📄 Templates</a:t>
            </a:r>
          </a:p>
        </p:txBody>
      </p:sp>
      <p:sp>
        <p:nvSpPr>
          <p:cNvPr id="13" name="TextBox 12"/>
          <p:cNvSpPr txBox="1"/>
          <p:nvPr/>
        </p:nvSpPr>
        <p:spPr>
          <a:xfrm>
            <a:off x="8366760" y="2194560"/>
            <a:ext cx="3474720" cy="1572768"/>
          </a:xfrm>
          <a:prstGeom prst="rect">
            <a:avLst/>
          </a:prstGeom>
          <a:noFill/>
        </p:spPr>
        <p:txBody>
          <a:bodyPr wrap="square">
            <a:spAutoFit/>
          </a:bodyPr>
          <a:lstStyle/>
          <a:p>
            <a:r>
              <a:rPr sz="1500">
                <a:solidFill>
                  <a:srgbClr val="FFFFFF"/>
                </a:solidFill>
                <a:latin typeface="Franklin Gothic Medium Cond"/>
              </a:rPr>
              <a:t>Generate reusable structures.
'Create an email template I can use to ask professors for extensions.'</a:t>
            </a:r>
          </a:p>
        </p:txBody>
      </p:sp>
      <p:sp>
        <p:nvSpPr>
          <p:cNvPr id="14" name="Rectangle 13"/>
          <p:cNvSpPr/>
          <p:nvPr/>
        </p:nvSpPr>
        <p:spPr>
          <a:xfrm>
            <a:off x="274320" y="4059935"/>
            <a:ext cx="3749039" cy="2395728"/>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79" y="4187951"/>
            <a:ext cx="3474720" cy="530352"/>
          </a:xfrm>
          <a:prstGeom prst="rect">
            <a:avLst/>
          </a:prstGeom>
          <a:noFill/>
        </p:spPr>
        <p:txBody>
          <a:bodyPr wrap="square">
            <a:spAutoFit/>
          </a:bodyPr>
          <a:lstStyle/>
          <a:p>
            <a:pPr algn="l"/>
            <a:r>
              <a:rPr sz="1900" b="1" i="0">
                <a:solidFill>
                  <a:srgbClr val="FFFFFF"/>
                </a:solidFill>
                <a:latin typeface="Franklin Gothic Medium Cond"/>
              </a:rPr>
              <a:t>• Bullet Points</a:t>
            </a:r>
          </a:p>
        </p:txBody>
      </p:sp>
      <p:sp>
        <p:nvSpPr>
          <p:cNvPr id="16" name="TextBox 15"/>
          <p:cNvSpPr txBox="1"/>
          <p:nvPr/>
        </p:nvSpPr>
        <p:spPr>
          <a:xfrm>
            <a:off x="411479" y="4773168"/>
            <a:ext cx="3474720" cy="1572768"/>
          </a:xfrm>
          <a:prstGeom prst="rect">
            <a:avLst/>
          </a:prstGeom>
          <a:noFill/>
        </p:spPr>
        <p:txBody>
          <a:bodyPr wrap="square">
            <a:spAutoFit/>
          </a:bodyPr>
          <a:lstStyle/>
          <a:p>
            <a:r>
              <a:rPr sz="1500">
                <a:solidFill>
                  <a:srgbClr val="FFFFFF"/>
                </a:solidFill>
                <a:latin typeface="Franklin Gothic Medium Cond"/>
              </a:rPr>
              <a:t>Scannable summaries.
'Summarise this article in 5 bullet points, each under 15 words.'</a:t>
            </a:r>
          </a:p>
        </p:txBody>
      </p:sp>
      <p:sp>
        <p:nvSpPr>
          <p:cNvPr id="17" name="Rectangle 16"/>
          <p:cNvSpPr/>
          <p:nvPr/>
        </p:nvSpPr>
        <p:spPr>
          <a:xfrm>
            <a:off x="4251959" y="4059935"/>
            <a:ext cx="3749039" cy="2395728"/>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4187951"/>
            <a:ext cx="3474720" cy="530352"/>
          </a:xfrm>
          <a:prstGeom prst="rect">
            <a:avLst/>
          </a:prstGeom>
          <a:noFill/>
        </p:spPr>
        <p:txBody>
          <a:bodyPr wrap="square">
            <a:spAutoFit/>
          </a:bodyPr>
          <a:lstStyle/>
          <a:p>
            <a:pPr algn="l"/>
            <a:r>
              <a:rPr sz="1900" b="1" i="0">
                <a:solidFill>
                  <a:srgbClr val="FFFFFF"/>
                </a:solidFill>
                <a:latin typeface="Franklin Gothic Medium Cond"/>
              </a:rPr>
              <a:t>1. Numbered</a:t>
            </a:r>
          </a:p>
        </p:txBody>
      </p:sp>
      <p:sp>
        <p:nvSpPr>
          <p:cNvPr id="19" name="TextBox 18"/>
          <p:cNvSpPr txBox="1"/>
          <p:nvPr/>
        </p:nvSpPr>
        <p:spPr>
          <a:xfrm>
            <a:off x="4389120" y="4773168"/>
            <a:ext cx="3474720" cy="1572768"/>
          </a:xfrm>
          <a:prstGeom prst="rect">
            <a:avLst/>
          </a:prstGeom>
          <a:noFill/>
        </p:spPr>
        <p:txBody>
          <a:bodyPr wrap="square">
            <a:spAutoFit/>
          </a:bodyPr>
          <a:lstStyle/>
          <a:p>
            <a:r>
              <a:rPr sz="1500">
                <a:solidFill>
                  <a:srgbClr val="FFFFFF"/>
                </a:solidFill>
                <a:latin typeface="Franklin Gothic Medium Cond"/>
              </a:rPr>
              <a:t>Step-by-step instructions.
'Give me numbered steps to set up a Python environment.'</a:t>
            </a:r>
          </a:p>
        </p:txBody>
      </p:sp>
      <p:sp>
        <p:nvSpPr>
          <p:cNvPr id="20" name="Rectangle 19"/>
          <p:cNvSpPr/>
          <p:nvPr/>
        </p:nvSpPr>
        <p:spPr>
          <a:xfrm>
            <a:off x="8229600" y="4059935"/>
            <a:ext cx="3749039" cy="2395728"/>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4187951"/>
            <a:ext cx="3474720" cy="530352"/>
          </a:xfrm>
          <a:prstGeom prst="rect">
            <a:avLst/>
          </a:prstGeom>
          <a:noFill/>
        </p:spPr>
        <p:txBody>
          <a:bodyPr wrap="square">
            <a:spAutoFit/>
          </a:bodyPr>
          <a:lstStyle/>
          <a:p>
            <a:pPr algn="l"/>
            <a:r>
              <a:rPr sz="1900" b="1" i="0">
                <a:solidFill>
                  <a:srgbClr val="FFFFFF"/>
                </a:solidFill>
                <a:latin typeface="Franklin Gothic Medium Cond"/>
              </a:rPr>
              <a:t>¶ Paragraphs</a:t>
            </a:r>
          </a:p>
        </p:txBody>
      </p:sp>
      <p:sp>
        <p:nvSpPr>
          <p:cNvPr id="22" name="TextBox 21"/>
          <p:cNvSpPr txBox="1"/>
          <p:nvPr/>
        </p:nvSpPr>
        <p:spPr>
          <a:xfrm>
            <a:off x="8366760" y="4773168"/>
            <a:ext cx="3474720" cy="1572768"/>
          </a:xfrm>
          <a:prstGeom prst="rect">
            <a:avLst/>
          </a:prstGeom>
          <a:noFill/>
        </p:spPr>
        <p:txBody>
          <a:bodyPr wrap="square">
            <a:spAutoFit/>
          </a:bodyPr>
          <a:lstStyle/>
          <a:p>
            <a:r>
              <a:rPr sz="1500">
                <a:solidFill>
                  <a:srgbClr val="FFFFFF"/>
                </a:solidFill>
                <a:latin typeface="Franklin Gothic Medium Cond"/>
              </a:rPr>
              <a:t>Flowing prose for essays.
'Write this as 2 short paragraphs suitable for an academic essay.'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Strategy 3 — Format-Based Output Example</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Formatted output is immediately usable — no reformatting required</a:t>
            </a:r>
          </a:p>
        </p:txBody>
      </p:sp>
      <p:sp>
        <p:nvSpPr>
          <p:cNvPr id="5" name="Rectangle 4"/>
          <p:cNvSpPr/>
          <p:nvPr/>
        </p:nvSpPr>
        <p:spPr>
          <a:xfrm>
            <a:off x="274320" y="1417320"/>
            <a:ext cx="11640312" cy="384048"/>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44752"/>
            <a:ext cx="3657600" cy="329184"/>
          </a:xfrm>
          <a:prstGeom prst="rect">
            <a:avLst/>
          </a:prstGeom>
          <a:noFill/>
        </p:spPr>
        <p:txBody>
          <a:bodyPr wrap="square">
            <a:spAutoFit/>
          </a:bodyPr>
          <a:lstStyle/>
          <a:p>
            <a:pPr algn="l"/>
            <a:r>
              <a:rPr sz="1400" b="1" i="0">
                <a:solidFill>
                  <a:srgbClr val="FFFFFF"/>
                </a:solidFill>
                <a:latin typeface="Franklin Gothic Medium Cond"/>
              </a:rPr>
              <a:t>PROMPT</a:t>
            </a:r>
          </a:p>
        </p:txBody>
      </p:sp>
      <p:sp>
        <p:nvSpPr>
          <p:cNvPr id="7" name="Rectangle 6"/>
          <p:cNvSpPr/>
          <p:nvPr/>
        </p:nvSpPr>
        <p:spPr>
          <a:xfrm>
            <a:off x="274320" y="1801368"/>
            <a:ext cx="11640312" cy="1874519"/>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47088"/>
            <a:ext cx="11247120" cy="1737360"/>
          </a:xfrm>
          <a:prstGeom prst="rect">
            <a:avLst/>
          </a:prstGeom>
          <a:noFill/>
        </p:spPr>
        <p:txBody>
          <a:bodyPr wrap="square">
            <a:spAutoFit/>
          </a:bodyPr>
          <a:lstStyle/>
          <a:p>
            <a:r>
              <a:rPr sz="1900" i="1">
                <a:solidFill>
                  <a:srgbClr val="00244E"/>
                </a:solidFill>
                <a:latin typeface="Franklin Gothic Medium Cond"/>
              </a:rPr>
              <a:t>Compare three productivity apps (Notion, Todoist, Trello) using a table. Columns: App Name, Best For, Cost, Ease of Use (1–5 stars), Mobile App. Add a recommendation row at the bottom.</a:t>
            </a:r>
          </a:p>
        </p:txBody>
      </p:sp>
      <p:sp>
        <p:nvSpPr>
          <p:cNvPr id="9" name="Rectangle 8"/>
          <p:cNvSpPr/>
          <p:nvPr/>
        </p:nvSpPr>
        <p:spPr>
          <a:xfrm>
            <a:off x="274320" y="3767328"/>
            <a:ext cx="11640312" cy="384048"/>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794760"/>
            <a:ext cx="4572000" cy="329184"/>
          </a:xfrm>
          <a:prstGeom prst="rect">
            <a:avLst/>
          </a:prstGeom>
          <a:noFill/>
        </p:spPr>
        <p:txBody>
          <a:bodyPr wrap="square">
            <a:spAutoFit/>
          </a:bodyPr>
          <a:lstStyle/>
          <a:p>
            <a:pPr algn="l"/>
            <a:r>
              <a:rPr sz="1400" b="1" i="0">
                <a:solidFill>
                  <a:srgbClr val="FFFFFF"/>
                </a:solidFill>
                <a:latin typeface="Franklin Gothic Medium Cond"/>
              </a:rPr>
              <a:t>AI OUTPUT</a:t>
            </a:r>
          </a:p>
        </p:txBody>
      </p:sp>
      <p:sp>
        <p:nvSpPr>
          <p:cNvPr id="11" name="Rectangle 10"/>
          <p:cNvSpPr/>
          <p:nvPr/>
        </p:nvSpPr>
        <p:spPr>
          <a:xfrm>
            <a:off x="274320" y="4151376"/>
            <a:ext cx="11640312" cy="24231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197096"/>
            <a:ext cx="11247120" cy="2286000"/>
          </a:xfrm>
          <a:prstGeom prst="rect">
            <a:avLst/>
          </a:prstGeom>
          <a:noFill/>
        </p:spPr>
        <p:txBody>
          <a:bodyPr wrap="square">
            <a:spAutoFit/>
          </a:bodyPr>
          <a:lstStyle/>
          <a:p>
            <a:r>
              <a:rPr sz="1800">
                <a:solidFill>
                  <a:srgbClr val="0A3370"/>
                </a:solidFill>
              </a:rPr>
              <a:t>| App      | Best For         | Cost        | Ease ⭐ | Mobile |
|----------|-----------------|-------------|--------|--------|
| Notion   | Notes + projects | Free / $8/mo |  ★★★★  |  ✓   |
| Todoist  | Task management  | Free / $4/mo |  ★★★★★ |  ✓   |
| Trello   | Visual boards    | Free / $5/mo |  ★★★★  |  ✓   |
| 🏆 Pick  | Beginners → Todoist  |  Teams → Trello  |  Power users → Notion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875520" cy="749808"/>
          </a:xfrm>
          <a:prstGeom prst="rect">
            <a:avLst/>
          </a:prstGeom>
          <a:noFill/>
        </p:spPr>
        <p:txBody>
          <a:bodyPr wrap="square">
            <a:spAutoFit/>
          </a:bodyPr>
          <a:lstStyle/>
          <a:p>
            <a:pPr algn="l"/>
            <a:r>
              <a:rPr sz="3200" b="1" i="0">
                <a:solidFill>
                  <a:srgbClr val="FFFFFF"/>
                </a:solidFill>
                <a:latin typeface="Franklin Gothic Medium Cond"/>
              </a:rPr>
              <a:t>✏️  Activity: Try It: Format-Based Output</a:t>
            </a:r>
          </a:p>
        </p:txBody>
      </p:sp>
      <p:sp>
        <p:nvSpPr>
          <p:cNvPr id="4" name="TextBox 3"/>
          <p:cNvSpPr txBox="1"/>
          <p:nvPr/>
        </p:nvSpPr>
        <p:spPr>
          <a:xfrm>
            <a:off x="9875520" y="137160"/>
            <a:ext cx="2103120" cy="594360"/>
          </a:xfrm>
          <a:prstGeom prst="rect">
            <a:avLst/>
          </a:prstGeom>
          <a:noFill/>
        </p:spPr>
        <p:txBody>
          <a:bodyPr wrap="square">
            <a:spAutoFit/>
          </a:bodyPr>
          <a:lstStyle/>
          <a:p>
            <a:pPr algn="r"/>
            <a:r>
              <a:rPr sz="2200" b="1" i="0">
                <a:solidFill>
                  <a:srgbClr val="FFFFFF"/>
                </a:solidFill>
                <a:latin typeface="Franklin Gothic Medium Cond"/>
              </a:rPr>
              <a:t>⏱  6 min</a:t>
            </a:r>
          </a:p>
        </p:txBody>
      </p:sp>
      <p:sp>
        <p:nvSpPr>
          <p:cNvPr id="5" name="Rectangle 4"/>
          <p:cNvSpPr/>
          <p:nvPr/>
        </p:nvSpPr>
        <p:spPr>
          <a:xfrm>
            <a:off x="365760" y="1463040"/>
            <a:ext cx="11457432" cy="507492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45920"/>
            <a:ext cx="10972800" cy="4709160"/>
          </a:xfrm>
          <a:prstGeom prst="rect">
            <a:avLst/>
          </a:prstGeom>
          <a:noFill/>
        </p:spPr>
        <p:txBody>
          <a:bodyPr wrap="square">
            <a:spAutoFit/>
          </a:bodyPr>
          <a:lstStyle/>
          <a:p>
            <a:pPr>
              <a:spcBef>
                <a:spcPts val="900"/>
              </a:spcBef>
            </a:pPr>
            <a:r>
              <a:rPr sz="2100">
                <a:solidFill>
                  <a:srgbClr val="00244E"/>
                </a:solidFill>
                <a:latin typeface="Franklin Gothic Medium Cond"/>
              </a:rPr>
              <a:t>Rewrite one of these generic prompts to include a format instruction:</a:t>
            </a:r>
          </a:p>
          <a:p>
            <a:pPr>
              <a:spcBef>
                <a:spcPts val="900"/>
              </a:spcBef>
            </a:pPr>
            <a:r>
              <a:rPr sz="2100">
                <a:solidFill>
                  <a:srgbClr val="00244E"/>
                </a:solidFill>
                <a:latin typeface="Franklin Gothic Medium Cond"/>
              </a:rPr>
              <a:t/>
            </a:r>
          </a:p>
          <a:p>
            <a:pPr>
              <a:spcBef>
                <a:spcPts val="900"/>
              </a:spcBef>
            </a:pPr>
            <a:r>
              <a:rPr sz="2100" b="1">
                <a:solidFill>
                  <a:srgbClr val="00244E"/>
                </a:solidFill>
                <a:latin typeface="Franklin Gothic Medium Cond"/>
              </a:rPr>
              <a:t>→  'Tips for managing stress during exams'</a:t>
            </a:r>
          </a:p>
          <a:p>
            <a:pPr>
              <a:spcBef>
                <a:spcPts val="900"/>
              </a:spcBef>
            </a:pPr>
            <a:r>
              <a:rPr sz="2100" b="1">
                <a:solidFill>
                  <a:srgbClr val="00244E"/>
                </a:solidFill>
                <a:latin typeface="Franklin Gothic Medium Cond"/>
              </a:rPr>
              <a:t>→  'Differences between British and American English'</a:t>
            </a:r>
          </a:p>
          <a:p>
            <a:pPr>
              <a:spcBef>
                <a:spcPts val="900"/>
              </a:spcBef>
            </a:pPr>
            <a:r>
              <a:rPr sz="2100" b="1">
                <a:solidFill>
                  <a:srgbClr val="00244E"/>
                </a:solidFill>
                <a:latin typeface="Franklin Gothic Medium Cond"/>
              </a:rPr>
              <a:t>→  'How to write a research paper'</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Choose a format:  Table  |  Checklist  |  Template  |  Numbered Steps</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Example rewrite:</a:t>
            </a:r>
          </a:p>
          <a:p>
            <a:pPr>
              <a:spcBef>
                <a:spcPts val="900"/>
              </a:spcBef>
            </a:pPr>
            <a:r>
              <a:rPr sz="2100" b="1">
                <a:solidFill>
                  <a:srgbClr val="00244E"/>
                </a:solidFill>
                <a:latin typeface="Franklin Gothic Medium Cond"/>
              </a:rPr>
              <a:t>→  'Give me a checklist of 8 steps for managing exam stress, with a ☐ checkbox before each item.'</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Compare outputs with a partner who chose the same topic but a different format!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Strategy 4: Revision &amp; Reflection Prompting</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Use AI as an editor, critic, and thinking partner</a:t>
            </a:r>
          </a:p>
        </p:txBody>
      </p:sp>
      <p:sp>
        <p:nvSpPr>
          <p:cNvPr id="5" name="Rectangle 4"/>
          <p:cNvSpPr/>
          <p:nvPr/>
        </p:nvSpPr>
        <p:spPr>
          <a:xfrm>
            <a:off x="274320" y="1481328"/>
            <a:ext cx="5669280" cy="2395728"/>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09344"/>
            <a:ext cx="5303520" cy="530352"/>
          </a:xfrm>
          <a:prstGeom prst="rect">
            <a:avLst/>
          </a:prstGeom>
          <a:noFill/>
        </p:spPr>
        <p:txBody>
          <a:bodyPr wrap="square">
            <a:spAutoFit/>
          </a:bodyPr>
          <a:lstStyle/>
          <a:p>
            <a:pPr algn="l"/>
            <a:r>
              <a:rPr sz="2100" b="1" i="0">
                <a:solidFill>
                  <a:srgbClr val="FFFFFF"/>
                </a:solidFill>
                <a:latin typeface="Franklin Gothic Medium Cond"/>
              </a:rPr>
              <a:t>✍️ Ask for Improvement</a:t>
            </a:r>
          </a:p>
        </p:txBody>
      </p:sp>
      <p:sp>
        <p:nvSpPr>
          <p:cNvPr id="7" name="TextBox 6"/>
          <p:cNvSpPr txBox="1"/>
          <p:nvPr/>
        </p:nvSpPr>
        <p:spPr>
          <a:xfrm>
            <a:off x="457200" y="2212848"/>
            <a:ext cx="5303520" cy="1536192"/>
          </a:xfrm>
          <a:prstGeom prst="rect">
            <a:avLst/>
          </a:prstGeom>
          <a:noFill/>
        </p:spPr>
        <p:txBody>
          <a:bodyPr wrap="square">
            <a:spAutoFit/>
          </a:bodyPr>
          <a:lstStyle/>
          <a:p>
            <a:r>
              <a:rPr sz="1700">
                <a:solidFill>
                  <a:srgbClr val="FFFFFF"/>
                </a:solidFill>
                <a:latin typeface="Franklin Gothic Medium Cond"/>
              </a:rPr>
              <a:t>Paste your draft and say:
'Improve the clarity and flow of this paragraph. Keep my original voice.'</a:t>
            </a:r>
          </a:p>
        </p:txBody>
      </p:sp>
      <p:sp>
        <p:nvSpPr>
          <p:cNvPr id="8" name="Rectangle 7"/>
          <p:cNvSpPr/>
          <p:nvPr/>
        </p:nvSpPr>
        <p:spPr>
          <a:xfrm>
            <a:off x="6263640" y="1481328"/>
            <a:ext cx="5669280" cy="2395728"/>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9344"/>
            <a:ext cx="5303520" cy="530352"/>
          </a:xfrm>
          <a:prstGeom prst="rect">
            <a:avLst/>
          </a:prstGeom>
          <a:noFill/>
        </p:spPr>
        <p:txBody>
          <a:bodyPr wrap="square">
            <a:spAutoFit/>
          </a:bodyPr>
          <a:lstStyle/>
          <a:p>
            <a:pPr algn="l"/>
            <a:r>
              <a:rPr sz="2100" b="1" i="0">
                <a:solidFill>
                  <a:srgbClr val="FFFFFF"/>
                </a:solidFill>
                <a:latin typeface="Franklin Gothic Medium Cond"/>
              </a:rPr>
              <a:t>❓ Ask for Questions First</a:t>
            </a:r>
          </a:p>
        </p:txBody>
      </p:sp>
      <p:sp>
        <p:nvSpPr>
          <p:cNvPr id="10" name="TextBox 9"/>
          <p:cNvSpPr txBox="1"/>
          <p:nvPr/>
        </p:nvSpPr>
        <p:spPr>
          <a:xfrm>
            <a:off x="6446520" y="2212848"/>
            <a:ext cx="5303520" cy="1536192"/>
          </a:xfrm>
          <a:prstGeom prst="rect">
            <a:avLst/>
          </a:prstGeom>
          <a:noFill/>
        </p:spPr>
        <p:txBody>
          <a:bodyPr wrap="square">
            <a:spAutoFit/>
          </a:bodyPr>
          <a:lstStyle/>
          <a:p>
            <a:r>
              <a:rPr sz="1700">
                <a:solidFill>
                  <a:srgbClr val="FFFFFF"/>
                </a:solidFill>
                <a:latin typeface="Franklin Gothic Medium Cond"/>
              </a:rPr>
              <a:t>Before a big task say:
'Before you help me, ask me 5 questions to better understand my needs and context.'</a:t>
            </a:r>
          </a:p>
        </p:txBody>
      </p:sp>
      <p:sp>
        <p:nvSpPr>
          <p:cNvPr id="11" name="Rectangle 10"/>
          <p:cNvSpPr/>
          <p:nvPr/>
        </p:nvSpPr>
        <p:spPr>
          <a:xfrm>
            <a:off x="274320" y="4059935"/>
            <a:ext cx="5669280" cy="2395728"/>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187951"/>
            <a:ext cx="5303520" cy="530352"/>
          </a:xfrm>
          <a:prstGeom prst="rect">
            <a:avLst/>
          </a:prstGeom>
          <a:noFill/>
        </p:spPr>
        <p:txBody>
          <a:bodyPr wrap="square">
            <a:spAutoFit/>
          </a:bodyPr>
          <a:lstStyle/>
          <a:p>
            <a:pPr algn="l"/>
            <a:r>
              <a:rPr sz="2100" b="1" i="0">
                <a:solidFill>
                  <a:srgbClr val="FFFFFF"/>
                </a:solidFill>
                <a:latin typeface="Franklin Gothic Medium Cond"/>
              </a:rPr>
              <a:t>🔍 Ask for Critique</a:t>
            </a:r>
          </a:p>
        </p:txBody>
      </p:sp>
      <p:sp>
        <p:nvSpPr>
          <p:cNvPr id="13" name="TextBox 12"/>
          <p:cNvSpPr txBox="1"/>
          <p:nvPr/>
        </p:nvSpPr>
        <p:spPr>
          <a:xfrm>
            <a:off x="457200" y="4791455"/>
            <a:ext cx="5303520" cy="1536192"/>
          </a:xfrm>
          <a:prstGeom prst="rect">
            <a:avLst/>
          </a:prstGeom>
          <a:noFill/>
        </p:spPr>
        <p:txBody>
          <a:bodyPr wrap="square">
            <a:spAutoFit/>
          </a:bodyPr>
          <a:lstStyle/>
          <a:p>
            <a:r>
              <a:rPr sz="1700">
                <a:solidFill>
                  <a:srgbClr val="FFFFFF"/>
                </a:solidFill>
                <a:latin typeface="Franklin Gothic Medium Cond"/>
              </a:rPr>
              <a:t>After a draft say:
'What are the three weakest parts of this argument? How would you strengthen each one?'</a:t>
            </a:r>
          </a:p>
        </p:txBody>
      </p:sp>
      <p:sp>
        <p:nvSpPr>
          <p:cNvPr id="14" name="Rectangle 13"/>
          <p:cNvSpPr/>
          <p:nvPr/>
        </p:nvSpPr>
        <p:spPr>
          <a:xfrm>
            <a:off x="6263640" y="4059935"/>
            <a:ext cx="5669280" cy="2395728"/>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187951"/>
            <a:ext cx="5303520" cy="530352"/>
          </a:xfrm>
          <a:prstGeom prst="rect">
            <a:avLst/>
          </a:prstGeom>
          <a:noFill/>
        </p:spPr>
        <p:txBody>
          <a:bodyPr wrap="square">
            <a:spAutoFit/>
          </a:bodyPr>
          <a:lstStyle/>
          <a:p>
            <a:pPr algn="l"/>
            <a:r>
              <a:rPr sz="2100" b="1" i="0">
                <a:solidFill>
                  <a:srgbClr val="FFFFFF"/>
                </a:solidFill>
                <a:latin typeface="Franklin Gothic Medium Cond"/>
              </a:rPr>
              <a:t>🔀 Ask for Alternatives</a:t>
            </a:r>
          </a:p>
        </p:txBody>
      </p:sp>
      <p:sp>
        <p:nvSpPr>
          <p:cNvPr id="16" name="TextBox 15"/>
          <p:cNvSpPr txBox="1"/>
          <p:nvPr/>
        </p:nvSpPr>
        <p:spPr>
          <a:xfrm>
            <a:off x="6446520" y="4791455"/>
            <a:ext cx="5303520" cy="1536192"/>
          </a:xfrm>
          <a:prstGeom prst="rect">
            <a:avLst/>
          </a:prstGeom>
          <a:noFill/>
        </p:spPr>
        <p:txBody>
          <a:bodyPr wrap="square">
            <a:spAutoFit/>
          </a:bodyPr>
          <a:lstStyle/>
          <a:p>
            <a:r>
              <a:rPr sz="1700">
                <a:solidFill>
                  <a:srgbClr val="FFFFFF"/>
                </a:solidFill>
                <a:latin typeface="Franklin Gothic Medium Cond"/>
              </a:rPr>
              <a:t>After an output say:
'Give me 3 alternative ways to phrase this conclusion. Rate each one and explain why.'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Strategy 4 — Revision Example</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AI as editor — keeps your voice, strengthens your argument</a:t>
            </a:r>
          </a:p>
        </p:txBody>
      </p:sp>
      <p:sp>
        <p:nvSpPr>
          <p:cNvPr id="5" name="Rectangle 4"/>
          <p:cNvSpPr/>
          <p:nvPr/>
        </p:nvSpPr>
        <p:spPr>
          <a:xfrm>
            <a:off x="274320" y="1417320"/>
            <a:ext cx="11640312" cy="384048"/>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44752"/>
            <a:ext cx="3657600" cy="329184"/>
          </a:xfrm>
          <a:prstGeom prst="rect">
            <a:avLst/>
          </a:prstGeom>
          <a:noFill/>
        </p:spPr>
        <p:txBody>
          <a:bodyPr wrap="square">
            <a:spAutoFit/>
          </a:bodyPr>
          <a:lstStyle/>
          <a:p>
            <a:pPr algn="l"/>
            <a:r>
              <a:rPr sz="1400" b="1" i="0">
                <a:solidFill>
                  <a:srgbClr val="FFFFFF"/>
                </a:solidFill>
                <a:latin typeface="Franklin Gothic Medium Cond"/>
              </a:rPr>
              <a:t>PROMPT</a:t>
            </a:r>
          </a:p>
        </p:txBody>
      </p:sp>
      <p:sp>
        <p:nvSpPr>
          <p:cNvPr id="7" name="Rectangle 6"/>
          <p:cNvSpPr/>
          <p:nvPr/>
        </p:nvSpPr>
        <p:spPr>
          <a:xfrm>
            <a:off x="274320" y="1801368"/>
            <a:ext cx="11640312" cy="1874519"/>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47088"/>
            <a:ext cx="11247120" cy="1737360"/>
          </a:xfrm>
          <a:prstGeom prst="rect">
            <a:avLst/>
          </a:prstGeom>
          <a:noFill/>
        </p:spPr>
        <p:txBody>
          <a:bodyPr wrap="square">
            <a:spAutoFit/>
          </a:bodyPr>
          <a:lstStyle/>
          <a:p>
            <a:r>
              <a:rPr sz="1900" i="1">
                <a:solidFill>
                  <a:srgbClr val="00244E"/>
                </a:solidFill>
                <a:latin typeface="Franklin Gothic Medium Cond"/>
              </a:rPr>
              <a:t>Here is my conclusion paragraph: [paste paragraph]. Identify 2 weaknesses and suggest specific improvements. Then give me a revised version that is more academic in tone.</a:t>
            </a:r>
          </a:p>
        </p:txBody>
      </p:sp>
      <p:sp>
        <p:nvSpPr>
          <p:cNvPr id="9" name="Rectangle 8"/>
          <p:cNvSpPr/>
          <p:nvPr/>
        </p:nvSpPr>
        <p:spPr>
          <a:xfrm>
            <a:off x="274320" y="3767328"/>
            <a:ext cx="11640312" cy="384048"/>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794760"/>
            <a:ext cx="4572000" cy="329184"/>
          </a:xfrm>
          <a:prstGeom prst="rect">
            <a:avLst/>
          </a:prstGeom>
          <a:noFill/>
        </p:spPr>
        <p:txBody>
          <a:bodyPr wrap="square">
            <a:spAutoFit/>
          </a:bodyPr>
          <a:lstStyle/>
          <a:p>
            <a:pPr algn="l"/>
            <a:r>
              <a:rPr sz="1400" b="1" i="0">
                <a:solidFill>
                  <a:srgbClr val="FFFFFF"/>
                </a:solidFill>
                <a:latin typeface="Franklin Gothic Medium Cond"/>
              </a:rPr>
              <a:t>AI OUTPUT</a:t>
            </a:r>
          </a:p>
        </p:txBody>
      </p:sp>
      <p:sp>
        <p:nvSpPr>
          <p:cNvPr id="11" name="Rectangle 10"/>
          <p:cNvSpPr/>
          <p:nvPr/>
        </p:nvSpPr>
        <p:spPr>
          <a:xfrm>
            <a:off x="274320" y="4151376"/>
            <a:ext cx="11640312" cy="24231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197096"/>
            <a:ext cx="11247120" cy="2286000"/>
          </a:xfrm>
          <a:prstGeom prst="rect">
            <a:avLst/>
          </a:prstGeom>
          <a:noFill/>
        </p:spPr>
        <p:txBody>
          <a:bodyPr wrap="square">
            <a:spAutoFit/>
          </a:bodyPr>
          <a:lstStyle/>
          <a:p>
            <a:r>
              <a:rPr sz="1800">
                <a:solidFill>
                  <a:srgbClr val="0A3370"/>
                </a:solidFill>
              </a:rPr>
              <a:t>Weaknesses identified:
1. Your conclusion repeats the introduction almost word-for-word — it should synthesise rather than summarise.
2. The final sentence is vague: 'AI is important for the future.' — add a specific implication.
Revised conclusion:
'Taken together, these findings suggest that AI literacy is no longer optional for university students — it is a foundational skill for participation in the modern knowledge economy.'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875520" cy="749808"/>
          </a:xfrm>
          <a:prstGeom prst="rect">
            <a:avLst/>
          </a:prstGeom>
          <a:noFill/>
        </p:spPr>
        <p:txBody>
          <a:bodyPr wrap="square">
            <a:spAutoFit/>
          </a:bodyPr>
          <a:lstStyle/>
          <a:p>
            <a:pPr algn="l"/>
            <a:r>
              <a:rPr sz="3200" b="1" i="0">
                <a:solidFill>
                  <a:srgbClr val="FFFFFF"/>
                </a:solidFill>
                <a:latin typeface="Franklin Gothic Medium Cond"/>
              </a:rPr>
              <a:t>✏️  Activity: Try It: Revision &amp; Reflection</a:t>
            </a:r>
          </a:p>
        </p:txBody>
      </p:sp>
      <p:sp>
        <p:nvSpPr>
          <p:cNvPr id="4" name="TextBox 3"/>
          <p:cNvSpPr txBox="1"/>
          <p:nvPr/>
        </p:nvSpPr>
        <p:spPr>
          <a:xfrm>
            <a:off x="9875520" y="137160"/>
            <a:ext cx="2103120" cy="594360"/>
          </a:xfrm>
          <a:prstGeom prst="rect">
            <a:avLst/>
          </a:prstGeom>
          <a:noFill/>
        </p:spPr>
        <p:txBody>
          <a:bodyPr wrap="square">
            <a:spAutoFit/>
          </a:bodyPr>
          <a:lstStyle/>
          <a:p>
            <a:pPr algn="r"/>
            <a:r>
              <a:rPr sz="2200" b="1" i="0">
                <a:solidFill>
                  <a:srgbClr val="FFFFFF"/>
                </a:solidFill>
                <a:latin typeface="Franklin Gothic Medium Cond"/>
              </a:rPr>
              <a:t>⏱  8 min</a:t>
            </a:r>
          </a:p>
        </p:txBody>
      </p:sp>
      <p:sp>
        <p:nvSpPr>
          <p:cNvPr id="5" name="Rectangle 4"/>
          <p:cNvSpPr/>
          <p:nvPr/>
        </p:nvSpPr>
        <p:spPr>
          <a:xfrm>
            <a:off x="365760" y="1463040"/>
            <a:ext cx="11457432" cy="507492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45920"/>
            <a:ext cx="10972800" cy="4709160"/>
          </a:xfrm>
          <a:prstGeom prst="rect">
            <a:avLst/>
          </a:prstGeom>
          <a:noFill/>
        </p:spPr>
        <p:txBody>
          <a:bodyPr wrap="square">
            <a:spAutoFit/>
          </a:bodyPr>
          <a:lstStyle/>
          <a:p>
            <a:pPr>
              <a:spcBef>
                <a:spcPts val="900"/>
              </a:spcBef>
            </a:pPr>
            <a:r>
              <a:rPr sz="2100">
                <a:solidFill>
                  <a:srgbClr val="00244E"/>
                </a:solidFill>
                <a:latin typeface="Franklin Gothic Medium Cond"/>
              </a:rPr>
              <a:t>Choose one of the following activities:</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Option A — Ask questions first:</a:t>
            </a:r>
          </a:p>
          <a:p>
            <a:pPr>
              <a:spcBef>
                <a:spcPts val="900"/>
              </a:spcBef>
            </a:pPr>
            <a:r>
              <a:rPr sz="2100" b="1">
                <a:solidFill>
                  <a:srgbClr val="00244E"/>
                </a:solidFill>
                <a:latin typeface="Franklin Gothic Medium Cond"/>
              </a:rPr>
              <a:t>→  Type: 'I want help planning my next assignment. Ask me 5 questions first.'</a:t>
            </a:r>
          </a:p>
          <a:p>
            <a:pPr>
              <a:spcBef>
                <a:spcPts val="900"/>
              </a:spcBef>
            </a:pPr>
            <a:r>
              <a:rPr sz="2100" b="1">
                <a:solidFill>
                  <a:srgbClr val="00244E"/>
                </a:solidFill>
                <a:latin typeface="Franklin Gothic Medium Cond"/>
              </a:rPr>
              <a:t>→  Answer the questions, then see how the AI's help improves.</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Option B — Revision loop:</a:t>
            </a:r>
          </a:p>
          <a:p>
            <a:pPr>
              <a:spcBef>
                <a:spcPts val="900"/>
              </a:spcBef>
            </a:pPr>
            <a:r>
              <a:rPr sz="2100" b="1">
                <a:solidFill>
                  <a:srgbClr val="00244E"/>
                </a:solidFill>
                <a:latin typeface="Franklin Gothic Medium Cond"/>
              </a:rPr>
              <a:t>→  Paste a sentence or paragraph you wrote recently.</a:t>
            </a:r>
          </a:p>
          <a:p>
            <a:pPr>
              <a:spcBef>
                <a:spcPts val="900"/>
              </a:spcBef>
            </a:pPr>
            <a:r>
              <a:rPr sz="2100" b="1">
                <a:solidFill>
                  <a:srgbClr val="00244E"/>
                </a:solidFill>
                <a:latin typeface="Franklin Gothic Medium Cond"/>
              </a:rPr>
              <a:t>→  Ask AI to identify weaknesses and offer a revision.</a:t>
            </a:r>
          </a:p>
          <a:p>
            <a:pPr>
              <a:spcBef>
                <a:spcPts val="900"/>
              </a:spcBef>
            </a:pPr>
            <a:r>
              <a:rPr sz="2100" b="1">
                <a:solidFill>
                  <a:srgbClr val="00244E"/>
                </a:solidFill>
                <a:latin typeface="Franklin Gothic Medium Cond"/>
              </a:rPr>
              <a:t>→  Then ask: 'Now make it 20% shorter without losing meaning.'</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Reflect: How did the output change when you gave more context?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28E03"/>
        </a:solidFill>
        <a:effectLst/>
      </p:bgPr>
    </p:bg>
    <p:spTree>
      <p:nvGrpSpPr>
        <p:cNvPr id="1" name=""/>
        <p:cNvGrpSpPr/>
        <p:nvPr/>
      </p:nvGrpSpPr>
      <p:grpSpPr/>
      <p:sp>
        <p:nvSpPr>
          <p:cNvPr id="2" name="TextBox 1"/>
          <p:cNvSpPr txBox="1"/>
          <p:nvPr/>
        </p:nvSpPr>
        <p:spPr>
          <a:xfrm>
            <a:off x="7772400" y="457200"/>
            <a:ext cx="4114800" cy="5943600"/>
          </a:xfrm>
          <a:prstGeom prst="rect">
            <a:avLst/>
          </a:prstGeom>
          <a:noFill/>
        </p:spPr>
        <p:txBody>
          <a:bodyPr wrap="square">
            <a:spAutoFit/>
          </a:bodyPr>
          <a:lstStyle/>
          <a:p>
            <a:pPr algn="l"/>
            <a:r>
              <a:rPr sz="28000" b="1" i="0">
                <a:solidFill>
                  <a:srgbClr val="FFFFFF"/>
                </a:solidFill>
                <a:latin typeface="Franklin Gothic Medium Cond"/>
              </a:rPr>
              <a:t>4</a:t>
            </a:r>
          </a:p>
        </p:txBody>
      </p:sp>
      <p:sp>
        <p:nvSpPr>
          <p:cNvPr id="3" name="Rectangle 2"/>
          <p:cNvSpPr/>
          <p:nvPr/>
        </p:nvSpPr>
        <p:spPr>
          <a:xfrm>
            <a:off x="0" y="0"/>
            <a:ext cx="502920" cy="6858000"/>
          </a:xfrm>
          <a:prstGeom prst="rect">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20240"/>
            <a:ext cx="9144000" cy="502920"/>
          </a:xfrm>
          <a:prstGeom prst="rect">
            <a:avLst/>
          </a:prstGeom>
          <a:noFill/>
        </p:spPr>
        <p:txBody>
          <a:bodyPr wrap="square">
            <a:spAutoFit/>
          </a:bodyPr>
          <a:lstStyle/>
          <a:p>
            <a:pPr algn="l"/>
            <a:r>
              <a:rPr sz="1800" b="1" i="1">
                <a:solidFill>
                  <a:srgbClr val="FDB913"/>
                </a:solidFill>
                <a:latin typeface="Franklin Gothic Medium Cond"/>
              </a:rPr>
              <a:t>SECTION 4</a:t>
            </a:r>
          </a:p>
        </p:txBody>
      </p:sp>
      <p:sp>
        <p:nvSpPr>
          <p:cNvPr id="5" name="TextBox 4"/>
          <p:cNvSpPr txBox="1"/>
          <p:nvPr/>
        </p:nvSpPr>
        <p:spPr>
          <a:xfrm>
            <a:off x="777240" y="2514600"/>
            <a:ext cx="9601200" cy="1371600"/>
          </a:xfrm>
          <a:prstGeom prst="rect">
            <a:avLst/>
          </a:prstGeom>
          <a:noFill/>
        </p:spPr>
        <p:txBody>
          <a:bodyPr wrap="square">
            <a:spAutoFit/>
          </a:bodyPr>
          <a:lstStyle/>
          <a:p>
            <a:pPr algn="l"/>
            <a:r>
              <a:rPr sz="4600" b="1" i="0">
                <a:solidFill>
                  <a:srgbClr val="FFFFFF"/>
                </a:solidFill>
                <a:latin typeface="Franklin Gothic Medium Cond"/>
              </a:rPr>
              <a:t>Evaluating AI Output</a:t>
            </a:r>
          </a:p>
        </p:txBody>
      </p:sp>
      <p:sp>
        <p:nvSpPr>
          <p:cNvPr id="6" name="TextBox 5"/>
          <p:cNvSpPr txBox="1"/>
          <p:nvPr/>
        </p:nvSpPr>
        <p:spPr>
          <a:xfrm>
            <a:off x="777240" y="4023360"/>
            <a:ext cx="9601200" cy="777240"/>
          </a:xfrm>
          <a:prstGeom prst="rect">
            <a:avLst/>
          </a:prstGeom>
          <a:noFill/>
        </p:spPr>
        <p:txBody>
          <a:bodyPr wrap="square">
            <a:spAutoFit/>
          </a:bodyPr>
          <a:lstStyle/>
          <a:p>
            <a:pPr algn="l"/>
            <a:r>
              <a:rPr sz="2200" b="0" i="1">
                <a:solidFill>
                  <a:srgbClr val="F0F4FA"/>
                </a:solidFill>
                <a:latin typeface="Franklin Gothic Medium Cond"/>
              </a:rPr>
              <a:t>Not all AI answers are equal — learn to tell the difference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Why Different AI Tools Give Different Answers</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Same question, different outputs — here's why</a:t>
            </a:r>
          </a:p>
        </p:txBody>
      </p:sp>
      <p:sp>
        <p:nvSpPr>
          <p:cNvPr id="5" name="Rectangle 4"/>
          <p:cNvSpPr/>
          <p:nvPr/>
        </p:nvSpPr>
        <p:spPr>
          <a:xfrm>
            <a:off x="365760" y="1508760"/>
            <a:ext cx="11457432" cy="950976"/>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600200"/>
            <a:ext cx="4389120" cy="438912"/>
          </a:xfrm>
          <a:prstGeom prst="rect">
            <a:avLst/>
          </a:prstGeom>
          <a:noFill/>
        </p:spPr>
        <p:txBody>
          <a:bodyPr wrap="square">
            <a:spAutoFit/>
          </a:bodyPr>
          <a:lstStyle/>
          <a:p>
            <a:pPr algn="l"/>
            <a:r>
              <a:rPr sz="1800" b="1" i="0">
                <a:solidFill>
                  <a:srgbClr val="FFFFFF"/>
                </a:solidFill>
                <a:latin typeface="Franklin Gothic Medium Cond"/>
              </a:rPr>
              <a:t>🗂️ Different Training Data</a:t>
            </a:r>
          </a:p>
        </p:txBody>
      </p:sp>
      <p:sp>
        <p:nvSpPr>
          <p:cNvPr id="7" name="TextBox 6"/>
          <p:cNvSpPr txBox="1"/>
          <p:nvPr/>
        </p:nvSpPr>
        <p:spPr>
          <a:xfrm>
            <a:off x="5120640" y="1600200"/>
            <a:ext cx="6583680" cy="768096"/>
          </a:xfrm>
          <a:prstGeom prst="rect">
            <a:avLst/>
          </a:prstGeom>
          <a:noFill/>
        </p:spPr>
        <p:txBody>
          <a:bodyPr wrap="square">
            <a:spAutoFit/>
          </a:bodyPr>
          <a:lstStyle/>
          <a:p>
            <a:r>
              <a:rPr sz="1600">
                <a:solidFill>
                  <a:srgbClr val="FFFFFF"/>
                </a:solidFill>
                <a:latin typeface="Franklin Gothic Medium Cond"/>
              </a:rPr>
              <a:t>Each AI model is trained on different datasets with different time cutoffs, languages, and sources of information.</a:t>
            </a:r>
          </a:p>
        </p:txBody>
      </p:sp>
      <p:sp>
        <p:nvSpPr>
          <p:cNvPr id="8" name="Rectangle 7"/>
          <p:cNvSpPr/>
          <p:nvPr/>
        </p:nvSpPr>
        <p:spPr>
          <a:xfrm>
            <a:off x="365760" y="2514600"/>
            <a:ext cx="11457432" cy="950976"/>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606040"/>
            <a:ext cx="4389120" cy="438912"/>
          </a:xfrm>
          <a:prstGeom prst="rect">
            <a:avLst/>
          </a:prstGeom>
          <a:noFill/>
        </p:spPr>
        <p:txBody>
          <a:bodyPr wrap="square">
            <a:spAutoFit/>
          </a:bodyPr>
          <a:lstStyle/>
          <a:p>
            <a:pPr algn="l"/>
            <a:r>
              <a:rPr sz="1800" b="1" i="0">
                <a:solidFill>
                  <a:srgbClr val="FFFFFF"/>
                </a:solidFill>
                <a:latin typeface="Franklin Gothic Medium Cond"/>
              </a:rPr>
              <a:t>🏗️ Different Model Architecture</a:t>
            </a:r>
          </a:p>
        </p:txBody>
      </p:sp>
      <p:sp>
        <p:nvSpPr>
          <p:cNvPr id="10" name="TextBox 9"/>
          <p:cNvSpPr txBox="1"/>
          <p:nvPr/>
        </p:nvSpPr>
        <p:spPr>
          <a:xfrm>
            <a:off x="5120640" y="2606040"/>
            <a:ext cx="6583680" cy="768096"/>
          </a:xfrm>
          <a:prstGeom prst="rect">
            <a:avLst/>
          </a:prstGeom>
          <a:noFill/>
        </p:spPr>
        <p:txBody>
          <a:bodyPr wrap="square">
            <a:spAutoFit/>
          </a:bodyPr>
          <a:lstStyle/>
          <a:p>
            <a:r>
              <a:rPr sz="1600">
                <a:solidFill>
                  <a:srgbClr val="FFFFFF"/>
                </a:solidFill>
                <a:latin typeface="Franklin Gothic Medium Cond"/>
              </a:rPr>
              <a:t>GPT-4, Gemini, Claude, and Llama use different underlying approaches to language modelling — producing different styles and strengths.</a:t>
            </a:r>
          </a:p>
        </p:txBody>
      </p:sp>
      <p:sp>
        <p:nvSpPr>
          <p:cNvPr id="11" name="Rectangle 10"/>
          <p:cNvSpPr/>
          <p:nvPr/>
        </p:nvSpPr>
        <p:spPr>
          <a:xfrm>
            <a:off x="365760" y="3520440"/>
            <a:ext cx="11457432" cy="950976"/>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611880"/>
            <a:ext cx="4389120" cy="438912"/>
          </a:xfrm>
          <a:prstGeom prst="rect">
            <a:avLst/>
          </a:prstGeom>
          <a:noFill/>
        </p:spPr>
        <p:txBody>
          <a:bodyPr wrap="square">
            <a:spAutoFit/>
          </a:bodyPr>
          <a:lstStyle/>
          <a:p>
            <a:pPr algn="l"/>
            <a:r>
              <a:rPr sz="1800" b="1" i="0">
                <a:solidFill>
                  <a:srgbClr val="FFFFFF"/>
                </a:solidFill>
                <a:latin typeface="Franklin Gothic Medium Cond"/>
              </a:rPr>
              <a:t>🔧 Different System Prompts</a:t>
            </a:r>
          </a:p>
        </p:txBody>
      </p:sp>
      <p:sp>
        <p:nvSpPr>
          <p:cNvPr id="13" name="TextBox 12"/>
          <p:cNvSpPr txBox="1"/>
          <p:nvPr/>
        </p:nvSpPr>
        <p:spPr>
          <a:xfrm>
            <a:off x="5120640" y="3611880"/>
            <a:ext cx="6583680" cy="768096"/>
          </a:xfrm>
          <a:prstGeom prst="rect">
            <a:avLst/>
          </a:prstGeom>
          <a:noFill/>
        </p:spPr>
        <p:txBody>
          <a:bodyPr wrap="square">
            <a:spAutoFit/>
          </a:bodyPr>
          <a:lstStyle/>
          <a:p>
            <a:r>
              <a:rPr sz="1600">
                <a:solidFill>
                  <a:srgbClr val="FFFFFF"/>
                </a:solidFill>
                <a:latin typeface="Franklin Gothic Medium Cond"/>
              </a:rPr>
              <a:t>Every AI product has hidden instructions shaping tone, safety limits, and focus areas — you don't always see these.</a:t>
            </a:r>
          </a:p>
        </p:txBody>
      </p:sp>
      <p:sp>
        <p:nvSpPr>
          <p:cNvPr id="14" name="Rectangle 13"/>
          <p:cNvSpPr/>
          <p:nvPr/>
        </p:nvSpPr>
        <p:spPr>
          <a:xfrm>
            <a:off x="365760" y="4526280"/>
            <a:ext cx="11457432" cy="950976"/>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4617720"/>
            <a:ext cx="4389120" cy="438912"/>
          </a:xfrm>
          <a:prstGeom prst="rect">
            <a:avLst/>
          </a:prstGeom>
          <a:noFill/>
        </p:spPr>
        <p:txBody>
          <a:bodyPr wrap="square">
            <a:spAutoFit/>
          </a:bodyPr>
          <a:lstStyle/>
          <a:p>
            <a:pPr algn="l"/>
            <a:r>
              <a:rPr sz="1800" b="1" i="0">
                <a:solidFill>
                  <a:srgbClr val="FFFFFF"/>
                </a:solidFill>
                <a:latin typeface="Franklin Gothic Medium Cond"/>
              </a:rPr>
              <a:t>🎲 Randomness (Temperature)</a:t>
            </a:r>
          </a:p>
        </p:txBody>
      </p:sp>
      <p:sp>
        <p:nvSpPr>
          <p:cNvPr id="16" name="TextBox 15"/>
          <p:cNvSpPr txBox="1"/>
          <p:nvPr/>
        </p:nvSpPr>
        <p:spPr>
          <a:xfrm>
            <a:off x="5120640" y="4617720"/>
            <a:ext cx="6583680" cy="768096"/>
          </a:xfrm>
          <a:prstGeom prst="rect">
            <a:avLst/>
          </a:prstGeom>
          <a:noFill/>
        </p:spPr>
        <p:txBody>
          <a:bodyPr wrap="square">
            <a:spAutoFit/>
          </a:bodyPr>
          <a:lstStyle/>
          <a:p>
            <a:r>
              <a:rPr sz="1600">
                <a:solidFill>
                  <a:srgbClr val="FFFFFF"/>
                </a:solidFill>
                <a:latin typeface="Franklin Gothic Medium Cond"/>
              </a:rPr>
              <a:t>AI responses include controlled randomness. Run the same prompt twice and you may get different outputs.</a:t>
            </a:r>
          </a:p>
        </p:txBody>
      </p:sp>
      <p:sp>
        <p:nvSpPr>
          <p:cNvPr id="17" name="Rectangle 16"/>
          <p:cNvSpPr/>
          <p:nvPr/>
        </p:nvSpPr>
        <p:spPr>
          <a:xfrm>
            <a:off x="365760" y="5532120"/>
            <a:ext cx="11457432" cy="950976"/>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5623560"/>
            <a:ext cx="4389120" cy="438912"/>
          </a:xfrm>
          <a:prstGeom prst="rect">
            <a:avLst/>
          </a:prstGeom>
          <a:noFill/>
        </p:spPr>
        <p:txBody>
          <a:bodyPr wrap="square">
            <a:spAutoFit/>
          </a:bodyPr>
          <a:lstStyle/>
          <a:p>
            <a:pPr algn="l"/>
            <a:r>
              <a:rPr sz="1800" b="1" i="0">
                <a:solidFill>
                  <a:srgbClr val="FFFFFF"/>
                </a:solidFill>
                <a:latin typeface="Franklin Gothic Medium Cond"/>
              </a:rPr>
              <a:t>📏 Context Length</a:t>
            </a:r>
          </a:p>
        </p:txBody>
      </p:sp>
      <p:sp>
        <p:nvSpPr>
          <p:cNvPr id="19" name="TextBox 18"/>
          <p:cNvSpPr txBox="1"/>
          <p:nvPr/>
        </p:nvSpPr>
        <p:spPr>
          <a:xfrm>
            <a:off x="5120640" y="5623560"/>
            <a:ext cx="6583680" cy="768096"/>
          </a:xfrm>
          <a:prstGeom prst="rect">
            <a:avLst/>
          </a:prstGeom>
          <a:noFill/>
        </p:spPr>
        <p:txBody>
          <a:bodyPr wrap="square">
            <a:spAutoFit/>
          </a:bodyPr>
          <a:lstStyle/>
          <a:p>
            <a:r>
              <a:rPr sz="1600">
                <a:solidFill>
                  <a:srgbClr val="FFFFFF"/>
                </a:solidFill>
                <a:latin typeface="Franklin Gothic Medium Cond"/>
              </a:rPr>
              <a:t>Some tools handle longer conversations or documents better than others, affecting quality in extended tasks.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AI Output Evaluation Checklist</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Use this every time before you trust or submit AI content</a:t>
            </a:r>
          </a:p>
        </p:txBody>
      </p:sp>
      <p:sp>
        <p:nvSpPr>
          <p:cNvPr id="5" name="Rectangle 4"/>
          <p:cNvSpPr/>
          <p:nvPr/>
        </p:nvSpPr>
        <p:spPr>
          <a:xfrm>
            <a:off x="274320" y="1444752"/>
            <a:ext cx="11640312" cy="82296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72768"/>
            <a:ext cx="4023360" cy="566928"/>
          </a:xfrm>
          <a:prstGeom prst="rect">
            <a:avLst/>
          </a:prstGeom>
          <a:noFill/>
        </p:spPr>
        <p:txBody>
          <a:bodyPr wrap="square">
            <a:spAutoFit/>
          </a:bodyPr>
          <a:lstStyle/>
          <a:p>
            <a:pPr algn="l"/>
            <a:r>
              <a:rPr sz="2000" b="1" i="0">
                <a:solidFill>
                  <a:srgbClr val="FFFFFF"/>
                </a:solidFill>
                <a:latin typeface="Franklin Gothic Medium Cond"/>
              </a:rPr>
              <a:t>☐  Accuracy</a:t>
            </a:r>
          </a:p>
        </p:txBody>
      </p:sp>
      <p:sp>
        <p:nvSpPr>
          <p:cNvPr id="7" name="TextBox 6"/>
          <p:cNvSpPr txBox="1"/>
          <p:nvPr/>
        </p:nvSpPr>
        <p:spPr>
          <a:xfrm>
            <a:off x="4663440" y="1572768"/>
            <a:ext cx="7132320" cy="594360"/>
          </a:xfrm>
          <a:prstGeom prst="rect">
            <a:avLst/>
          </a:prstGeom>
          <a:noFill/>
        </p:spPr>
        <p:txBody>
          <a:bodyPr wrap="square">
            <a:spAutoFit/>
          </a:bodyPr>
          <a:lstStyle/>
          <a:p>
            <a:r>
              <a:rPr sz="1700">
                <a:solidFill>
                  <a:srgbClr val="FFFFFF"/>
                </a:solidFill>
                <a:latin typeface="Franklin Gothic Medium Cond"/>
              </a:rPr>
              <a:t>Can you verify key facts from a reliable primary source?</a:t>
            </a:r>
          </a:p>
        </p:txBody>
      </p:sp>
      <p:sp>
        <p:nvSpPr>
          <p:cNvPr id="8" name="Rectangle 7"/>
          <p:cNvSpPr/>
          <p:nvPr/>
        </p:nvSpPr>
        <p:spPr>
          <a:xfrm>
            <a:off x="274320" y="2340864"/>
            <a:ext cx="11640312" cy="82296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468880"/>
            <a:ext cx="4023360" cy="566928"/>
          </a:xfrm>
          <a:prstGeom prst="rect">
            <a:avLst/>
          </a:prstGeom>
          <a:noFill/>
        </p:spPr>
        <p:txBody>
          <a:bodyPr wrap="square">
            <a:spAutoFit/>
          </a:bodyPr>
          <a:lstStyle/>
          <a:p>
            <a:pPr algn="l"/>
            <a:r>
              <a:rPr sz="2000" b="1" i="0">
                <a:solidFill>
                  <a:srgbClr val="FFFFFF"/>
                </a:solidFill>
                <a:latin typeface="Franklin Gothic Medium Cond"/>
              </a:rPr>
              <a:t>☐  Bias</a:t>
            </a:r>
          </a:p>
        </p:txBody>
      </p:sp>
      <p:sp>
        <p:nvSpPr>
          <p:cNvPr id="10" name="TextBox 9"/>
          <p:cNvSpPr txBox="1"/>
          <p:nvPr/>
        </p:nvSpPr>
        <p:spPr>
          <a:xfrm>
            <a:off x="4663440" y="2468880"/>
            <a:ext cx="7132320" cy="594360"/>
          </a:xfrm>
          <a:prstGeom prst="rect">
            <a:avLst/>
          </a:prstGeom>
          <a:noFill/>
        </p:spPr>
        <p:txBody>
          <a:bodyPr wrap="square">
            <a:spAutoFit/>
          </a:bodyPr>
          <a:lstStyle/>
          <a:p>
            <a:r>
              <a:rPr sz="1700">
                <a:solidFill>
                  <a:srgbClr val="FFFFFF"/>
                </a:solidFill>
                <a:latin typeface="Franklin Gothic Medium Cond"/>
              </a:rPr>
              <a:t>Does the response favour one perspective unfairly?</a:t>
            </a:r>
          </a:p>
        </p:txBody>
      </p:sp>
      <p:sp>
        <p:nvSpPr>
          <p:cNvPr id="11" name="Rectangle 10"/>
          <p:cNvSpPr/>
          <p:nvPr/>
        </p:nvSpPr>
        <p:spPr>
          <a:xfrm>
            <a:off x="274320" y="3236976"/>
            <a:ext cx="11640312" cy="82296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364992"/>
            <a:ext cx="4023360" cy="566928"/>
          </a:xfrm>
          <a:prstGeom prst="rect">
            <a:avLst/>
          </a:prstGeom>
          <a:noFill/>
        </p:spPr>
        <p:txBody>
          <a:bodyPr wrap="square">
            <a:spAutoFit/>
          </a:bodyPr>
          <a:lstStyle/>
          <a:p>
            <a:pPr algn="l"/>
            <a:r>
              <a:rPr sz="2000" b="1" i="0">
                <a:solidFill>
                  <a:srgbClr val="FFFFFF"/>
                </a:solidFill>
                <a:latin typeface="Franklin Gothic Medium Cond"/>
              </a:rPr>
              <a:t>☐  Missing Citations</a:t>
            </a:r>
          </a:p>
        </p:txBody>
      </p:sp>
      <p:sp>
        <p:nvSpPr>
          <p:cNvPr id="13" name="TextBox 12"/>
          <p:cNvSpPr txBox="1"/>
          <p:nvPr/>
        </p:nvSpPr>
        <p:spPr>
          <a:xfrm>
            <a:off x="4663440" y="3364992"/>
            <a:ext cx="7132320" cy="594360"/>
          </a:xfrm>
          <a:prstGeom prst="rect">
            <a:avLst/>
          </a:prstGeom>
          <a:noFill/>
        </p:spPr>
        <p:txBody>
          <a:bodyPr wrap="square">
            <a:spAutoFit/>
          </a:bodyPr>
          <a:lstStyle/>
          <a:p>
            <a:r>
              <a:rPr sz="1700">
                <a:solidFill>
                  <a:srgbClr val="FFFFFF"/>
                </a:solidFill>
                <a:latin typeface="Franklin Gothic Medium Cond"/>
              </a:rPr>
              <a:t>Are sources named? Are they real and accessible?</a:t>
            </a:r>
          </a:p>
        </p:txBody>
      </p:sp>
      <p:sp>
        <p:nvSpPr>
          <p:cNvPr id="14" name="Rectangle 13"/>
          <p:cNvSpPr/>
          <p:nvPr/>
        </p:nvSpPr>
        <p:spPr>
          <a:xfrm>
            <a:off x="274320" y="4133087"/>
            <a:ext cx="11640312" cy="822960"/>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61103"/>
            <a:ext cx="4023360" cy="566928"/>
          </a:xfrm>
          <a:prstGeom prst="rect">
            <a:avLst/>
          </a:prstGeom>
          <a:noFill/>
        </p:spPr>
        <p:txBody>
          <a:bodyPr wrap="square">
            <a:spAutoFit/>
          </a:bodyPr>
          <a:lstStyle/>
          <a:p>
            <a:pPr algn="l"/>
            <a:r>
              <a:rPr sz="2000" b="1" i="0">
                <a:solidFill>
                  <a:srgbClr val="FFFFFF"/>
                </a:solidFill>
                <a:latin typeface="Franklin Gothic Medium Cond"/>
              </a:rPr>
              <a:t>☐  Clarity</a:t>
            </a:r>
          </a:p>
        </p:txBody>
      </p:sp>
      <p:sp>
        <p:nvSpPr>
          <p:cNvPr id="16" name="TextBox 15"/>
          <p:cNvSpPr txBox="1"/>
          <p:nvPr/>
        </p:nvSpPr>
        <p:spPr>
          <a:xfrm>
            <a:off x="4663440" y="4261103"/>
            <a:ext cx="7132320" cy="594360"/>
          </a:xfrm>
          <a:prstGeom prst="rect">
            <a:avLst/>
          </a:prstGeom>
          <a:noFill/>
        </p:spPr>
        <p:txBody>
          <a:bodyPr wrap="square">
            <a:spAutoFit/>
          </a:bodyPr>
          <a:lstStyle/>
          <a:p>
            <a:r>
              <a:rPr sz="1700">
                <a:solidFill>
                  <a:srgbClr val="FFFFFF"/>
                </a:solidFill>
                <a:latin typeface="Franklin Gothic Medium Cond"/>
              </a:rPr>
              <a:t>Is the language clear, relevant, and appropriate for your audience?</a:t>
            </a:r>
          </a:p>
        </p:txBody>
      </p:sp>
      <p:sp>
        <p:nvSpPr>
          <p:cNvPr id="17" name="Rectangle 16"/>
          <p:cNvSpPr/>
          <p:nvPr/>
        </p:nvSpPr>
        <p:spPr>
          <a:xfrm>
            <a:off x="274320" y="5029200"/>
            <a:ext cx="11640312" cy="822960"/>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57216"/>
            <a:ext cx="4023360" cy="566928"/>
          </a:xfrm>
          <a:prstGeom prst="rect">
            <a:avLst/>
          </a:prstGeom>
          <a:noFill/>
        </p:spPr>
        <p:txBody>
          <a:bodyPr wrap="square">
            <a:spAutoFit/>
          </a:bodyPr>
          <a:lstStyle/>
          <a:p>
            <a:pPr algn="l"/>
            <a:r>
              <a:rPr sz="2000" b="1" i="0">
                <a:solidFill>
                  <a:srgbClr val="FFFFFF"/>
                </a:solidFill>
                <a:latin typeface="Franklin Gothic Medium Cond"/>
              </a:rPr>
              <a:t>☐  Cultural Relevance</a:t>
            </a:r>
          </a:p>
        </p:txBody>
      </p:sp>
      <p:sp>
        <p:nvSpPr>
          <p:cNvPr id="19" name="TextBox 18"/>
          <p:cNvSpPr txBox="1"/>
          <p:nvPr/>
        </p:nvSpPr>
        <p:spPr>
          <a:xfrm>
            <a:off x="4663440" y="5157216"/>
            <a:ext cx="7132320" cy="594360"/>
          </a:xfrm>
          <a:prstGeom prst="rect">
            <a:avLst/>
          </a:prstGeom>
          <a:noFill/>
        </p:spPr>
        <p:txBody>
          <a:bodyPr wrap="square">
            <a:spAutoFit/>
          </a:bodyPr>
          <a:lstStyle/>
          <a:p>
            <a:r>
              <a:rPr sz="1700">
                <a:solidFill>
                  <a:srgbClr val="FFFFFF"/>
                </a:solidFill>
                <a:latin typeface="Franklin Gothic Medium Cond"/>
              </a:rPr>
              <a:t>Does it account for your cultural or regional context?</a:t>
            </a:r>
          </a:p>
        </p:txBody>
      </p:sp>
      <p:sp>
        <p:nvSpPr>
          <p:cNvPr id="20" name="Rectangle 19"/>
          <p:cNvSpPr/>
          <p:nvPr/>
        </p:nvSpPr>
        <p:spPr>
          <a:xfrm>
            <a:off x="274320" y="5925312"/>
            <a:ext cx="11640312" cy="822960"/>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053328"/>
            <a:ext cx="4023360" cy="566928"/>
          </a:xfrm>
          <a:prstGeom prst="rect">
            <a:avLst/>
          </a:prstGeom>
          <a:noFill/>
        </p:spPr>
        <p:txBody>
          <a:bodyPr wrap="square">
            <a:spAutoFit/>
          </a:bodyPr>
          <a:lstStyle/>
          <a:p>
            <a:pPr algn="l"/>
            <a:r>
              <a:rPr sz="2000" b="1" i="0">
                <a:solidFill>
                  <a:srgbClr val="FFFFFF"/>
                </a:solidFill>
                <a:latin typeface="Franklin Gothic Medium Cond"/>
              </a:rPr>
              <a:t>☐  Completeness</a:t>
            </a:r>
          </a:p>
        </p:txBody>
      </p:sp>
      <p:sp>
        <p:nvSpPr>
          <p:cNvPr id="22" name="TextBox 21"/>
          <p:cNvSpPr txBox="1"/>
          <p:nvPr/>
        </p:nvSpPr>
        <p:spPr>
          <a:xfrm>
            <a:off x="4663440" y="6053328"/>
            <a:ext cx="7132320" cy="594360"/>
          </a:xfrm>
          <a:prstGeom prst="rect">
            <a:avLst/>
          </a:prstGeom>
          <a:noFill/>
        </p:spPr>
        <p:txBody>
          <a:bodyPr wrap="square">
            <a:spAutoFit/>
          </a:bodyPr>
          <a:lstStyle/>
          <a:p>
            <a:r>
              <a:rPr sz="1700">
                <a:solidFill>
                  <a:srgbClr val="FFFFFF"/>
                </a:solidFill>
                <a:latin typeface="Franklin Gothic Medium Cond"/>
              </a:rPr>
              <a:t>Does it fully address your question, or are there gaps?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Practice: Spot the Errors</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Read this AI output — how many problems can you find?</a:t>
            </a:r>
          </a:p>
        </p:txBody>
      </p:sp>
      <p:sp>
        <p:nvSpPr>
          <p:cNvPr id="5" name="Rectangle 4"/>
          <p:cNvSpPr/>
          <p:nvPr/>
        </p:nvSpPr>
        <p:spPr>
          <a:xfrm>
            <a:off x="274320" y="1444752"/>
            <a:ext cx="11640312" cy="37947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36192"/>
            <a:ext cx="9144000" cy="411480"/>
          </a:xfrm>
          <a:prstGeom prst="rect">
            <a:avLst/>
          </a:prstGeom>
          <a:noFill/>
        </p:spPr>
        <p:txBody>
          <a:bodyPr wrap="square">
            <a:spAutoFit/>
          </a:bodyPr>
          <a:lstStyle/>
          <a:p>
            <a:pPr algn="l"/>
            <a:r>
              <a:rPr sz="1500" b="1" i="0">
                <a:solidFill>
                  <a:srgbClr val="E28E03"/>
                </a:solidFill>
                <a:latin typeface="Franklin Gothic Medium Cond"/>
              </a:rPr>
              <a:t>AI OUTPUT (contains deliberate errors):</a:t>
            </a:r>
          </a:p>
        </p:txBody>
      </p:sp>
      <p:sp>
        <p:nvSpPr>
          <p:cNvPr id="7" name="TextBox 6"/>
          <p:cNvSpPr txBox="1"/>
          <p:nvPr/>
        </p:nvSpPr>
        <p:spPr>
          <a:xfrm>
            <a:off x="457200" y="1993392"/>
            <a:ext cx="11247120" cy="3063240"/>
          </a:xfrm>
          <a:prstGeom prst="rect">
            <a:avLst/>
          </a:prstGeom>
          <a:noFill/>
        </p:spPr>
        <p:txBody>
          <a:bodyPr wrap="square">
            <a:spAutoFit/>
          </a:bodyPr>
          <a:lstStyle/>
          <a:p>
            <a:r>
              <a:rPr sz="2000" i="1">
                <a:solidFill>
                  <a:srgbClr val="00244E"/>
                </a:solidFill>
                <a:latin typeface="Franklin Gothic Medium Cond"/>
              </a:rPr>
              <a:t>The United Nations was founded in 1945 by Franklin D. Roosevelt and Winston Churchill at the Geneva Conference. It currently has 184 member states. The UN's primary goal is to prevent wars and promote peace worldwide. Its headquarters are located in Paris, France. The Secretary-General serves a 3-year term. The UN Security Council has 7 permanent members including the USA, UK, France, Russia, and China.</a:t>
            </a:r>
          </a:p>
        </p:txBody>
      </p:sp>
      <p:sp>
        <p:nvSpPr>
          <p:cNvPr id="8" name="Rectangle 7"/>
          <p:cNvSpPr/>
          <p:nvPr/>
        </p:nvSpPr>
        <p:spPr>
          <a:xfrm>
            <a:off x="274320" y="5349240"/>
            <a:ext cx="11640312" cy="1298448"/>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5413248"/>
            <a:ext cx="10972800" cy="384048"/>
          </a:xfrm>
          <a:prstGeom prst="rect">
            <a:avLst/>
          </a:prstGeom>
          <a:noFill/>
        </p:spPr>
        <p:txBody>
          <a:bodyPr wrap="square">
            <a:spAutoFit/>
          </a:bodyPr>
          <a:lstStyle/>
          <a:p>
            <a:pPr algn="l"/>
            <a:r>
              <a:rPr sz="1600" b="1" i="0">
                <a:solidFill>
                  <a:srgbClr val="FFFFFF"/>
                </a:solidFill>
                <a:latin typeface="Franklin Gothic Medium Cond"/>
              </a:rPr>
              <a:t>❓  Errors to find — discuss with a partner, then reveal!</a:t>
            </a:r>
          </a:p>
        </p:txBody>
      </p:sp>
      <p:sp>
        <p:nvSpPr>
          <p:cNvPr id="10" name="TextBox 9"/>
          <p:cNvSpPr txBox="1"/>
          <p:nvPr/>
        </p:nvSpPr>
        <p:spPr>
          <a:xfrm>
            <a:off x="457200" y="5852160"/>
            <a:ext cx="11430000" cy="731520"/>
          </a:xfrm>
          <a:prstGeom prst="rect">
            <a:avLst/>
          </a:prstGeom>
          <a:noFill/>
        </p:spPr>
        <p:txBody>
          <a:bodyPr wrap="square">
            <a:spAutoFit/>
          </a:bodyPr>
          <a:lstStyle/>
          <a:p>
            <a:pPr algn="l"/>
            <a:r>
              <a:rPr sz="1500" b="1" i="0">
                <a:solidFill>
                  <a:srgbClr val="FFFFFF"/>
                </a:solidFill>
                <a:latin typeface="Franklin Gothic Medium Cond"/>
              </a:rPr>
              <a:t>Answers: ① Geneva → San Francisco  ② 184 → 193 members  ③ Paris → New York  ④ 3-year → 5-year term  ⑤ 7 → 5 permanent members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9DEA"/>
        </a:solidFill>
        <a:effectLst/>
      </p:bgPr>
    </p:bg>
    <p:spTree>
      <p:nvGrpSpPr>
        <p:cNvPr id="1" name=""/>
        <p:cNvGrpSpPr/>
        <p:nvPr/>
      </p:nvGrpSpPr>
      <p:grpSpPr/>
      <p:sp>
        <p:nvSpPr>
          <p:cNvPr id="2" name="TextBox 1"/>
          <p:cNvSpPr txBox="1"/>
          <p:nvPr/>
        </p:nvSpPr>
        <p:spPr>
          <a:xfrm>
            <a:off x="7772400" y="457200"/>
            <a:ext cx="4114800" cy="5943600"/>
          </a:xfrm>
          <a:prstGeom prst="rect">
            <a:avLst/>
          </a:prstGeom>
          <a:noFill/>
        </p:spPr>
        <p:txBody>
          <a:bodyPr wrap="square">
            <a:spAutoFit/>
          </a:bodyPr>
          <a:lstStyle/>
          <a:p>
            <a:pPr algn="l"/>
            <a:r>
              <a:rPr sz="28000" b="1" i="0">
                <a:solidFill>
                  <a:srgbClr val="FFFFFF"/>
                </a:solidFill>
                <a:latin typeface="Franklin Gothic Medium Cond"/>
              </a:rPr>
              <a:t>5</a:t>
            </a:r>
          </a:p>
        </p:txBody>
      </p:sp>
      <p:sp>
        <p:nvSpPr>
          <p:cNvPr id="3" name="Rectangle 2"/>
          <p:cNvSpPr/>
          <p:nvPr/>
        </p:nvSpPr>
        <p:spPr>
          <a:xfrm>
            <a:off x="0" y="0"/>
            <a:ext cx="502920" cy="6858000"/>
          </a:xfrm>
          <a:prstGeom prst="rect">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20240"/>
            <a:ext cx="9144000" cy="502920"/>
          </a:xfrm>
          <a:prstGeom prst="rect">
            <a:avLst/>
          </a:prstGeom>
          <a:noFill/>
        </p:spPr>
        <p:txBody>
          <a:bodyPr wrap="square">
            <a:spAutoFit/>
          </a:bodyPr>
          <a:lstStyle/>
          <a:p>
            <a:pPr algn="l"/>
            <a:r>
              <a:rPr sz="1800" b="1" i="1">
                <a:solidFill>
                  <a:srgbClr val="FDB913"/>
                </a:solidFill>
                <a:latin typeface="Franklin Gothic Medium Cond"/>
              </a:rPr>
              <a:t>SECTION 5</a:t>
            </a:r>
          </a:p>
        </p:txBody>
      </p:sp>
      <p:sp>
        <p:nvSpPr>
          <p:cNvPr id="5" name="TextBox 4"/>
          <p:cNvSpPr txBox="1"/>
          <p:nvPr/>
        </p:nvSpPr>
        <p:spPr>
          <a:xfrm>
            <a:off x="777240" y="2514600"/>
            <a:ext cx="9601200" cy="1371600"/>
          </a:xfrm>
          <a:prstGeom prst="rect">
            <a:avLst/>
          </a:prstGeom>
          <a:noFill/>
        </p:spPr>
        <p:txBody>
          <a:bodyPr wrap="square">
            <a:spAutoFit/>
          </a:bodyPr>
          <a:lstStyle/>
          <a:p>
            <a:pPr algn="l"/>
            <a:r>
              <a:rPr sz="4600" b="1" i="0">
                <a:solidFill>
                  <a:srgbClr val="FFFFFF"/>
                </a:solidFill>
                <a:latin typeface="Franklin Gothic Medium Cond"/>
              </a:rPr>
              <a:t>AI Guidelines &amp; Responsible Use</a:t>
            </a:r>
          </a:p>
        </p:txBody>
      </p:sp>
      <p:sp>
        <p:nvSpPr>
          <p:cNvPr id="6" name="TextBox 5"/>
          <p:cNvSpPr txBox="1"/>
          <p:nvPr/>
        </p:nvSpPr>
        <p:spPr>
          <a:xfrm>
            <a:off x="777240" y="4023360"/>
            <a:ext cx="9601200" cy="777240"/>
          </a:xfrm>
          <a:prstGeom prst="rect">
            <a:avLst/>
          </a:prstGeom>
          <a:noFill/>
        </p:spPr>
        <p:txBody>
          <a:bodyPr wrap="square">
            <a:spAutoFit/>
          </a:bodyPr>
          <a:lstStyle/>
          <a:p>
            <a:pPr algn="l"/>
            <a:r>
              <a:rPr sz="2200" b="0" i="1">
                <a:solidFill>
                  <a:srgbClr val="F0F4FA"/>
                </a:solidFill>
                <a:latin typeface="Franklin Gothic Medium Cond"/>
              </a:rPr>
              <a:t>Know the rules — protect yourself and others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When AI IS Allowed in Academic Settings</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Always check your institution's specific policy first</a:t>
            </a:r>
          </a:p>
        </p:txBody>
      </p:sp>
      <p:sp>
        <p:nvSpPr>
          <p:cNvPr id="5" name="TextBox 4"/>
          <p:cNvSpPr txBox="1"/>
          <p:nvPr/>
        </p:nvSpPr>
        <p:spPr>
          <a:xfrm>
            <a:off x="548640" y="1463040"/>
            <a:ext cx="11064240" cy="5120640"/>
          </a:xfrm>
          <a:prstGeom prst="rect">
            <a:avLst/>
          </a:prstGeom>
          <a:noFill/>
        </p:spPr>
        <p:txBody>
          <a:bodyPr wrap="square">
            <a:spAutoFit/>
          </a:bodyPr>
          <a:lstStyle/>
          <a:p>
            <a:pPr>
              <a:spcBef>
                <a:spcPts val="900"/>
              </a:spcBef>
            </a:pPr>
            <a:r>
              <a:rPr sz="2100">
                <a:solidFill>
                  <a:srgbClr val="0A3370"/>
                </a:solidFill>
                <a:latin typeface="Franklin Gothic Medium Cond"/>
              </a:rPr>
              <a:t>✓  Brainstorming and generating initial ideas (with disclosure)</a:t>
            </a:r>
          </a:p>
          <a:p>
            <a:pPr>
              <a:spcBef>
                <a:spcPts val="900"/>
              </a:spcBef>
            </a:pPr>
            <a:r>
              <a:rPr sz="2100">
                <a:solidFill>
                  <a:srgbClr val="0A3370"/>
                </a:solidFill>
                <a:latin typeface="Franklin Gothic Medium Cond"/>
              </a:rPr>
              <a:t>✓  Improving grammar and clarity of your own draft</a:t>
            </a:r>
          </a:p>
          <a:p>
            <a:pPr>
              <a:spcBef>
                <a:spcPts val="900"/>
              </a:spcBef>
            </a:pPr>
            <a:r>
              <a:rPr sz="2100">
                <a:solidFill>
                  <a:srgbClr val="0A3370"/>
                </a:solidFill>
                <a:latin typeface="Franklin Gothic Medium Cond"/>
              </a:rPr>
              <a:t>✓  Translating content to better understand a source</a:t>
            </a:r>
          </a:p>
          <a:p>
            <a:pPr>
              <a:spcBef>
                <a:spcPts val="900"/>
              </a:spcBef>
            </a:pPr>
            <a:r>
              <a:rPr sz="2100">
                <a:solidFill>
                  <a:srgbClr val="0A3370"/>
                </a:solidFill>
                <a:latin typeface="Franklin Gothic Medium Cond"/>
              </a:rPr>
              <a:t>✓  Summarising readings to aid comprehension</a:t>
            </a:r>
          </a:p>
          <a:p>
            <a:pPr>
              <a:spcBef>
                <a:spcPts val="900"/>
              </a:spcBef>
            </a:pPr>
            <a:r>
              <a:rPr sz="2100">
                <a:solidFill>
                  <a:srgbClr val="0A3370"/>
                </a:solidFill>
                <a:latin typeface="Franklin Gothic Medium Cond"/>
              </a:rPr>
              <a:t>✓  Generating practice questions or study guides</a:t>
            </a:r>
          </a:p>
          <a:p>
            <a:pPr>
              <a:spcBef>
                <a:spcPts val="900"/>
              </a:spcBef>
            </a:pPr>
            <a:r>
              <a:rPr sz="2100">
                <a:solidFill>
                  <a:srgbClr val="0A3370"/>
                </a:solidFill>
                <a:latin typeface="Franklin Gothic Medium Cond"/>
              </a:rPr>
              <a:t>✓  Getting feedback on structure or argument strength</a:t>
            </a:r>
          </a:p>
          <a:p>
            <a:pPr>
              <a:spcBef>
                <a:spcPts val="900"/>
              </a:spcBef>
            </a:pPr>
            <a:r>
              <a:rPr sz="2100">
                <a:solidFill>
                  <a:srgbClr val="0A3370"/>
                </a:solidFill>
                <a:latin typeface="Franklin Gothic Medium Cond"/>
              </a:rPr>
              <a:t>✓  Learning new concepts through interactive explanation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When AI is NOT Allowed</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Academic integrity applies to AI — misuse has serious consequences</a:t>
            </a:r>
          </a:p>
        </p:txBody>
      </p:sp>
      <p:sp>
        <p:nvSpPr>
          <p:cNvPr id="5" name="TextBox 4"/>
          <p:cNvSpPr txBox="1"/>
          <p:nvPr/>
        </p:nvSpPr>
        <p:spPr>
          <a:xfrm>
            <a:off x="548640" y="1463040"/>
            <a:ext cx="11064240" cy="5120640"/>
          </a:xfrm>
          <a:prstGeom prst="rect">
            <a:avLst/>
          </a:prstGeom>
          <a:noFill/>
        </p:spPr>
        <p:txBody>
          <a:bodyPr wrap="square">
            <a:spAutoFit/>
          </a:bodyPr>
          <a:lstStyle/>
          <a:p>
            <a:pPr>
              <a:spcBef>
                <a:spcPts val="900"/>
              </a:spcBef>
            </a:pPr>
            <a:r>
              <a:rPr sz="2100">
                <a:solidFill>
                  <a:srgbClr val="E28E03"/>
                </a:solidFill>
                <a:latin typeface="Franklin Gothic Medium Cond"/>
              </a:rPr>
              <a:t>✗  Generating entire assignments or essays for submission</a:t>
            </a:r>
          </a:p>
          <a:p>
            <a:pPr>
              <a:spcBef>
                <a:spcPts val="900"/>
              </a:spcBef>
            </a:pPr>
            <a:r>
              <a:rPr sz="2100">
                <a:solidFill>
                  <a:srgbClr val="E28E03"/>
                </a:solidFill>
                <a:latin typeface="Franklin Gothic Medium Cond"/>
              </a:rPr>
              <a:t>✗  Completing exams, quizzes, or timed assessments</a:t>
            </a:r>
          </a:p>
          <a:p>
            <a:pPr>
              <a:spcBef>
                <a:spcPts val="900"/>
              </a:spcBef>
            </a:pPr>
            <a:r>
              <a:rPr sz="2100">
                <a:solidFill>
                  <a:srgbClr val="E28E03"/>
                </a:solidFill>
                <a:latin typeface="Franklin Gothic Medium Cond"/>
              </a:rPr>
              <a:t>✗  Writing lab reports, reflections, or personal statements</a:t>
            </a:r>
          </a:p>
          <a:p>
            <a:pPr>
              <a:spcBef>
                <a:spcPts val="900"/>
              </a:spcBef>
            </a:pPr>
            <a:r>
              <a:rPr sz="2100">
                <a:solidFill>
                  <a:srgbClr val="E28E03"/>
                </a:solidFill>
                <a:latin typeface="Franklin Gothic Medium Cond"/>
              </a:rPr>
              <a:t>✗  Paraphrasing AI content to disguise AI origin</a:t>
            </a:r>
          </a:p>
          <a:p>
            <a:pPr>
              <a:spcBef>
                <a:spcPts val="900"/>
              </a:spcBef>
            </a:pPr>
            <a:r>
              <a:rPr sz="2100">
                <a:solidFill>
                  <a:srgbClr val="E28E03"/>
                </a:solidFill>
                <a:latin typeface="Franklin Gothic Medium Cond"/>
              </a:rPr>
              <a:t>✗  Using AI to complete peer evaluations or feedback forms</a:t>
            </a:r>
          </a:p>
          <a:p>
            <a:pPr>
              <a:spcBef>
                <a:spcPts val="900"/>
              </a:spcBef>
            </a:pPr>
            <a:r>
              <a:rPr sz="2100">
                <a:solidFill>
                  <a:srgbClr val="E28E03"/>
                </a:solidFill>
                <a:latin typeface="Franklin Gothic Medium Cond"/>
              </a:rPr>
              <a:t>✗  Any situation where your instructor has explicitly prohibited it</a:t>
            </a:r>
          </a:p>
          <a:p>
            <a:pPr>
              <a:spcBef>
                <a:spcPts val="900"/>
              </a:spcBef>
            </a:pPr>
            <a:r>
              <a:rPr sz="2100">
                <a:solidFill>
                  <a:srgbClr val="E28E03"/>
                </a:solidFill>
                <a:latin typeface="Franklin Gothic Medium Cond"/>
              </a:rPr>
              <a:t>✗  Presenting AI output as entirely your own original thinking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Privacy, Safety &amp; Personal Data</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What you share with AI is not always private</a:t>
            </a:r>
          </a:p>
        </p:txBody>
      </p:sp>
      <p:sp>
        <p:nvSpPr>
          <p:cNvPr id="5" name="Rectangle 4"/>
          <p:cNvSpPr/>
          <p:nvPr/>
        </p:nvSpPr>
        <p:spPr>
          <a:xfrm>
            <a:off x="365760" y="1481328"/>
            <a:ext cx="5669280" cy="5102352"/>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91056"/>
            <a:ext cx="5303520" cy="621792"/>
          </a:xfrm>
          <a:prstGeom prst="rect">
            <a:avLst/>
          </a:prstGeom>
          <a:noFill/>
        </p:spPr>
        <p:txBody>
          <a:bodyPr wrap="square">
            <a:spAutoFit/>
          </a:bodyPr>
          <a:lstStyle/>
          <a:p>
            <a:pPr algn="ctr"/>
            <a:r>
              <a:rPr sz="2200" b="1" i="0">
                <a:solidFill>
                  <a:srgbClr val="FFFFFF"/>
                </a:solidFill>
                <a:latin typeface="Franklin Gothic Medium Cond"/>
              </a:rPr>
              <a:t>🔒 Never Share</a:t>
            </a:r>
          </a:p>
        </p:txBody>
      </p:sp>
      <p:sp>
        <p:nvSpPr>
          <p:cNvPr id="7" name="TextBox 6"/>
          <p:cNvSpPr txBox="1"/>
          <p:nvPr/>
        </p:nvSpPr>
        <p:spPr>
          <a:xfrm>
            <a:off x="548640" y="2304288"/>
            <a:ext cx="5303520" cy="4023360"/>
          </a:xfrm>
          <a:prstGeom prst="rect">
            <a:avLst/>
          </a:prstGeom>
          <a:noFill/>
        </p:spPr>
        <p:txBody>
          <a:bodyPr wrap="square">
            <a:spAutoFit/>
          </a:bodyPr>
          <a:lstStyle/>
          <a:p>
            <a:pPr>
              <a:spcBef>
                <a:spcPts val="900"/>
              </a:spcBef>
            </a:pPr>
            <a:r>
              <a:rPr sz="1800">
                <a:solidFill>
                  <a:srgbClr val="FFFFFF"/>
                </a:solidFill>
                <a:latin typeface="Franklin Gothic Medium Cond"/>
              </a:rPr>
              <a:t>▸  Passport, ID, or social security numbers</a:t>
            </a:r>
          </a:p>
          <a:p>
            <a:pPr>
              <a:spcBef>
                <a:spcPts val="900"/>
              </a:spcBef>
            </a:pPr>
            <a:r>
              <a:rPr sz="1800">
                <a:solidFill>
                  <a:srgbClr val="FFFFFF"/>
                </a:solidFill>
                <a:latin typeface="Franklin Gothic Medium Cond"/>
              </a:rPr>
              <a:t>▸  Bank details, card numbers, or financial data</a:t>
            </a:r>
          </a:p>
          <a:p>
            <a:pPr>
              <a:spcBef>
                <a:spcPts val="900"/>
              </a:spcBef>
            </a:pPr>
            <a:r>
              <a:rPr sz="1800">
                <a:solidFill>
                  <a:srgbClr val="FFFFFF"/>
                </a:solidFill>
                <a:latin typeface="Franklin Gothic Medium Cond"/>
              </a:rPr>
              <a:t>▸  Medical records or health information</a:t>
            </a:r>
          </a:p>
          <a:p>
            <a:pPr>
              <a:spcBef>
                <a:spcPts val="900"/>
              </a:spcBef>
            </a:pPr>
            <a:r>
              <a:rPr sz="1800">
                <a:solidFill>
                  <a:srgbClr val="FFFFFF"/>
                </a:solidFill>
                <a:latin typeface="Franklin Gothic Medium Cond"/>
              </a:rPr>
              <a:t>▸  Passwords or account credentials</a:t>
            </a:r>
          </a:p>
          <a:p>
            <a:pPr>
              <a:spcBef>
                <a:spcPts val="900"/>
              </a:spcBef>
            </a:pPr>
            <a:r>
              <a:rPr sz="1800">
                <a:solidFill>
                  <a:srgbClr val="FFFFFF"/>
                </a:solidFill>
                <a:latin typeface="Franklin Gothic Medium Cond"/>
              </a:rPr>
              <a:t>▸  Classmates' personal information or work</a:t>
            </a:r>
          </a:p>
        </p:txBody>
      </p:sp>
      <p:sp>
        <p:nvSpPr>
          <p:cNvPr id="8" name="Rectangle 7"/>
          <p:cNvSpPr/>
          <p:nvPr/>
        </p:nvSpPr>
        <p:spPr>
          <a:xfrm>
            <a:off x="6355080" y="1481328"/>
            <a:ext cx="5669280" cy="5102352"/>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591056"/>
            <a:ext cx="5303520" cy="621792"/>
          </a:xfrm>
          <a:prstGeom prst="rect">
            <a:avLst/>
          </a:prstGeom>
          <a:noFill/>
        </p:spPr>
        <p:txBody>
          <a:bodyPr wrap="square">
            <a:spAutoFit/>
          </a:bodyPr>
          <a:lstStyle/>
          <a:p>
            <a:pPr algn="ctr"/>
            <a:r>
              <a:rPr sz="2200" b="1" i="0">
                <a:solidFill>
                  <a:srgbClr val="FFFFFF"/>
                </a:solidFill>
                <a:latin typeface="Franklin Gothic Medium Cond"/>
              </a:rPr>
              <a:t>⚠️ Be Cautious With</a:t>
            </a:r>
          </a:p>
        </p:txBody>
      </p:sp>
      <p:sp>
        <p:nvSpPr>
          <p:cNvPr id="10" name="TextBox 9"/>
          <p:cNvSpPr txBox="1"/>
          <p:nvPr/>
        </p:nvSpPr>
        <p:spPr>
          <a:xfrm>
            <a:off x="6537960" y="2304288"/>
            <a:ext cx="5303520" cy="4023360"/>
          </a:xfrm>
          <a:prstGeom prst="rect">
            <a:avLst/>
          </a:prstGeom>
          <a:noFill/>
        </p:spPr>
        <p:txBody>
          <a:bodyPr wrap="square">
            <a:spAutoFit/>
          </a:bodyPr>
          <a:lstStyle/>
          <a:p>
            <a:pPr>
              <a:spcBef>
                <a:spcPts val="900"/>
              </a:spcBef>
            </a:pPr>
            <a:r>
              <a:rPr sz="1800">
                <a:solidFill>
                  <a:srgbClr val="FFFFFF"/>
                </a:solidFill>
                <a:latin typeface="Franklin Gothic Medium Cond"/>
              </a:rPr>
              <a:t>▸  Your full name combined with location</a:t>
            </a:r>
          </a:p>
          <a:p>
            <a:pPr>
              <a:spcBef>
                <a:spcPts val="900"/>
              </a:spcBef>
            </a:pPr>
            <a:r>
              <a:rPr sz="1800">
                <a:solidFill>
                  <a:srgbClr val="FFFFFF"/>
                </a:solidFill>
                <a:latin typeface="Franklin Gothic Medium Cond"/>
              </a:rPr>
              <a:t>▸  Details about your mental health or personal struggles</a:t>
            </a:r>
          </a:p>
          <a:p>
            <a:pPr>
              <a:spcBef>
                <a:spcPts val="900"/>
              </a:spcBef>
            </a:pPr>
            <a:r>
              <a:rPr sz="1800">
                <a:solidFill>
                  <a:srgbClr val="FFFFFF"/>
                </a:solidFill>
                <a:latin typeface="Franklin Gothic Medium Cond"/>
              </a:rPr>
              <a:t>▸  Confidential course materials (copyrighted content)</a:t>
            </a:r>
          </a:p>
          <a:p>
            <a:pPr>
              <a:spcBef>
                <a:spcPts val="900"/>
              </a:spcBef>
            </a:pPr>
            <a:r>
              <a:rPr sz="1800">
                <a:solidFill>
                  <a:srgbClr val="FFFFFF"/>
                </a:solidFill>
                <a:latin typeface="Franklin Gothic Medium Cond"/>
              </a:rPr>
              <a:t>▸  Sensitive family or relationship information</a:t>
            </a:r>
          </a:p>
          <a:p>
            <a:pPr>
              <a:spcBef>
                <a:spcPts val="900"/>
              </a:spcBef>
            </a:pPr>
            <a:r>
              <a:rPr sz="1800">
                <a:solidFill>
                  <a:srgbClr val="FFFFFF"/>
                </a:solidFill>
                <a:latin typeface="Franklin Gothic Medium Cond"/>
              </a:rPr>
              <a:t>▸  Unpublished research data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Ethical Use: Learning vs. Shortcuts</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The difference is whether YOU are growing</a:t>
            </a:r>
          </a:p>
        </p:txBody>
      </p:sp>
      <p:sp>
        <p:nvSpPr>
          <p:cNvPr id="5" name="Rectangle 4"/>
          <p:cNvSpPr/>
          <p:nvPr/>
        </p:nvSpPr>
        <p:spPr>
          <a:xfrm>
            <a:off x="274320" y="1417320"/>
            <a:ext cx="5623560" cy="5166360"/>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08760"/>
            <a:ext cx="5257800" cy="658368"/>
          </a:xfrm>
          <a:prstGeom prst="rect">
            <a:avLst/>
          </a:prstGeom>
          <a:noFill/>
        </p:spPr>
        <p:txBody>
          <a:bodyPr wrap="square">
            <a:spAutoFit/>
          </a:bodyPr>
          <a:lstStyle/>
          <a:p>
            <a:pPr algn="ctr"/>
            <a:r>
              <a:rPr sz="2200" b="1" i="0">
                <a:solidFill>
                  <a:srgbClr val="FFFFFF"/>
                </a:solidFill>
                <a:latin typeface="Franklin Gothic Medium Cond"/>
              </a:rPr>
              <a:t>✅  Using AI to LEARN</a:t>
            </a:r>
          </a:p>
        </p:txBody>
      </p:sp>
      <p:sp>
        <p:nvSpPr>
          <p:cNvPr id="7" name="TextBox 6"/>
          <p:cNvSpPr txBox="1"/>
          <p:nvPr/>
        </p:nvSpPr>
        <p:spPr>
          <a:xfrm>
            <a:off x="457200" y="2267712"/>
            <a:ext cx="5257800" cy="4160520"/>
          </a:xfrm>
          <a:prstGeom prst="rect">
            <a:avLst/>
          </a:prstGeom>
          <a:noFill/>
        </p:spPr>
        <p:txBody>
          <a:bodyPr wrap="square">
            <a:spAutoFit/>
          </a:bodyPr>
          <a:lstStyle/>
          <a:p>
            <a:pPr>
              <a:spcBef>
                <a:spcPts val="800"/>
              </a:spcBef>
            </a:pPr>
            <a:r>
              <a:rPr sz="1900">
                <a:solidFill>
                  <a:srgbClr val="FFFFFF"/>
                </a:solidFill>
                <a:latin typeface="Franklin Gothic Medium Cond"/>
              </a:rPr>
              <a:t>▸  Ask AI to explain a concept, then test yourself</a:t>
            </a:r>
          </a:p>
          <a:p>
            <a:pPr>
              <a:spcBef>
                <a:spcPts val="800"/>
              </a:spcBef>
            </a:pPr>
            <a:r>
              <a:rPr sz="1900">
                <a:solidFill>
                  <a:srgbClr val="FFFFFF"/>
                </a:solidFill>
                <a:latin typeface="Franklin Gothic Medium Cond"/>
              </a:rPr>
              <a:t>▸  Use AI feedback to improve your own draft</a:t>
            </a:r>
          </a:p>
          <a:p>
            <a:pPr>
              <a:spcBef>
                <a:spcPts val="800"/>
              </a:spcBef>
            </a:pPr>
            <a:r>
              <a:rPr sz="1900">
                <a:solidFill>
                  <a:srgbClr val="FFFFFF"/>
                </a:solidFill>
                <a:latin typeface="Franklin Gothic Medium Cond"/>
              </a:rPr>
              <a:t>▸  Ask AI questions to deepen understanding</a:t>
            </a:r>
          </a:p>
          <a:p>
            <a:pPr>
              <a:spcBef>
                <a:spcPts val="800"/>
              </a:spcBef>
            </a:pPr>
            <a:r>
              <a:rPr sz="1900">
                <a:solidFill>
                  <a:srgbClr val="FFFFFF"/>
                </a:solidFill>
                <a:latin typeface="Franklin Gothic Medium Cond"/>
              </a:rPr>
              <a:t>▸  Use AI to explore multiple perspectives</a:t>
            </a:r>
          </a:p>
          <a:p>
            <a:pPr>
              <a:spcBef>
                <a:spcPts val="800"/>
              </a:spcBef>
            </a:pPr>
            <a:r>
              <a:rPr sz="1900">
                <a:solidFill>
                  <a:srgbClr val="FFFFFF"/>
                </a:solidFill>
                <a:latin typeface="Franklin Gothic Medium Cond"/>
              </a:rPr>
              <a:t>▸  Cite AI assistance when required</a:t>
            </a:r>
          </a:p>
          <a:p>
            <a:pPr>
              <a:spcBef>
                <a:spcPts val="800"/>
              </a:spcBef>
            </a:pPr>
            <a:r>
              <a:rPr sz="1900">
                <a:solidFill>
                  <a:srgbClr val="FFFFFF"/>
                </a:solidFill>
                <a:latin typeface="Franklin Gothic Medium Cond"/>
              </a:rPr>
              <a:t>▸  Reflect on what AI taught you</a:t>
            </a:r>
          </a:p>
        </p:txBody>
      </p:sp>
      <p:sp>
        <p:nvSpPr>
          <p:cNvPr id="8" name="Rectangle 7"/>
          <p:cNvSpPr/>
          <p:nvPr/>
        </p:nvSpPr>
        <p:spPr>
          <a:xfrm>
            <a:off x="6291072" y="1417320"/>
            <a:ext cx="5623560" cy="516636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508760"/>
            <a:ext cx="5257800" cy="658368"/>
          </a:xfrm>
          <a:prstGeom prst="rect">
            <a:avLst/>
          </a:prstGeom>
          <a:noFill/>
        </p:spPr>
        <p:txBody>
          <a:bodyPr wrap="square">
            <a:spAutoFit/>
          </a:bodyPr>
          <a:lstStyle/>
          <a:p>
            <a:pPr algn="ctr"/>
            <a:r>
              <a:rPr sz="2200" b="1" i="0">
                <a:solidFill>
                  <a:srgbClr val="FFFFFF"/>
                </a:solidFill>
                <a:latin typeface="Franklin Gothic Medium Cond"/>
              </a:rPr>
              <a:t>❌  Using AI as a SHORTCUT</a:t>
            </a:r>
          </a:p>
        </p:txBody>
      </p:sp>
      <p:sp>
        <p:nvSpPr>
          <p:cNvPr id="10" name="TextBox 9"/>
          <p:cNvSpPr txBox="1"/>
          <p:nvPr/>
        </p:nvSpPr>
        <p:spPr>
          <a:xfrm>
            <a:off x="6473952" y="2267712"/>
            <a:ext cx="5257800" cy="4160520"/>
          </a:xfrm>
          <a:prstGeom prst="rect">
            <a:avLst/>
          </a:prstGeom>
          <a:noFill/>
        </p:spPr>
        <p:txBody>
          <a:bodyPr wrap="square">
            <a:spAutoFit/>
          </a:bodyPr>
          <a:lstStyle/>
          <a:p>
            <a:pPr>
              <a:spcBef>
                <a:spcPts val="800"/>
              </a:spcBef>
            </a:pPr>
            <a:r>
              <a:rPr sz="1900">
                <a:solidFill>
                  <a:srgbClr val="FFFFFF"/>
                </a:solidFill>
                <a:latin typeface="Franklin Gothic Medium Cond"/>
              </a:rPr>
              <a:t>▸  Submitting AI output without reading it</a:t>
            </a:r>
          </a:p>
          <a:p>
            <a:pPr>
              <a:spcBef>
                <a:spcPts val="800"/>
              </a:spcBef>
            </a:pPr>
            <a:r>
              <a:rPr sz="1900">
                <a:solidFill>
                  <a:srgbClr val="FFFFFF"/>
                </a:solidFill>
                <a:latin typeface="Franklin Gothic Medium Cond"/>
              </a:rPr>
              <a:t>▸  Replacing your thinking with AI thinking</a:t>
            </a:r>
          </a:p>
          <a:p>
            <a:pPr>
              <a:spcBef>
                <a:spcPts val="800"/>
              </a:spcBef>
            </a:pPr>
            <a:r>
              <a:rPr sz="1900">
                <a:solidFill>
                  <a:srgbClr val="FFFFFF"/>
                </a:solidFill>
                <a:latin typeface="Franklin Gothic Medium Cond"/>
              </a:rPr>
              <a:t>▸  Hiding your AI use from instructors</a:t>
            </a:r>
          </a:p>
          <a:p>
            <a:pPr>
              <a:spcBef>
                <a:spcPts val="800"/>
              </a:spcBef>
            </a:pPr>
            <a:r>
              <a:rPr sz="1900">
                <a:solidFill>
                  <a:srgbClr val="FFFFFF"/>
                </a:solidFill>
                <a:latin typeface="Franklin Gothic Medium Cond"/>
              </a:rPr>
              <a:t>▸  Copying AI text and calling it your writing</a:t>
            </a:r>
          </a:p>
          <a:p>
            <a:pPr>
              <a:spcBef>
                <a:spcPts val="800"/>
              </a:spcBef>
            </a:pPr>
            <a:r>
              <a:rPr sz="1900">
                <a:solidFill>
                  <a:srgbClr val="FFFFFF"/>
                </a:solidFill>
                <a:latin typeface="Franklin Gothic Medium Cond"/>
              </a:rPr>
              <a:t>▸  Using AI to avoid engaging with material</a:t>
            </a:r>
          </a:p>
          <a:p>
            <a:pPr>
              <a:spcBef>
                <a:spcPts val="800"/>
              </a:spcBef>
            </a:pPr>
            <a:r>
              <a:rPr sz="1900">
                <a:solidFill>
                  <a:srgbClr val="FFFFFF"/>
                </a:solidFill>
                <a:latin typeface="Franklin Gothic Medium Cond"/>
              </a:rPr>
              <a:t>▸  Letting AI do the learning for you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Basic AI Citation Expectations</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When disclosure is required, cite clearly and completely</a:t>
            </a:r>
          </a:p>
        </p:txBody>
      </p:sp>
      <p:sp>
        <p:nvSpPr>
          <p:cNvPr id="5" name="TextBox 4"/>
          <p:cNvSpPr txBox="1"/>
          <p:nvPr/>
        </p:nvSpPr>
        <p:spPr>
          <a:xfrm>
            <a:off x="548640" y="1463040"/>
            <a:ext cx="11064240" cy="5120640"/>
          </a:xfrm>
          <a:prstGeom prst="rect">
            <a:avLst/>
          </a:prstGeom>
          <a:noFill/>
        </p:spPr>
        <p:txBody>
          <a:bodyPr wrap="square">
            <a:spAutoFit/>
          </a:bodyPr>
          <a:lstStyle/>
          <a:p>
            <a:pPr>
              <a:spcBef>
                <a:spcPts val="900"/>
              </a:spcBef>
            </a:pPr>
            <a:r>
              <a:rPr sz="2100">
                <a:solidFill>
                  <a:srgbClr val="0A3370"/>
                </a:solidFill>
                <a:latin typeface="Franklin Gothic Medium Cond"/>
              </a:rPr>
              <a:t>📎  Check your institution's style guide — many now include AI citation formats.</a:t>
            </a:r>
          </a:p>
          <a:p>
            <a:pPr>
              <a:spcBef>
                <a:spcPts val="900"/>
              </a:spcBef>
            </a:pPr>
            <a:r>
              <a:rPr sz="2100">
                <a:solidFill>
                  <a:srgbClr val="0A3370"/>
                </a:solidFill>
                <a:latin typeface="Franklin Gothic Medium Cond"/>
              </a:rPr>
              <a:t>📎  APA 7:  OpenAI. (2024). ChatGPT (GPT-4) [Large language model]. https://chat.openai.com</a:t>
            </a:r>
          </a:p>
          <a:p>
            <a:pPr>
              <a:spcBef>
                <a:spcPts val="900"/>
              </a:spcBef>
            </a:pPr>
            <a:r>
              <a:rPr sz="2100">
                <a:solidFill>
                  <a:srgbClr val="0A3370"/>
                </a:solidFill>
                <a:latin typeface="Franklin Gothic Medium Cond"/>
              </a:rPr>
              <a:t>📎  MLA:  'Prompt text.' ChatGPT, GPT-4 version, OpenAI, 15 Jan. 2024, chat.openai.com.</a:t>
            </a:r>
          </a:p>
          <a:p>
            <a:pPr>
              <a:spcBef>
                <a:spcPts val="900"/>
              </a:spcBef>
            </a:pPr>
            <a:r>
              <a:rPr sz="2100">
                <a:solidFill>
                  <a:srgbClr val="0A3370"/>
                </a:solidFill>
                <a:latin typeface="Franklin Gothic Medium Cond"/>
              </a:rPr>
              <a:t>📎  Include: AI tool name  ·  Version  ·  Date of conversation  ·  Prompt used (if required)</a:t>
            </a:r>
          </a:p>
          <a:p>
            <a:pPr>
              <a:spcBef>
                <a:spcPts val="900"/>
              </a:spcBef>
            </a:pPr>
            <a:r>
              <a:rPr sz="2100">
                <a:solidFill>
                  <a:srgbClr val="0A3370"/>
                </a:solidFill>
                <a:latin typeface="Franklin Gothic Medium Cond"/>
              </a:rPr>
              <a:t>📎  When in doubt, be transparent — disclose AI use in a brief author's note.</a:t>
            </a:r>
          </a:p>
          <a:p>
            <a:pPr>
              <a:spcBef>
                <a:spcPts val="900"/>
              </a:spcBef>
            </a:pPr>
            <a:r>
              <a:rPr sz="2100">
                <a:solidFill>
                  <a:srgbClr val="0A3370"/>
                </a:solidFill>
                <a:latin typeface="Franklin Gothic Medium Cond"/>
              </a:rPr>
              <a:t>📎  Remember: citations show intellectual honesty, not weakness.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28E03"/>
        </a:solidFill>
        <a:effectLst/>
      </p:bgPr>
    </p:bg>
    <p:spTree>
      <p:nvGrpSpPr>
        <p:cNvPr id="1" name=""/>
        <p:cNvGrpSpPr/>
        <p:nvPr/>
      </p:nvGrpSpPr>
      <p:grpSpPr/>
      <p:sp>
        <p:nvSpPr>
          <p:cNvPr id="2" name="TextBox 1"/>
          <p:cNvSpPr txBox="1"/>
          <p:nvPr/>
        </p:nvSpPr>
        <p:spPr>
          <a:xfrm>
            <a:off x="7772400" y="457200"/>
            <a:ext cx="4114800" cy="5943600"/>
          </a:xfrm>
          <a:prstGeom prst="rect">
            <a:avLst/>
          </a:prstGeom>
          <a:noFill/>
        </p:spPr>
        <p:txBody>
          <a:bodyPr wrap="square">
            <a:spAutoFit/>
          </a:bodyPr>
          <a:lstStyle/>
          <a:p>
            <a:pPr algn="l"/>
            <a:r>
              <a:rPr sz="28000" b="1" i="0">
                <a:solidFill>
                  <a:srgbClr val="FFFFFF"/>
                </a:solidFill>
                <a:latin typeface="Franklin Gothic Medium Cond"/>
              </a:rPr>
              <a:t>6</a:t>
            </a:r>
          </a:p>
        </p:txBody>
      </p:sp>
      <p:sp>
        <p:nvSpPr>
          <p:cNvPr id="3" name="Rectangle 2"/>
          <p:cNvSpPr/>
          <p:nvPr/>
        </p:nvSpPr>
        <p:spPr>
          <a:xfrm>
            <a:off x="0" y="0"/>
            <a:ext cx="502920" cy="6858000"/>
          </a:xfrm>
          <a:prstGeom prst="rect">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20240"/>
            <a:ext cx="9144000" cy="502920"/>
          </a:xfrm>
          <a:prstGeom prst="rect">
            <a:avLst/>
          </a:prstGeom>
          <a:noFill/>
        </p:spPr>
        <p:txBody>
          <a:bodyPr wrap="square">
            <a:spAutoFit/>
          </a:bodyPr>
          <a:lstStyle/>
          <a:p>
            <a:pPr algn="l"/>
            <a:r>
              <a:rPr sz="1800" b="1" i="1">
                <a:solidFill>
                  <a:srgbClr val="FDB913"/>
                </a:solidFill>
                <a:latin typeface="Franklin Gothic Medium Cond"/>
              </a:rPr>
              <a:t>SECTION 6</a:t>
            </a:r>
          </a:p>
        </p:txBody>
      </p:sp>
      <p:sp>
        <p:nvSpPr>
          <p:cNvPr id="5" name="TextBox 4"/>
          <p:cNvSpPr txBox="1"/>
          <p:nvPr/>
        </p:nvSpPr>
        <p:spPr>
          <a:xfrm>
            <a:off x="777240" y="2514600"/>
            <a:ext cx="9601200" cy="1371600"/>
          </a:xfrm>
          <a:prstGeom prst="rect">
            <a:avLst/>
          </a:prstGeom>
          <a:noFill/>
        </p:spPr>
        <p:txBody>
          <a:bodyPr wrap="square">
            <a:spAutoFit/>
          </a:bodyPr>
          <a:lstStyle/>
          <a:p>
            <a:pPr algn="l"/>
            <a:r>
              <a:rPr sz="4600" b="1" i="0">
                <a:solidFill>
                  <a:srgbClr val="FFFFFF"/>
                </a:solidFill>
                <a:latin typeface="Franklin Gothic Medium Cond"/>
              </a:rPr>
              <a:t>Final Prompting Challenge + Reflection</a:t>
            </a:r>
          </a:p>
        </p:txBody>
      </p:sp>
      <p:sp>
        <p:nvSpPr>
          <p:cNvPr id="6" name="TextBox 5"/>
          <p:cNvSpPr txBox="1"/>
          <p:nvPr/>
        </p:nvSpPr>
        <p:spPr>
          <a:xfrm>
            <a:off x="777240" y="4023360"/>
            <a:ext cx="9601200" cy="777240"/>
          </a:xfrm>
          <a:prstGeom prst="rect">
            <a:avLst/>
          </a:prstGeom>
          <a:noFill/>
        </p:spPr>
        <p:txBody>
          <a:bodyPr wrap="square">
            <a:spAutoFit/>
          </a:bodyPr>
          <a:lstStyle/>
          <a:p>
            <a:pPr algn="l"/>
            <a:r>
              <a:rPr sz="2200" b="0" i="1">
                <a:solidFill>
                  <a:srgbClr val="F0F4FA"/>
                </a:solidFill>
                <a:latin typeface="Franklin Gothic Medium Cond"/>
              </a:rPr>
              <a:t>Put all 4 strategies together in one powerful prompt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Build Your Best Prompt Challenge</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Combine all 6 elements into one masterful prompt</a:t>
            </a:r>
          </a:p>
        </p:txBody>
      </p:sp>
      <p:sp>
        <p:nvSpPr>
          <p:cNvPr id="5" name="Rectangle 4"/>
          <p:cNvSpPr/>
          <p:nvPr/>
        </p:nvSpPr>
        <p:spPr>
          <a:xfrm>
            <a:off x="228600" y="1444752"/>
            <a:ext cx="3749039" cy="2450592"/>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 y="1554480"/>
            <a:ext cx="640080" cy="594360"/>
          </a:xfrm>
          <a:prstGeom prst="rect">
            <a:avLst/>
          </a:prstGeom>
          <a:noFill/>
        </p:spPr>
        <p:txBody>
          <a:bodyPr wrap="square">
            <a:spAutoFit/>
          </a:bodyPr>
          <a:lstStyle/>
          <a:p>
            <a:pPr algn="l"/>
            <a:r>
              <a:rPr sz="2800" b="1" i="0">
                <a:solidFill>
                  <a:srgbClr val="FFFFFF"/>
                </a:solidFill>
                <a:latin typeface="Franklin Gothic Medium Cond"/>
              </a:rPr>
              <a:t>1</a:t>
            </a:r>
          </a:p>
        </p:txBody>
      </p:sp>
      <p:sp>
        <p:nvSpPr>
          <p:cNvPr id="7" name="TextBox 6"/>
          <p:cNvSpPr txBox="1"/>
          <p:nvPr/>
        </p:nvSpPr>
        <p:spPr>
          <a:xfrm>
            <a:off x="1005840" y="1554480"/>
            <a:ext cx="2834640" cy="566928"/>
          </a:xfrm>
          <a:prstGeom prst="rect">
            <a:avLst/>
          </a:prstGeom>
          <a:noFill/>
        </p:spPr>
        <p:txBody>
          <a:bodyPr wrap="square">
            <a:spAutoFit/>
          </a:bodyPr>
          <a:lstStyle/>
          <a:p>
            <a:pPr algn="l"/>
            <a:r>
              <a:rPr sz="2000" b="1" i="0">
                <a:solidFill>
                  <a:srgbClr val="FFFFFF"/>
                </a:solidFill>
                <a:latin typeface="Franklin Gothic Medium Cond"/>
              </a:rPr>
              <a:t>Role</a:t>
            </a:r>
          </a:p>
        </p:txBody>
      </p:sp>
      <p:sp>
        <p:nvSpPr>
          <p:cNvPr id="8" name="TextBox 7"/>
          <p:cNvSpPr txBox="1"/>
          <p:nvPr/>
        </p:nvSpPr>
        <p:spPr>
          <a:xfrm>
            <a:off x="338328" y="2249424"/>
            <a:ext cx="3547872" cy="502920"/>
          </a:xfrm>
          <a:prstGeom prst="rect">
            <a:avLst/>
          </a:prstGeom>
          <a:noFill/>
        </p:spPr>
        <p:txBody>
          <a:bodyPr wrap="square">
            <a:spAutoFit/>
          </a:bodyPr>
          <a:lstStyle/>
          <a:p>
            <a:pPr algn="l"/>
            <a:r>
              <a:rPr sz="1400" b="0" i="1">
                <a:solidFill>
                  <a:srgbClr val="FFFFFF"/>
                </a:solidFill>
                <a:latin typeface="Franklin Gothic Medium Cond"/>
              </a:rPr>
              <a:t>Who should AI be?</a:t>
            </a:r>
          </a:p>
        </p:txBody>
      </p:sp>
      <p:sp>
        <p:nvSpPr>
          <p:cNvPr id="9" name="TextBox 8"/>
          <p:cNvSpPr txBox="1"/>
          <p:nvPr/>
        </p:nvSpPr>
        <p:spPr>
          <a:xfrm>
            <a:off x="338328" y="2816352"/>
            <a:ext cx="3547872" cy="822960"/>
          </a:xfrm>
          <a:prstGeom prst="rect">
            <a:avLst/>
          </a:prstGeom>
          <a:noFill/>
        </p:spPr>
        <p:txBody>
          <a:bodyPr wrap="square">
            <a:spAutoFit/>
          </a:bodyPr>
          <a:lstStyle/>
          <a:p>
            <a:pPr algn="l"/>
            <a:r>
              <a:rPr sz="1400" b="1" i="0">
                <a:solidFill>
                  <a:srgbClr val="FDB913"/>
                </a:solidFill>
                <a:latin typeface="Franklin Gothic Medium Cond"/>
              </a:rPr>
              <a:t>Act as a …</a:t>
            </a:r>
          </a:p>
        </p:txBody>
      </p:sp>
      <p:sp>
        <p:nvSpPr>
          <p:cNvPr id="10" name="Rectangle 9"/>
          <p:cNvSpPr/>
          <p:nvPr/>
        </p:nvSpPr>
        <p:spPr>
          <a:xfrm>
            <a:off x="4215384" y="1444752"/>
            <a:ext cx="3749039" cy="2450592"/>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25112" y="1554480"/>
            <a:ext cx="640080" cy="594360"/>
          </a:xfrm>
          <a:prstGeom prst="rect">
            <a:avLst/>
          </a:prstGeom>
          <a:noFill/>
        </p:spPr>
        <p:txBody>
          <a:bodyPr wrap="square">
            <a:spAutoFit/>
          </a:bodyPr>
          <a:lstStyle/>
          <a:p>
            <a:pPr algn="l"/>
            <a:r>
              <a:rPr sz="2800" b="1" i="0">
                <a:solidFill>
                  <a:srgbClr val="FFFFFF"/>
                </a:solidFill>
                <a:latin typeface="Franklin Gothic Medium Cond"/>
              </a:rPr>
              <a:t>2</a:t>
            </a:r>
          </a:p>
        </p:txBody>
      </p:sp>
      <p:sp>
        <p:nvSpPr>
          <p:cNvPr id="12" name="TextBox 11"/>
          <p:cNvSpPr txBox="1"/>
          <p:nvPr/>
        </p:nvSpPr>
        <p:spPr>
          <a:xfrm>
            <a:off x="4992624" y="1554480"/>
            <a:ext cx="2834640" cy="566928"/>
          </a:xfrm>
          <a:prstGeom prst="rect">
            <a:avLst/>
          </a:prstGeom>
          <a:noFill/>
        </p:spPr>
        <p:txBody>
          <a:bodyPr wrap="square">
            <a:spAutoFit/>
          </a:bodyPr>
          <a:lstStyle/>
          <a:p>
            <a:pPr algn="l"/>
            <a:r>
              <a:rPr sz="2000" b="1" i="0">
                <a:solidFill>
                  <a:srgbClr val="FFFFFF"/>
                </a:solidFill>
                <a:latin typeface="Franklin Gothic Medium Cond"/>
              </a:rPr>
              <a:t>Context</a:t>
            </a:r>
          </a:p>
        </p:txBody>
      </p:sp>
      <p:sp>
        <p:nvSpPr>
          <p:cNvPr id="13" name="TextBox 12"/>
          <p:cNvSpPr txBox="1"/>
          <p:nvPr/>
        </p:nvSpPr>
        <p:spPr>
          <a:xfrm>
            <a:off x="4325112" y="2249424"/>
            <a:ext cx="3547872" cy="502920"/>
          </a:xfrm>
          <a:prstGeom prst="rect">
            <a:avLst/>
          </a:prstGeom>
          <a:noFill/>
        </p:spPr>
        <p:txBody>
          <a:bodyPr wrap="square">
            <a:spAutoFit/>
          </a:bodyPr>
          <a:lstStyle/>
          <a:p>
            <a:pPr algn="l"/>
            <a:r>
              <a:rPr sz="1400" b="0" i="1">
                <a:solidFill>
                  <a:srgbClr val="FFFFFF"/>
                </a:solidFill>
                <a:latin typeface="Franklin Gothic Medium Cond"/>
              </a:rPr>
              <a:t>What's the background?</a:t>
            </a:r>
          </a:p>
        </p:txBody>
      </p:sp>
      <p:sp>
        <p:nvSpPr>
          <p:cNvPr id="14" name="TextBox 13"/>
          <p:cNvSpPr txBox="1"/>
          <p:nvPr/>
        </p:nvSpPr>
        <p:spPr>
          <a:xfrm>
            <a:off x="4325112" y="2816352"/>
            <a:ext cx="3547872" cy="822960"/>
          </a:xfrm>
          <a:prstGeom prst="rect">
            <a:avLst/>
          </a:prstGeom>
          <a:noFill/>
        </p:spPr>
        <p:txBody>
          <a:bodyPr wrap="square">
            <a:spAutoFit/>
          </a:bodyPr>
          <a:lstStyle/>
          <a:p>
            <a:pPr algn="l"/>
            <a:r>
              <a:rPr sz="1400" b="1" i="0">
                <a:solidFill>
                  <a:srgbClr val="FDB913"/>
                </a:solidFill>
                <a:latin typeface="Franklin Gothic Medium Cond"/>
              </a:rPr>
              <a:t>I am a … working on …</a:t>
            </a:r>
          </a:p>
        </p:txBody>
      </p:sp>
      <p:sp>
        <p:nvSpPr>
          <p:cNvPr id="15" name="Rectangle 14"/>
          <p:cNvSpPr/>
          <p:nvPr/>
        </p:nvSpPr>
        <p:spPr>
          <a:xfrm>
            <a:off x="8202168" y="1444752"/>
            <a:ext cx="3749039" cy="2450592"/>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1896" y="1554480"/>
            <a:ext cx="640080" cy="594360"/>
          </a:xfrm>
          <a:prstGeom prst="rect">
            <a:avLst/>
          </a:prstGeom>
          <a:noFill/>
        </p:spPr>
        <p:txBody>
          <a:bodyPr wrap="square">
            <a:spAutoFit/>
          </a:bodyPr>
          <a:lstStyle/>
          <a:p>
            <a:pPr algn="l"/>
            <a:r>
              <a:rPr sz="2800" b="1" i="0">
                <a:solidFill>
                  <a:srgbClr val="FFFFFF"/>
                </a:solidFill>
                <a:latin typeface="Franklin Gothic Medium Cond"/>
              </a:rPr>
              <a:t>3</a:t>
            </a:r>
          </a:p>
        </p:txBody>
      </p:sp>
      <p:sp>
        <p:nvSpPr>
          <p:cNvPr id="17" name="TextBox 16"/>
          <p:cNvSpPr txBox="1"/>
          <p:nvPr/>
        </p:nvSpPr>
        <p:spPr>
          <a:xfrm>
            <a:off x="8979408" y="1554480"/>
            <a:ext cx="2834640" cy="566928"/>
          </a:xfrm>
          <a:prstGeom prst="rect">
            <a:avLst/>
          </a:prstGeom>
          <a:noFill/>
        </p:spPr>
        <p:txBody>
          <a:bodyPr wrap="square">
            <a:spAutoFit/>
          </a:bodyPr>
          <a:lstStyle/>
          <a:p>
            <a:pPr algn="l"/>
            <a:r>
              <a:rPr sz="2000" b="1" i="0">
                <a:solidFill>
                  <a:srgbClr val="FFFFFF"/>
                </a:solidFill>
                <a:latin typeface="Franklin Gothic Medium Cond"/>
              </a:rPr>
              <a:t>Task</a:t>
            </a:r>
          </a:p>
        </p:txBody>
      </p:sp>
      <p:sp>
        <p:nvSpPr>
          <p:cNvPr id="18" name="TextBox 17"/>
          <p:cNvSpPr txBox="1"/>
          <p:nvPr/>
        </p:nvSpPr>
        <p:spPr>
          <a:xfrm>
            <a:off x="8311896" y="2249424"/>
            <a:ext cx="3547872" cy="502920"/>
          </a:xfrm>
          <a:prstGeom prst="rect">
            <a:avLst/>
          </a:prstGeom>
          <a:noFill/>
        </p:spPr>
        <p:txBody>
          <a:bodyPr wrap="square">
            <a:spAutoFit/>
          </a:bodyPr>
          <a:lstStyle/>
          <a:p>
            <a:pPr algn="l"/>
            <a:r>
              <a:rPr sz="1400" b="0" i="1">
                <a:solidFill>
                  <a:srgbClr val="FFFFFF"/>
                </a:solidFill>
                <a:latin typeface="Franklin Gothic Medium Cond"/>
              </a:rPr>
              <a:t>What exactly do you need?</a:t>
            </a:r>
          </a:p>
        </p:txBody>
      </p:sp>
      <p:sp>
        <p:nvSpPr>
          <p:cNvPr id="19" name="TextBox 18"/>
          <p:cNvSpPr txBox="1"/>
          <p:nvPr/>
        </p:nvSpPr>
        <p:spPr>
          <a:xfrm>
            <a:off x="8311896" y="2816352"/>
            <a:ext cx="3547872" cy="822960"/>
          </a:xfrm>
          <a:prstGeom prst="rect">
            <a:avLst/>
          </a:prstGeom>
          <a:noFill/>
        </p:spPr>
        <p:txBody>
          <a:bodyPr wrap="square">
            <a:spAutoFit/>
          </a:bodyPr>
          <a:lstStyle/>
          <a:p>
            <a:pPr algn="l"/>
            <a:r>
              <a:rPr sz="1400" b="1" i="0">
                <a:solidFill>
                  <a:srgbClr val="FDB913"/>
                </a:solidFill>
                <a:latin typeface="Franklin Gothic Medium Cond"/>
              </a:rPr>
              <a:t>Help me … by …</a:t>
            </a:r>
          </a:p>
        </p:txBody>
      </p:sp>
      <p:sp>
        <p:nvSpPr>
          <p:cNvPr id="20" name="Rectangle 19"/>
          <p:cNvSpPr/>
          <p:nvPr/>
        </p:nvSpPr>
        <p:spPr>
          <a:xfrm>
            <a:off x="228600" y="4050791"/>
            <a:ext cx="3749039" cy="2450592"/>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8328" y="4160520"/>
            <a:ext cx="640080" cy="594360"/>
          </a:xfrm>
          <a:prstGeom prst="rect">
            <a:avLst/>
          </a:prstGeom>
          <a:noFill/>
        </p:spPr>
        <p:txBody>
          <a:bodyPr wrap="square">
            <a:spAutoFit/>
          </a:bodyPr>
          <a:lstStyle/>
          <a:p>
            <a:pPr algn="l"/>
            <a:r>
              <a:rPr sz="2800" b="1" i="0">
                <a:solidFill>
                  <a:srgbClr val="FFFFFF"/>
                </a:solidFill>
                <a:latin typeface="Franklin Gothic Medium Cond"/>
              </a:rPr>
              <a:t>4</a:t>
            </a:r>
          </a:p>
        </p:txBody>
      </p:sp>
      <p:sp>
        <p:nvSpPr>
          <p:cNvPr id="22" name="TextBox 21"/>
          <p:cNvSpPr txBox="1"/>
          <p:nvPr/>
        </p:nvSpPr>
        <p:spPr>
          <a:xfrm>
            <a:off x="1005840" y="4160520"/>
            <a:ext cx="2834640" cy="566928"/>
          </a:xfrm>
          <a:prstGeom prst="rect">
            <a:avLst/>
          </a:prstGeom>
          <a:noFill/>
        </p:spPr>
        <p:txBody>
          <a:bodyPr wrap="square">
            <a:spAutoFit/>
          </a:bodyPr>
          <a:lstStyle/>
          <a:p>
            <a:pPr algn="l"/>
            <a:r>
              <a:rPr sz="2000" b="1" i="0">
                <a:solidFill>
                  <a:srgbClr val="FFFFFF"/>
                </a:solidFill>
                <a:latin typeface="Franklin Gothic Medium Cond"/>
              </a:rPr>
              <a:t>Constraints</a:t>
            </a:r>
          </a:p>
        </p:txBody>
      </p:sp>
      <p:sp>
        <p:nvSpPr>
          <p:cNvPr id="23" name="TextBox 22"/>
          <p:cNvSpPr txBox="1"/>
          <p:nvPr/>
        </p:nvSpPr>
        <p:spPr>
          <a:xfrm>
            <a:off x="338328" y="4855464"/>
            <a:ext cx="3547872" cy="502920"/>
          </a:xfrm>
          <a:prstGeom prst="rect">
            <a:avLst/>
          </a:prstGeom>
          <a:noFill/>
        </p:spPr>
        <p:txBody>
          <a:bodyPr wrap="square">
            <a:spAutoFit/>
          </a:bodyPr>
          <a:lstStyle/>
          <a:p>
            <a:pPr algn="l"/>
            <a:r>
              <a:rPr sz="1400" b="0" i="1">
                <a:solidFill>
                  <a:srgbClr val="FFFFFF"/>
                </a:solidFill>
                <a:latin typeface="Franklin Gothic Medium Cond"/>
              </a:rPr>
              <a:t>What limits apply?</a:t>
            </a:r>
          </a:p>
        </p:txBody>
      </p:sp>
      <p:sp>
        <p:nvSpPr>
          <p:cNvPr id="24" name="TextBox 23"/>
          <p:cNvSpPr txBox="1"/>
          <p:nvPr/>
        </p:nvSpPr>
        <p:spPr>
          <a:xfrm>
            <a:off x="338328" y="5422392"/>
            <a:ext cx="3547872" cy="822960"/>
          </a:xfrm>
          <a:prstGeom prst="rect">
            <a:avLst/>
          </a:prstGeom>
          <a:noFill/>
        </p:spPr>
        <p:txBody>
          <a:bodyPr wrap="square">
            <a:spAutoFit/>
          </a:bodyPr>
          <a:lstStyle/>
          <a:p>
            <a:pPr algn="l"/>
            <a:r>
              <a:rPr sz="1400" b="1" i="0">
                <a:solidFill>
                  <a:srgbClr val="FDB913"/>
                </a:solidFill>
                <a:latin typeface="Franklin Gothic Medium Cond"/>
              </a:rPr>
              <a:t>Keep it under … / Do not …</a:t>
            </a:r>
          </a:p>
        </p:txBody>
      </p:sp>
      <p:sp>
        <p:nvSpPr>
          <p:cNvPr id="25" name="Rectangle 24"/>
          <p:cNvSpPr/>
          <p:nvPr/>
        </p:nvSpPr>
        <p:spPr>
          <a:xfrm>
            <a:off x="4215384" y="4050791"/>
            <a:ext cx="3749039" cy="2450592"/>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5112" y="4160520"/>
            <a:ext cx="640080" cy="594360"/>
          </a:xfrm>
          <a:prstGeom prst="rect">
            <a:avLst/>
          </a:prstGeom>
          <a:noFill/>
        </p:spPr>
        <p:txBody>
          <a:bodyPr wrap="square">
            <a:spAutoFit/>
          </a:bodyPr>
          <a:lstStyle/>
          <a:p>
            <a:pPr algn="l"/>
            <a:r>
              <a:rPr sz="2800" b="1" i="0">
                <a:solidFill>
                  <a:srgbClr val="FFFFFF"/>
                </a:solidFill>
                <a:latin typeface="Franklin Gothic Medium Cond"/>
              </a:rPr>
              <a:t>5</a:t>
            </a:r>
          </a:p>
        </p:txBody>
      </p:sp>
      <p:sp>
        <p:nvSpPr>
          <p:cNvPr id="27" name="TextBox 26"/>
          <p:cNvSpPr txBox="1"/>
          <p:nvPr/>
        </p:nvSpPr>
        <p:spPr>
          <a:xfrm>
            <a:off x="4992624" y="4160520"/>
            <a:ext cx="2834640" cy="566928"/>
          </a:xfrm>
          <a:prstGeom prst="rect">
            <a:avLst/>
          </a:prstGeom>
          <a:noFill/>
        </p:spPr>
        <p:txBody>
          <a:bodyPr wrap="square">
            <a:spAutoFit/>
          </a:bodyPr>
          <a:lstStyle/>
          <a:p>
            <a:pPr algn="l"/>
            <a:r>
              <a:rPr sz="2000" b="1" i="0">
                <a:solidFill>
                  <a:srgbClr val="FFFFFF"/>
                </a:solidFill>
                <a:latin typeface="Franklin Gothic Medium Cond"/>
              </a:rPr>
              <a:t>Output Format</a:t>
            </a:r>
          </a:p>
        </p:txBody>
      </p:sp>
      <p:sp>
        <p:nvSpPr>
          <p:cNvPr id="28" name="TextBox 27"/>
          <p:cNvSpPr txBox="1"/>
          <p:nvPr/>
        </p:nvSpPr>
        <p:spPr>
          <a:xfrm>
            <a:off x="4325112" y="4855464"/>
            <a:ext cx="3547872" cy="502920"/>
          </a:xfrm>
          <a:prstGeom prst="rect">
            <a:avLst/>
          </a:prstGeom>
          <a:noFill/>
        </p:spPr>
        <p:txBody>
          <a:bodyPr wrap="square">
            <a:spAutoFit/>
          </a:bodyPr>
          <a:lstStyle/>
          <a:p>
            <a:pPr algn="l"/>
            <a:r>
              <a:rPr sz="1400" b="0" i="1">
                <a:solidFill>
                  <a:srgbClr val="FFFFFF"/>
                </a:solidFill>
                <a:latin typeface="Franklin Gothic Medium Cond"/>
              </a:rPr>
              <a:t>How should the answer look?</a:t>
            </a:r>
          </a:p>
        </p:txBody>
      </p:sp>
      <p:sp>
        <p:nvSpPr>
          <p:cNvPr id="29" name="TextBox 28"/>
          <p:cNvSpPr txBox="1"/>
          <p:nvPr/>
        </p:nvSpPr>
        <p:spPr>
          <a:xfrm>
            <a:off x="4325112" y="5422392"/>
            <a:ext cx="3547872" cy="822960"/>
          </a:xfrm>
          <a:prstGeom prst="rect">
            <a:avLst/>
          </a:prstGeom>
          <a:noFill/>
        </p:spPr>
        <p:txBody>
          <a:bodyPr wrap="square">
            <a:spAutoFit/>
          </a:bodyPr>
          <a:lstStyle/>
          <a:p>
            <a:pPr algn="l"/>
            <a:r>
              <a:rPr sz="1400" b="1" i="0">
                <a:solidFill>
                  <a:srgbClr val="FDB913"/>
                </a:solidFill>
                <a:latin typeface="Franklin Gothic Medium Cond"/>
              </a:rPr>
              <a:t>Format as a table / checklist …</a:t>
            </a:r>
          </a:p>
        </p:txBody>
      </p:sp>
      <p:sp>
        <p:nvSpPr>
          <p:cNvPr id="30" name="Rectangle 29"/>
          <p:cNvSpPr/>
          <p:nvPr/>
        </p:nvSpPr>
        <p:spPr>
          <a:xfrm>
            <a:off x="8202168" y="4050791"/>
            <a:ext cx="3749039" cy="2450592"/>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11896" y="4160520"/>
            <a:ext cx="640080" cy="594360"/>
          </a:xfrm>
          <a:prstGeom prst="rect">
            <a:avLst/>
          </a:prstGeom>
          <a:noFill/>
        </p:spPr>
        <p:txBody>
          <a:bodyPr wrap="square">
            <a:spAutoFit/>
          </a:bodyPr>
          <a:lstStyle/>
          <a:p>
            <a:pPr algn="l"/>
            <a:r>
              <a:rPr sz="2800" b="1" i="0">
                <a:solidFill>
                  <a:srgbClr val="FFFFFF"/>
                </a:solidFill>
                <a:latin typeface="Franklin Gothic Medium Cond"/>
              </a:rPr>
              <a:t>6</a:t>
            </a:r>
          </a:p>
        </p:txBody>
      </p:sp>
      <p:sp>
        <p:nvSpPr>
          <p:cNvPr id="32" name="TextBox 31"/>
          <p:cNvSpPr txBox="1"/>
          <p:nvPr/>
        </p:nvSpPr>
        <p:spPr>
          <a:xfrm>
            <a:off x="8979408" y="4160520"/>
            <a:ext cx="2834640" cy="566928"/>
          </a:xfrm>
          <a:prstGeom prst="rect">
            <a:avLst/>
          </a:prstGeom>
          <a:noFill/>
        </p:spPr>
        <p:txBody>
          <a:bodyPr wrap="square">
            <a:spAutoFit/>
          </a:bodyPr>
          <a:lstStyle/>
          <a:p>
            <a:pPr algn="l"/>
            <a:r>
              <a:rPr sz="2000" b="1" i="0">
                <a:solidFill>
                  <a:srgbClr val="FFFFFF"/>
                </a:solidFill>
                <a:latin typeface="Franklin Gothic Medium Cond"/>
              </a:rPr>
              <a:t>Language Level</a:t>
            </a:r>
          </a:p>
        </p:txBody>
      </p:sp>
      <p:sp>
        <p:nvSpPr>
          <p:cNvPr id="33" name="TextBox 32"/>
          <p:cNvSpPr txBox="1"/>
          <p:nvPr/>
        </p:nvSpPr>
        <p:spPr>
          <a:xfrm>
            <a:off x="8311896" y="4855464"/>
            <a:ext cx="3547872" cy="502920"/>
          </a:xfrm>
          <a:prstGeom prst="rect">
            <a:avLst/>
          </a:prstGeom>
          <a:noFill/>
        </p:spPr>
        <p:txBody>
          <a:bodyPr wrap="square">
            <a:spAutoFit/>
          </a:bodyPr>
          <a:lstStyle/>
          <a:p>
            <a:pPr algn="l"/>
            <a:r>
              <a:rPr sz="1400" b="0" i="1">
                <a:solidFill>
                  <a:srgbClr val="FFFFFF"/>
                </a:solidFill>
                <a:latin typeface="Franklin Gothic Medium Cond"/>
              </a:rPr>
              <a:t>What reading level / language?</a:t>
            </a:r>
          </a:p>
        </p:txBody>
      </p:sp>
      <p:sp>
        <p:nvSpPr>
          <p:cNvPr id="34" name="TextBox 33"/>
          <p:cNvSpPr txBox="1"/>
          <p:nvPr/>
        </p:nvSpPr>
        <p:spPr>
          <a:xfrm>
            <a:off x="8311896" y="5422392"/>
            <a:ext cx="3547872" cy="822960"/>
          </a:xfrm>
          <a:prstGeom prst="rect">
            <a:avLst/>
          </a:prstGeom>
          <a:noFill/>
        </p:spPr>
        <p:txBody>
          <a:bodyPr wrap="square">
            <a:spAutoFit/>
          </a:bodyPr>
          <a:lstStyle/>
          <a:p>
            <a:pPr algn="l"/>
            <a:r>
              <a:rPr sz="1400" b="1" i="0">
                <a:solidFill>
                  <a:srgbClr val="FDB913"/>
                </a:solidFill>
                <a:latin typeface="Franklin Gothic Medium Cond"/>
              </a:rPr>
              <a:t>Use B2 English / avoid jargon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875520" cy="749808"/>
          </a:xfrm>
          <a:prstGeom prst="rect">
            <a:avLst/>
          </a:prstGeom>
          <a:noFill/>
        </p:spPr>
        <p:txBody>
          <a:bodyPr wrap="square">
            <a:spAutoFit/>
          </a:bodyPr>
          <a:lstStyle/>
          <a:p>
            <a:pPr algn="l"/>
            <a:r>
              <a:rPr sz="3200" b="1" i="0">
                <a:solidFill>
                  <a:srgbClr val="FFFFFF"/>
                </a:solidFill>
                <a:latin typeface="Franklin Gothic Medium Cond"/>
              </a:rPr>
              <a:t>✏️  Activity: Build Your Best Prompt — Live Challenge</a:t>
            </a:r>
          </a:p>
        </p:txBody>
      </p:sp>
      <p:sp>
        <p:nvSpPr>
          <p:cNvPr id="4" name="TextBox 3"/>
          <p:cNvSpPr txBox="1"/>
          <p:nvPr/>
        </p:nvSpPr>
        <p:spPr>
          <a:xfrm>
            <a:off x="9875520" y="137160"/>
            <a:ext cx="2103120" cy="594360"/>
          </a:xfrm>
          <a:prstGeom prst="rect">
            <a:avLst/>
          </a:prstGeom>
          <a:noFill/>
        </p:spPr>
        <p:txBody>
          <a:bodyPr wrap="square">
            <a:spAutoFit/>
          </a:bodyPr>
          <a:lstStyle/>
          <a:p>
            <a:pPr algn="r"/>
            <a:r>
              <a:rPr sz="2200" b="1" i="0">
                <a:solidFill>
                  <a:srgbClr val="FFFFFF"/>
                </a:solidFill>
                <a:latin typeface="Franklin Gothic Medium Cond"/>
              </a:rPr>
              <a:t>⏱  10 min</a:t>
            </a:r>
          </a:p>
        </p:txBody>
      </p:sp>
      <p:sp>
        <p:nvSpPr>
          <p:cNvPr id="5" name="Rectangle 4"/>
          <p:cNvSpPr/>
          <p:nvPr/>
        </p:nvSpPr>
        <p:spPr>
          <a:xfrm>
            <a:off x="365760" y="1463040"/>
            <a:ext cx="11457432" cy="507492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45920"/>
            <a:ext cx="10972800" cy="4709160"/>
          </a:xfrm>
          <a:prstGeom prst="rect">
            <a:avLst/>
          </a:prstGeom>
          <a:noFill/>
        </p:spPr>
        <p:txBody>
          <a:bodyPr wrap="square">
            <a:spAutoFit/>
          </a:bodyPr>
          <a:lstStyle/>
          <a:p>
            <a:pPr>
              <a:spcBef>
                <a:spcPts val="900"/>
              </a:spcBef>
            </a:pPr>
            <a:r>
              <a:rPr sz="2100">
                <a:solidFill>
                  <a:srgbClr val="00244E"/>
                </a:solidFill>
                <a:latin typeface="Franklin Gothic Medium Cond"/>
              </a:rPr>
              <a:t>Choose a real task you need help with this week.</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Write ONE prompt that includes ALL 6 elements:</a:t>
            </a:r>
          </a:p>
          <a:p>
            <a:pPr>
              <a:spcBef>
                <a:spcPts val="900"/>
              </a:spcBef>
            </a:pPr>
            <a:r>
              <a:rPr sz="2100" b="1">
                <a:solidFill>
                  <a:srgbClr val="00244E"/>
                </a:solidFill>
                <a:latin typeface="Franklin Gothic Medium Cond"/>
              </a:rPr>
              <a:t>→  Role  |  Context  |  Task  |  Constraints  |  Output Format  |  Language Level</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Example master prompt:</a:t>
            </a:r>
          </a:p>
          <a:p>
            <a:pPr>
              <a:spcBef>
                <a:spcPts val="900"/>
              </a:spcBef>
            </a:pPr>
            <a:r>
              <a:rPr sz="2100" b="1">
                <a:solidFill>
                  <a:srgbClr val="00244E"/>
                </a:solidFill>
                <a:latin typeface="Franklin Gothic Medium Cond"/>
              </a:rPr>
              <a:t>→  'Act as a career counsellor [ROLE]. I am an international student in my final year studying Computer Science [CONTEXT]. Help me write a cover letter for a software internship at Google [TASK]. Keep it under 300 words and avoid clichés [CONSTRAINTS]. Format it as a professional letter [FORMAT]. Use clear, confident B2 English [LANGUAGE].'</a:t>
            </a:r>
          </a:p>
          <a:p>
            <a:pPr>
              <a:spcBef>
                <a:spcPts val="900"/>
              </a:spcBef>
            </a:pPr>
            <a:r>
              <a:rPr sz="2100">
                <a:solidFill>
                  <a:srgbClr val="00244E"/>
                </a:solidFill>
                <a:latin typeface="Franklin Gothic Medium Cond"/>
              </a:rPr>
              <a:t/>
            </a:r>
          </a:p>
          <a:p>
            <a:pPr>
              <a:spcBef>
                <a:spcPts val="900"/>
              </a:spcBef>
            </a:pPr>
            <a:r>
              <a:rPr sz="2100">
                <a:solidFill>
                  <a:srgbClr val="00244E"/>
                </a:solidFill>
                <a:latin typeface="Franklin Gothic Medium Cond"/>
              </a:rPr>
              <a:t>Share your prompt — class votes on the most complete one!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latin typeface="Franklin Gothic Medium Cond"/>
              </a:rPr>
              <a:t>Reflection: Mindset Shift &amp; Next Steps</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F0F4FA"/>
                </a:solidFill>
                <a:latin typeface="Franklin Gothic Medium Cond"/>
              </a:rPr>
              <a:t>Take 3 minutes to think — then share one insight</a:t>
            </a:r>
          </a:p>
        </p:txBody>
      </p:sp>
      <p:sp>
        <p:nvSpPr>
          <p:cNvPr id="5" name="Rectangle 4"/>
          <p:cNvSpPr/>
          <p:nvPr/>
        </p:nvSpPr>
        <p:spPr>
          <a:xfrm>
            <a:off x="274320" y="1444752"/>
            <a:ext cx="11640312" cy="5138928"/>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36192"/>
            <a:ext cx="11457432" cy="932688"/>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627632"/>
            <a:ext cx="3474720" cy="475488"/>
          </a:xfrm>
          <a:prstGeom prst="rect">
            <a:avLst/>
          </a:prstGeom>
          <a:noFill/>
        </p:spPr>
        <p:txBody>
          <a:bodyPr wrap="square">
            <a:spAutoFit/>
          </a:bodyPr>
          <a:lstStyle/>
          <a:p>
            <a:pPr algn="l"/>
            <a:r>
              <a:rPr sz="1800" b="1" i="0">
                <a:solidFill>
                  <a:srgbClr val="FFFFFF"/>
                </a:solidFill>
                <a:latin typeface="Franklin Gothic Medium Cond"/>
              </a:rPr>
              <a:t>🔄  Mindset Shift</a:t>
            </a:r>
          </a:p>
        </p:txBody>
      </p:sp>
      <p:sp>
        <p:nvSpPr>
          <p:cNvPr id="8" name="TextBox 7"/>
          <p:cNvSpPr txBox="1"/>
          <p:nvPr/>
        </p:nvSpPr>
        <p:spPr>
          <a:xfrm>
            <a:off x="4206240" y="1645919"/>
            <a:ext cx="7406640" cy="713232"/>
          </a:xfrm>
          <a:prstGeom prst="rect">
            <a:avLst/>
          </a:prstGeom>
          <a:noFill/>
        </p:spPr>
        <p:txBody>
          <a:bodyPr wrap="square">
            <a:spAutoFit/>
          </a:bodyPr>
          <a:lstStyle/>
          <a:p>
            <a:r>
              <a:rPr sz="1700">
                <a:solidFill>
                  <a:srgbClr val="FFFFFF"/>
                </a:solidFill>
                <a:latin typeface="Franklin Gothic Medium Cond"/>
              </a:rPr>
              <a:t>At the start of today, how did you think about AI? How has that changed?</a:t>
            </a:r>
          </a:p>
        </p:txBody>
      </p:sp>
      <p:sp>
        <p:nvSpPr>
          <p:cNvPr id="9" name="Rectangle 8"/>
          <p:cNvSpPr/>
          <p:nvPr/>
        </p:nvSpPr>
        <p:spPr>
          <a:xfrm>
            <a:off x="365760" y="2523744"/>
            <a:ext cx="11457432" cy="932688"/>
          </a:xfrm>
          <a:prstGeom prst="rect">
            <a:avLst/>
          </a:prstGeom>
          <a:solidFill>
            <a:srgbClr val="009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615184"/>
            <a:ext cx="3474720" cy="475488"/>
          </a:xfrm>
          <a:prstGeom prst="rect">
            <a:avLst/>
          </a:prstGeom>
          <a:noFill/>
        </p:spPr>
        <p:txBody>
          <a:bodyPr wrap="square">
            <a:spAutoFit/>
          </a:bodyPr>
          <a:lstStyle/>
          <a:p>
            <a:pPr algn="l"/>
            <a:r>
              <a:rPr sz="1800" b="1" i="0">
                <a:solidFill>
                  <a:srgbClr val="FFFFFF"/>
                </a:solidFill>
                <a:latin typeface="Franklin Gothic Medium Cond"/>
              </a:rPr>
              <a:t>💡  Biggest Insight</a:t>
            </a:r>
          </a:p>
        </p:txBody>
      </p:sp>
      <p:sp>
        <p:nvSpPr>
          <p:cNvPr id="11" name="TextBox 10"/>
          <p:cNvSpPr txBox="1"/>
          <p:nvPr/>
        </p:nvSpPr>
        <p:spPr>
          <a:xfrm>
            <a:off x="4206240" y="2633472"/>
            <a:ext cx="7406640" cy="713232"/>
          </a:xfrm>
          <a:prstGeom prst="rect">
            <a:avLst/>
          </a:prstGeom>
          <a:noFill/>
        </p:spPr>
        <p:txBody>
          <a:bodyPr wrap="square">
            <a:spAutoFit/>
          </a:bodyPr>
          <a:lstStyle/>
          <a:p>
            <a:r>
              <a:rPr sz="1700">
                <a:solidFill>
                  <a:srgbClr val="FFFFFF"/>
                </a:solidFill>
                <a:latin typeface="Franklin Gothic Medium Cond"/>
              </a:rPr>
              <a:t>What is the single most useful thing you learned in this workshop?</a:t>
            </a:r>
          </a:p>
        </p:txBody>
      </p:sp>
      <p:sp>
        <p:nvSpPr>
          <p:cNvPr id="12" name="Rectangle 11"/>
          <p:cNvSpPr/>
          <p:nvPr/>
        </p:nvSpPr>
        <p:spPr>
          <a:xfrm>
            <a:off x="365760" y="3511296"/>
            <a:ext cx="11457432" cy="932688"/>
          </a:xfrm>
          <a:prstGeom prst="rect">
            <a:avLst/>
          </a:prstGeom>
          <a:solidFill>
            <a:srgbClr val="0A33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602736"/>
            <a:ext cx="3474720" cy="475488"/>
          </a:xfrm>
          <a:prstGeom prst="rect">
            <a:avLst/>
          </a:prstGeom>
          <a:noFill/>
        </p:spPr>
        <p:txBody>
          <a:bodyPr wrap="square">
            <a:spAutoFit/>
          </a:bodyPr>
          <a:lstStyle/>
          <a:p>
            <a:pPr algn="l"/>
            <a:r>
              <a:rPr sz="1800" b="1" i="0">
                <a:solidFill>
                  <a:srgbClr val="FFFFFF"/>
                </a:solidFill>
                <a:latin typeface="Franklin Gothic Medium Cond"/>
              </a:rPr>
              <a:t>✏️  First Prompt</a:t>
            </a:r>
          </a:p>
        </p:txBody>
      </p:sp>
      <p:sp>
        <p:nvSpPr>
          <p:cNvPr id="14" name="TextBox 13"/>
          <p:cNvSpPr txBox="1"/>
          <p:nvPr/>
        </p:nvSpPr>
        <p:spPr>
          <a:xfrm>
            <a:off x="4206240" y="3621024"/>
            <a:ext cx="7406640" cy="713232"/>
          </a:xfrm>
          <a:prstGeom prst="rect">
            <a:avLst/>
          </a:prstGeom>
          <a:noFill/>
        </p:spPr>
        <p:txBody>
          <a:bodyPr wrap="square">
            <a:spAutoFit/>
          </a:bodyPr>
          <a:lstStyle/>
          <a:p>
            <a:r>
              <a:rPr sz="1700">
                <a:solidFill>
                  <a:srgbClr val="FFFFFF"/>
                </a:solidFill>
                <a:latin typeface="Franklin Gothic Medium Cond"/>
              </a:rPr>
              <a:t>What is the first real prompt you will try using today's strategies?</a:t>
            </a:r>
          </a:p>
        </p:txBody>
      </p:sp>
      <p:sp>
        <p:nvSpPr>
          <p:cNvPr id="15" name="Rectangle 14"/>
          <p:cNvSpPr/>
          <p:nvPr/>
        </p:nvSpPr>
        <p:spPr>
          <a:xfrm>
            <a:off x="365760" y="4498848"/>
            <a:ext cx="11457432" cy="932688"/>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4590288"/>
            <a:ext cx="3474720" cy="475488"/>
          </a:xfrm>
          <a:prstGeom prst="rect">
            <a:avLst/>
          </a:prstGeom>
          <a:noFill/>
        </p:spPr>
        <p:txBody>
          <a:bodyPr wrap="square">
            <a:spAutoFit/>
          </a:bodyPr>
          <a:lstStyle/>
          <a:p>
            <a:pPr algn="l"/>
            <a:r>
              <a:rPr sz="1800" b="1" i="0">
                <a:solidFill>
                  <a:srgbClr val="FFFFFF"/>
                </a:solidFill>
                <a:latin typeface="Franklin Gothic Medium Cond"/>
              </a:rPr>
              <a:t>⚠️  Responsible Use</a:t>
            </a:r>
          </a:p>
        </p:txBody>
      </p:sp>
      <p:sp>
        <p:nvSpPr>
          <p:cNvPr id="17" name="TextBox 16"/>
          <p:cNvSpPr txBox="1"/>
          <p:nvPr/>
        </p:nvSpPr>
        <p:spPr>
          <a:xfrm>
            <a:off x="4206240" y="4608576"/>
            <a:ext cx="7406640" cy="713232"/>
          </a:xfrm>
          <a:prstGeom prst="rect">
            <a:avLst/>
          </a:prstGeom>
          <a:noFill/>
        </p:spPr>
        <p:txBody>
          <a:bodyPr wrap="square">
            <a:spAutoFit/>
          </a:bodyPr>
          <a:lstStyle/>
          <a:p>
            <a:r>
              <a:rPr sz="1700">
                <a:solidFill>
                  <a:srgbClr val="FFFFFF"/>
                </a:solidFill>
                <a:latin typeface="Franklin Gothic Medium Cond"/>
              </a:rPr>
              <a:t>What is one way you will use AI MORE responsibly going forward?</a:t>
            </a:r>
          </a:p>
        </p:txBody>
      </p:sp>
      <p:sp>
        <p:nvSpPr>
          <p:cNvPr id="18" name="Rectangle 17"/>
          <p:cNvSpPr/>
          <p:nvPr/>
        </p:nvSpPr>
        <p:spPr>
          <a:xfrm>
            <a:off x="365760" y="5486400"/>
            <a:ext cx="11457432" cy="932688"/>
          </a:xfrm>
          <a:prstGeom prst="rect">
            <a:avLst/>
          </a:prstGeom>
          <a:solidFill>
            <a:srgbClr val="E28E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5577840"/>
            <a:ext cx="3474720" cy="475488"/>
          </a:xfrm>
          <a:prstGeom prst="rect">
            <a:avLst/>
          </a:prstGeom>
          <a:noFill/>
        </p:spPr>
        <p:txBody>
          <a:bodyPr wrap="square">
            <a:spAutoFit/>
          </a:bodyPr>
          <a:lstStyle/>
          <a:p>
            <a:pPr algn="l"/>
            <a:r>
              <a:rPr sz="1800" b="1" i="0">
                <a:solidFill>
                  <a:srgbClr val="FFFFFF"/>
                </a:solidFill>
                <a:latin typeface="Franklin Gothic Medium Cond"/>
              </a:rPr>
              <a:t>🚀  Next Step</a:t>
            </a:r>
          </a:p>
        </p:txBody>
      </p:sp>
      <p:sp>
        <p:nvSpPr>
          <p:cNvPr id="20" name="TextBox 19"/>
          <p:cNvSpPr txBox="1"/>
          <p:nvPr/>
        </p:nvSpPr>
        <p:spPr>
          <a:xfrm>
            <a:off x="4206240" y="5596128"/>
            <a:ext cx="7406640" cy="713232"/>
          </a:xfrm>
          <a:prstGeom prst="rect">
            <a:avLst/>
          </a:prstGeom>
          <a:noFill/>
        </p:spPr>
        <p:txBody>
          <a:bodyPr wrap="square">
            <a:spAutoFit/>
          </a:bodyPr>
          <a:lstStyle/>
          <a:p>
            <a:r>
              <a:rPr sz="1700">
                <a:solidFill>
                  <a:srgbClr val="FFFFFF"/>
                </a:solidFill>
                <a:latin typeface="Franklin Gothic Medium Cond"/>
              </a:rPr>
              <a:t>What skill do you want to develop further — prompting, evaluation, or something else?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3370"/>
        </a:solidFill>
        <a:effectLst/>
      </p:bgPr>
    </p:bg>
    <p:spTree>
      <p:nvGrpSpPr>
        <p:cNvPr id="1" name=""/>
        <p:cNvGrpSpPr/>
        <p:nvPr/>
      </p:nvGrpSpPr>
      <p:grpSpPr/>
      <p:sp>
        <p:nvSpPr>
          <p:cNvPr id="2" name="TextBox 1"/>
          <p:cNvSpPr txBox="1"/>
          <p:nvPr/>
        </p:nvSpPr>
        <p:spPr>
          <a:xfrm>
            <a:off x="7772400" y="457200"/>
            <a:ext cx="4114800" cy="5943600"/>
          </a:xfrm>
          <a:prstGeom prst="rect">
            <a:avLst/>
          </a:prstGeom>
          <a:noFill/>
        </p:spPr>
        <p:txBody>
          <a:bodyPr wrap="square">
            <a:spAutoFit/>
          </a:bodyPr>
          <a:lstStyle/>
          <a:p>
            <a:pPr algn="l"/>
            <a:r>
              <a:rPr sz="28000" b="1" i="0">
                <a:solidFill>
                  <a:srgbClr val="FFFFFF"/>
                </a:solidFill>
                <a:latin typeface="Franklin Gothic Medium Cond"/>
              </a:rPr>
              <a:t>7</a:t>
            </a:r>
          </a:p>
        </p:txBody>
      </p:sp>
      <p:sp>
        <p:nvSpPr>
          <p:cNvPr id="3" name="Rectangle 2"/>
          <p:cNvSpPr/>
          <p:nvPr/>
        </p:nvSpPr>
        <p:spPr>
          <a:xfrm>
            <a:off x="0" y="0"/>
            <a:ext cx="502920" cy="6858000"/>
          </a:xfrm>
          <a:prstGeom prst="rect">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20240"/>
            <a:ext cx="9144000" cy="502920"/>
          </a:xfrm>
          <a:prstGeom prst="rect">
            <a:avLst/>
          </a:prstGeom>
          <a:noFill/>
        </p:spPr>
        <p:txBody>
          <a:bodyPr wrap="square">
            <a:spAutoFit/>
          </a:bodyPr>
          <a:lstStyle/>
          <a:p>
            <a:pPr algn="l"/>
            <a:r>
              <a:rPr sz="1800" b="1" i="1">
                <a:solidFill>
                  <a:srgbClr val="FDB913"/>
                </a:solidFill>
                <a:latin typeface="Franklin Gothic Medium Cond"/>
              </a:rPr>
              <a:t>SECTION 7</a:t>
            </a:r>
          </a:p>
        </p:txBody>
      </p:sp>
      <p:sp>
        <p:nvSpPr>
          <p:cNvPr id="5" name="TextBox 4"/>
          <p:cNvSpPr txBox="1"/>
          <p:nvPr/>
        </p:nvSpPr>
        <p:spPr>
          <a:xfrm>
            <a:off x="777240" y="2514600"/>
            <a:ext cx="9601200" cy="1371600"/>
          </a:xfrm>
          <a:prstGeom prst="rect">
            <a:avLst/>
          </a:prstGeom>
          <a:noFill/>
        </p:spPr>
        <p:txBody>
          <a:bodyPr wrap="square">
            <a:spAutoFit/>
          </a:bodyPr>
          <a:lstStyle/>
          <a:p>
            <a:pPr algn="l"/>
            <a:r>
              <a:rPr sz="4600" b="1" i="0">
                <a:solidFill>
                  <a:srgbClr val="FFFFFF"/>
                </a:solidFill>
                <a:latin typeface="Franklin Gothic Medium Cond"/>
              </a:rPr>
              <a:t>Closing &amp; Resources</a:t>
            </a:r>
          </a:p>
        </p:txBody>
      </p:sp>
      <p:sp>
        <p:nvSpPr>
          <p:cNvPr id="6" name="TextBox 5"/>
          <p:cNvSpPr txBox="1"/>
          <p:nvPr/>
        </p:nvSpPr>
        <p:spPr>
          <a:xfrm>
            <a:off x="777240" y="4023360"/>
            <a:ext cx="9601200" cy="777240"/>
          </a:xfrm>
          <a:prstGeom prst="rect">
            <a:avLst/>
          </a:prstGeom>
          <a:noFill/>
        </p:spPr>
        <p:txBody>
          <a:bodyPr wrap="square">
            <a:spAutoFit/>
          </a:bodyPr>
          <a:lstStyle/>
          <a:p>
            <a:pPr algn="l"/>
            <a:r>
              <a:rPr sz="2200" b="0" i="1">
                <a:solidFill>
                  <a:srgbClr val="F0F4FA"/>
                </a:solidFill>
                <a:latin typeface="Franklin Gothic Medium Cond"/>
              </a:rPr>
              <a:t>Thank you — now go collaborate!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244E"/>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0"/>
            <a:ext cx="12188952" cy="6858000"/>
          </a:xfrm>
          <a:prstGeom prst="rect">
            <a:avLst/>
          </a:prstGeom>
          <a:solidFill>
            <a:srgbClr val="002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10515600" cy="960120"/>
          </a:xfrm>
          <a:prstGeom prst="rect">
            <a:avLst/>
          </a:prstGeom>
          <a:noFill/>
        </p:spPr>
        <p:txBody>
          <a:bodyPr wrap="square">
            <a:spAutoFit/>
          </a:bodyPr>
          <a:lstStyle/>
          <a:p>
            <a:pPr algn="l"/>
            <a:r>
              <a:rPr sz="5200" b="1" i="0">
                <a:solidFill>
                  <a:srgbClr val="FDB913"/>
                </a:solidFill>
                <a:latin typeface="Franklin Gothic Medium Cond"/>
              </a:rPr>
              <a:t>Thank You!</a:t>
            </a:r>
          </a:p>
        </p:txBody>
      </p:sp>
      <p:sp>
        <p:nvSpPr>
          <p:cNvPr id="5" name="TextBox 4"/>
          <p:cNvSpPr txBox="1"/>
          <p:nvPr/>
        </p:nvSpPr>
        <p:spPr>
          <a:xfrm>
            <a:off x="914400" y="1463040"/>
            <a:ext cx="10515600" cy="658368"/>
          </a:xfrm>
          <a:prstGeom prst="rect">
            <a:avLst/>
          </a:prstGeom>
          <a:noFill/>
        </p:spPr>
        <p:txBody>
          <a:bodyPr wrap="square">
            <a:spAutoFit/>
          </a:bodyPr>
          <a:lstStyle/>
          <a:p>
            <a:pPr algn="l"/>
            <a:r>
              <a:rPr sz="2600" b="0" i="1">
                <a:solidFill>
                  <a:srgbClr val="FFFFFF"/>
                </a:solidFill>
                <a:latin typeface="Franklin Gothic Medium Cond"/>
              </a:rPr>
              <a:t>You are now an AI collaborator — not just an AI user.</a:t>
            </a:r>
          </a:p>
        </p:txBody>
      </p:sp>
      <p:sp>
        <p:nvSpPr>
          <p:cNvPr id="6" name="Rectangle 5"/>
          <p:cNvSpPr/>
          <p:nvPr/>
        </p:nvSpPr>
        <p:spPr>
          <a:xfrm>
            <a:off x="822960" y="2286000"/>
            <a:ext cx="10543032" cy="4251960"/>
          </a:xfrm>
          <a:prstGeom prst="rect">
            <a:avLst/>
          </a:prstGeom>
          <a:solidFill>
            <a:srgbClr val="5A2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77440"/>
            <a:ext cx="10058400" cy="594360"/>
          </a:xfrm>
          <a:prstGeom prst="rect">
            <a:avLst/>
          </a:prstGeom>
          <a:noFill/>
        </p:spPr>
        <p:txBody>
          <a:bodyPr wrap="square">
            <a:spAutoFit/>
          </a:bodyPr>
          <a:lstStyle/>
          <a:p>
            <a:pPr algn="l"/>
            <a:r>
              <a:rPr sz="2200" b="1" i="0">
                <a:solidFill>
                  <a:srgbClr val="FDB913"/>
                </a:solidFill>
                <a:latin typeface="Franklin Gothic Medium Cond"/>
              </a:rPr>
              <a:t>Resources &amp; Prompt Templates</a:t>
            </a:r>
          </a:p>
        </p:txBody>
      </p:sp>
      <p:sp>
        <p:nvSpPr>
          <p:cNvPr id="8" name="TextBox 7"/>
          <p:cNvSpPr txBox="1"/>
          <p:nvPr/>
        </p:nvSpPr>
        <p:spPr>
          <a:xfrm>
            <a:off x="1005840" y="3017520"/>
            <a:ext cx="10149840" cy="3337560"/>
          </a:xfrm>
          <a:prstGeom prst="rect">
            <a:avLst/>
          </a:prstGeom>
          <a:noFill/>
        </p:spPr>
        <p:txBody>
          <a:bodyPr wrap="square">
            <a:spAutoFit/>
          </a:bodyPr>
          <a:lstStyle/>
          <a:p>
            <a:pPr>
              <a:spcBef>
                <a:spcPts val="500"/>
              </a:spcBef>
            </a:pPr>
            <a:r>
              <a:rPr sz="1600">
                <a:solidFill>
                  <a:srgbClr val="F0F4FA"/>
                </a:solidFill>
                <a:latin typeface="Franklin Gothic Medium Cond"/>
              </a:rPr>
              <a:t>🔗  ChatGPT: chat.openai.com         🔗  Claude: claude.ai</a:t>
            </a:r>
          </a:p>
          <a:p>
            <a:pPr>
              <a:spcBef>
                <a:spcPts val="500"/>
              </a:spcBef>
            </a:pPr>
            <a:r>
              <a:rPr sz="1600">
                <a:solidFill>
                  <a:srgbClr val="F0F4FA"/>
                </a:solidFill>
                <a:latin typeface="Franklin Gothic Medium Cond"/>
              </a:rPr>
              <a:t>🔗  Gemini:  gemini.google.com        🔗  Copilot: copilot.microsoft.com</a:t>
            </a:r>
          </a:p>
          <a:p>
            <a:pPr>
              <a:spcBef>
                <a:spcPts val="500"/>
              </a:spcBef>
            </a:pPr>
            <a:r>
              <a:rPr sz="1600">
                <a:solidFill>
                  <a:srgbClr val="F0F4FA"/>
                </a:solidFill>
                <a:latin typeface="Franklin Gothic Medium Cond"/>
              </a:rPr>
              <a:t/>
            </a:r>
          </a:p>
          <a:p>
            <a:pPr>
              <a:spcBef>
                <a:spcPts val="500"/>
              </a:spcBef>
            </a:pPr>
            <a:r>
              <a:rPr sz="1600" b="1">
                <a:solidFill>
                  <a:srgbClr val="FDB913"/>
                </a:solidFill>
                <a:latin typeface="Franklin Gothic Medium Cond"/>
              </a:rPr>
              <a:t>📋  Master Prompt Template:</a:t>
            </a:r>
          </a:p>
          <a:p>
            <a:pPr>
              <a:spcBef>
                <a:spcPts val="500"/>
              </a:spcBef>
            </a:pPr>
            <a:r>
              <a:rPr sz="1600" i="1">
                <a:solidFill>
                  <a:srgbClr val="F0F4FA"/>
                </a:solidFill>
                <a:latin typeface="Franklin Gothic Medium Cond"/>
              </a:rPr>
              <a:t>     'Act as [ROLE]. I am [CONTEXT]. Help me [TASK]. Keep [CONSTRAINTS]. Format as [FORMAT]. Use [LANGUAGE].'</a:t>
            </a:r>
          </a:p>
          <a:p>
            <a:pPr>
              <a:spcBef>
                <a:spcPts val="500"/>
              </a:spcBef>
            </a:pPr>
            <a:r>
              <a:rPr sz="1600">
                <a:solidFill>
                  <a:srgbClr val="F0F4FA"/>
                </a:solidFill>
                <a:latin typeface="Franklin Gothic Medium Cond"/>
              </a:rPr>
              <a:t/>
            </a:r>
          </a:p>
          <a:p>
            <a:pPr>
              <a:spcBef>
                <a:spcPts val="500"/>
              </a:spcBef>
            </a:pPr>
            <a:r>
              <a:rPr sz="1600" b="1">
                <a:solidFill>
                  <a:srgbClr val="FDB913"/>
                </a:solidFill>
                <a:latin typeface="Franklin Gothic Medium Cond"/>
              </a:rPr>
              <a:t>📚  Further Learning:  learnprompting.org  ·  elementsofai.com  ·  promptingguide.ai</a:t>
            </a:r>
          </a:p>
          <a:p>
            <a:pPr>
              <a:spcBef>
                <a:spcPts val="500"/>
              </a:spcBef>
            </a:pPr>
            <a:r>
              <a:rPr sz="1600">
                <a:solidFill>
                  <a:srgbClr val="F0F4FA"/>
                </a:solidFill>
                <a:latin typeface="Franklin Gothic Medium Cond"/>
              </a:rPr>
              <a:t/>
            </a:r>
          </a:p>
          <a:p>
            <a:pPr>
              <a:spcBef>
                <a:spcPts val="500"/>
              </a:spcBef>
            </a:pPr>
            <a:r>
              <a:rPr sz="1600">
                <a:solidFill>
                  <a:srgbClr val="F0F4FA"/>
                </a:solidFill>
                <a:latin typeface="Franklin Gothic Medium Cond"/>
              </a:rPr>
              <a:t>📧  Workshop Support:  [facilitator@institution.edu]</a:t>
            </a:r>
          </a:p>
          <a:p>
            <a:pPr>
              <a:spcBef>
                <a:spcPts val="500"/>
              </a:spcBef>
            </a:pPr>
            <a:r>
              <a:rPr sz="1600">
                <a:solidFill>
                  <a:srgbClr val="F0F4FA"/>
                </a:solidFill>
                <a:latin typeface="Franklin Gothic Medium Cond"/>
              </a:rPr>
              <a:t>📞  Student Services:  [Your institution's student support contact]</a:t>
            </a:r>
          </a:p>
        </p:txBody>
      </p:sp>
      <p:sp>
        <p:nvSpPr>
          <p:cNvPr id="9" name="TextBox 8"/>
          <p:cNvSpPr txBox="1"/>
          <p:nvPr/>
        </p:nvSpPr>
        <p:spPr>
          <a:xfrm>
            <a:off x="822960" y="6473952"/>
            <a:ext cx="10543032" cy="365760"/>
          </a:xfrm>
          <a:prstGeom prst="rect">
            <a:avLst/>
          </a:prstGeom>
          <a:noFill/>
        </p:spPr>
        <p:txBody>
          <a:bodyPr wrap="square">
            <a:spAutoFit/>
          </a:bodyPr>
          <a:lstStyle/>
          <a:p>
            <a:pPr algn="ctr"/>
            <a:r>
              <a:rPr sz="1500" b="0" i="1">
                <a:solidFill>
                  <a:srgbClr val="FDB913"/>
                </a:solidFill>
                <a:latin typeface="Franklin Gothic Medium Cond"/>
              </a:rPr>
              <a:t>Remember: The best prompt is the one that helps you think more clearly.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