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C35D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80160"/>
            <a:ext cx="10972800" cy="731520"/>
          </a:xfrm>
          <a:prstGeom prst="rect">
            <a:avLst/>
          </a:prstGeom>
          <a:noFill/>
        </p:spPr>
        <p:txBody>
          <a:bodyPr wrap="square">
            <a:spAutoFit/>
          </a:bodyPr>
          <a:lstStyle/>
          <a:p>
            <a:pPr algn="l"/>
            <a:r>
              <a:rPr sz="2200" b="1" i="1">
                <a:solidFill>
                  <a:srgbClr val="FFD600"/>
                </a:solidFill>
              </a:rPr>
              <a:t>INTERMEDIATE</a:t>
            </a:r>
          </a:p>
        </p:txBody>
      </p:sp>
      <p:sp>
        <p:nvSpPr>
          <p:cNvPr id="4" name="TextBox 3"/>
          <p:cNvSpPr txBox="1"/>
          <p:nvPr/>
        </p:nvSpPr>
        <p:spPr>
          <a:xfrm>
            <a:off x="777240" y="1920240"/>
            <a:ext cx="10972800" cy="1188720"/>
          </a:xfrm>
          <a:prstGeom prst="rect">
            <a:avLst/>
          </a:prstGeom>
          <a:noFill/>
        </p:spPr>
        <p:txBody>
          <a:bodyPr wrap="square">
            <a:spAutoFit/>
          </a:bodyPr>
          <a:lstStyle/>
          <a:p>
            <a:pPr algn="l"/>
            <a:r>
              <a:rPr sz="5600" b="1" i="0">
                <a:solidFill>
                  <a:srgbClr val="FFFFFF"/>
                </a:solidFill>
              </a:rPr>
              <a:t>AI Prompting</a:t>
            </a:r>
          </a:p>
        </p:txBody>
      </p:sp>
      <p:sp>
        <p:nvSpPr>
          <p:cNvPr id="5" name="TextBox 4"/>
          <p:cNvSpPr txBox="1"/>
          <p:nvPr/>
        </p:nvSpPr>
        <p:spPr>
          <a:xfrm>
            <a:off x="777240" y="2926080"/>
            <a:ext cx="10972800" cy="731520"/>
          </a:xfrm>
          <a:prstGeom prst="rect">
            <a:avLst/>
          </a:prstGeom>
          <a:noFill/>
        </p:spPr>
        <p:txBody>
          <a:bodyPr wrap="square">
            <a:spAutoFit/>
          </a:bodyPr>
          <a:lstStyle/>
          <a:p>
            <a:pPr algn="l"/>
            <a:r>
              <a:rPr sz="3800" b="0" i="0">
                <a:solidFill>
                  <a:srgbClr val="E8ECF8"/>
                </a:solidFill>
              </a:rPr>
              <a:t>Frameworks &amp; Techniques</a:t>
            </a:r>
          </a:p>
        </p:txBody>
      </p:sp>
      <p:sp>
        <p:nvSpPr>
          <p:cNvPr id="6" name="Rectangle 5"/>
          <p:cNvSpPr/>
          <p:nvPr/>
        </p:nvSpPr>
        <p:spPr>
          <a:xfrm>
            <a:off x="777240" y="3840480"/>
            <a:ext cx="4114800" cy="54864"/>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206240"/>
            <a:ext cx="10972800" cy="640080"/>
          </a:xfrm>
          <a:prstGeom prst="rect">
            <a:avLst/>
          </a:prstGeom>
          <a:noFill/>
        </p:spPr>
        <p:txBody>
          <a:bodyPr wrap="square">
            <a:spAutoFit/>
          </a:bodyPr>
          <a:lstStyle/>
          <a:p>
            <a:pPr algn="l"/>
            <a:r>
              <a:rPr sz="2200" b="0" i="1">
                <a:solidFill>
                  <a:srgbClr val="E8ECF8"/>
                </a:solidFill>
              </a:rPr>
              <a:t>From Good Prompts to Great Results</a:t>
            </a:r>
          </a:p>
        </p:txBody>
      </p:sp>
      <p:sp>
        <p:nvSpPr>
          <p:cNvPr id="8" name="TextBox 7"/>
          <p:cNvSpPr txBox="1"/>
          <p:nvPr/>
        </p:nvSpPr>
        <p:spPr>
          <a:xfrm>
            <a:off x="777240" y="4937760"/>
            <a:ext cx="9144000" cy="914400"/>
          </a:xfrm>
          <a:prstGeom prst="rect">
            <a:avLst/>
          </a:prstGeom>
          <a:noFill/>
        </p:spPr>
        <p:txBody>
          <a:bodyPr wrap="square">
            <a:spAutoFit/>
          </a:bodyPr>
          <a:lstStyle/>
          <a:p>
            <a:pPr algn="l"/>
            <a:r>
              <a:rPr sz="1800" b="0" i="0">
                <a:solidFill>
                  <a:srgbClr val="E8ECF8"/>
                </a:solidFill>
              </a:rPr>
              <a:t>Beyond the basics: structured frameworks, green prompting,
and critical thinking for reliable AI outputs.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Why Does Prompting Matter?</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Better prompts = better results, faster</a:t>
            </a:r>
          </a:p>
        </p:txBody>
      </p:sp>
      <p:sp>
        <p:nvSpPr>
          <p:cNvPr id="5" name="Rounded Rectangle 4"/>
          <p:cNvSpPr/>
          <p:nvPr/>
        </p:nvSpPr>
        <p:spPr>
          <a:xfrm>
            <a:off x="365760" y="1508760"/>
            <a:ext cx="5486400" cy="50292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120640" cy="457200"/>
          </a:xfrm>
          <a:prstGeom prst="rect">
            <a:avLst/>
          </a:prstGeom>
          <a:noFill/>
        </p:spPr>
        <p:txBody>
          <a:bodyPr wrap="square">
            <a:spAutoFit/>
          </a:bodyPr>
          <a:lstStyle/>
          <a:p>
            <a:pPr algn="l"/>
            <a:r>
              <a:rPr sz="2200" b="1" i="0">
                <a:solidFill>
                  <a:srgbClr val="6C35DE"/>
                </a:solidFill>
              </a:rPr>
              <a:t>Better Prompts Help You...</a:t>
            </a:r>
          </a:p>
        </p:txBody>
      </p:sp>
      <p:sp>
        <p:nvSpPr>
          <p:cNvPr id="7" name="TextBox 6"/>
          <p:cNvSpPr txBox="1"/>
          <p:nvPr/>
        </p:nvSpPr>
        <p:spPr>
          <a:xfrm>
            <a:off x="548640" y="2148840"/>
            <a:ext cx="5120640" cy="320040"/>
          </a:xfrm>
          <a:prstGeom prst="rect">
            <a:avLst/>
          </a:prstGeom>
          <a:noFill/>
        </p:spPr>
        <p:txBody>
          <a:bodyPr wrap="square">
            <a:spAutoFit/>
          </a:bodyPr>
          <a:lstStyle/>
          <a:p>
            <a:pPr algn="l"/>
            <a:r>
              <a:rPr sz="1800" b="1" i="0">
                <a:solidFill>
                  <a:srgbClr val="1A1A2E"/>
                </a:solidFill>
              </a:rPr>
              <a:t>  Get better results, faster</a:t>
            </a:r>
          </a:p>
        </p:txBody>
      </p:sp>
      <p:sp>
        <p:nvSpPr>
          <p:cNvPr id="8" name="TextBox 7"/>
          <p:cNvSpPr txBox="1"/>
          <p:nvPr/>
        </p:nvSpPr>
        <p:spPr>
          <a:xfrm>
            <a:off x="548640" y="2441448"/>
            <a:ext cx="5120640" cy="320040"/>
          </a:xfrm>
          <a:prstGeom prst="rect">
            <a:avLst/>
          </a:prstGeom>
          <a:noFill/>
        </p:spPr>
        <p:txBody>
          <a:bodyPr wrap="square">
            <a:spAutoFit/>
          </a:bodyPr>
          <a:lstStyle/>
          <a:p>
            <a:pPr algn="l"/>
            <a:r>
              <a:rPr sz="1400" b="0" i="0">
                <a:solidFill>
                  <a:srgbClr val="444466"/>
                </a:solidFill>
              </a:rPr>
              <a:t>     Reduce back-and-forth by being specific upfront</a:t>
            </a:r>
          </a:p>
        </p:txBody>
      </p:sp>
      <p:sp>
        <p:nvSpPr>
          <p:cNvPr id="9" name="TextBox 8"/>
          <p:cNvSpPr txBox="1"/>
          <p:nvPr/>
        </p:nvSpPr>
        <p:spPr>
          <a:xfrm>
            <a:off x="548640" y="2898648"/>
            <a:ext cx="5120640" cy="320040"/>
          </a:xfrm>
          <a:prstGeom prst="rect">
            <a:avLst/>
          </a:prstGeom>
          <a:noFill/>
        </p:spPr>
        <p:txBody>
          <a:bodyPr wrap="square">
            <a:spAutoFit/>
          </a:bodyPr>
          <a:lstStyle/>
          <a:p>
            <a:pPr algn="l"/>
            <a:r>
              <a:rPr sz="1800" b="1" i="0">
                <a:solidFill>
                  <a:srgbClr val="1A1A2E"/>
                </a:solidFill>
              </a:rPr>
              <a:t>  Reduce ambiguity</a:t>
            </a:r>
          </a:p>
        </p:txBody>
      </p:sp>
      <p:sp>
        <p:nvSpPr>
          <p:cNvPr id="10" name="TextBox 9"/>
          <p:cNvSpPr txBox="1"/>
          <p:nvPr/>
        </p:nvSpPr>
        <p:spPr>
          <a:xfrm>
            <a:off x="548640" y="3191256"/>
            <a:ext cx="5120640" cy="320040"/>
          </a:xfrm>
          <a:prstGeom prst="rect">
            <a:avLst/>
          </a:prstGeom>
          <a:noFill/>
        </p:spPr>
        <p:txBody>
          <a:bodyPr wrap="square">
            <a:spAutoFit/>
          </a:bodyPr>
          <a:lstStyle/>
          <a:p>
            <a:pPr algn="l"/>
            <a:r>
              <a:rPr sz="1400" b="0" i="0">
                <a:solidFill>
                  <a:srgbClr val="444466"/>
                </a:solidFill>
              </a:rPr>
              <a:t>     Clear instructions leave less room for misinterpretation</a:t>
            </a:r>
          </a:p>
        </p:txBody>
      </p:sp>
      <p:sp>
        <p:nvSpPr>
          <p:cNvPr id="11" name="TextBox 10"/>
          <p:cNvSpPr txBox="1"/>
          <p:nvPr/>
        </p:nvSpPr>
        <p:spPr>
          <a:xfrm>
            <a:off x="548640" y="3648456"/>
            <a:ext cx="5120640" cy="320040"/>
          </a:xfrm>
          <a:prstGeom prst="rect">
            <a:avLst/>
          </a:prstGeom>
          <a:noFill/>
        </p:spPr>
        <p:txBody>
          <a:bodyPr wrap="square">
            <a:spAutoFit/>
          </a:bodyPr>
          <a:lstStyle/>
          <a:p>
            <a:pPr algn="l"/>
            <a:r>
              <a:rPr sz="1800" b="1" i="0">
                <a:solidFill>
                  <a:srgbClr val="1A1A2E"/>
                </a:solidFill>
              </a:rPr>
              <a:t>  Guide LLM reasoning paths</a:t>
            </a:r>
          </a:p>
        </p:txBody>
      </p:sp>
      <p:sp>
        <p:nvSpPr>
          <p:cNvPr id="12" name="TextBox 11"/>
          <p:cNvSpPr txBox="1"/>
          <p:nvPr/>
        </p:nvSpPr>
        <p:spPr>
          <a:xfrm>
            <a:off x="548640" y="3941063"/>
            <a:ext cx="5120640" cy="320040"/>
          </a:xfrm>
          <a:prstGeom prst="rect">
            <a:avLst/>
          </a:prstGeom>
          <a:noFill/>
        </p:spPr>
        <p:txBody>
          <a:bodyPr wrap="square">
            <a:spAutoFit/>
          </a:bodyPr>
          <a:lstStyle/>
          <a:p>
            <a:pPr algn="l"/>
            <a:r>
              <a:rPr sz="1400" b="0" i="0">
                <a:solidFill>
                  <a:srgbClr val="444466"/>
                </a:solidFill>
              </a:rPr>
              <a:t>     Structure steers the AI toward the logic you need</a:t>
            </a:r>
          </a:p>
        </p:txBody>
      </p:sp>
      <p:sp>
        <p:nvSpPr>
          <p:cNvPr id="13" name="TextBox 12"/>
          <p:cNvSpPr txBox="1"/>
          <p:nvPr/>
        </p:nvSpPr>
        <p:spPr>
          <a:xfrm>
            <a:off x="548640" y="4398264"/>
            <a:ext cx="5120640" cy="320040"/>
          </a:xfrm>
          <a:prstGeom prst="rect">
            <a:avLst/>
          </a:prstGeom>
          <a:noFill/>
        </p:spPr>
        <p:txBody>
          <a:bodyPr wrap="square">
            <a:spAutoFit/>
          </a:bodyPr>
          <a:lstStyle/>
          <a:p>
            <a:pPr algn="l"/>
            <a:r>
              <a:rPr sz="1800" b="1" i="0">
                <a:solidFill>
                  <a:srgbClr val="1A1A2E"/>
                </a:solidFill>
              </a:rPr>
              <a:t>  Mitigate harmful or biased outputs</a:t>
            </a:r>
          </a:p>
        </p:txBody>
      </p:sp>
      <p:sp>
        <p:nvSpPr>
          <p:cNvPr id="14" name="TextBox 13"/>
          <p:cNvSpPr txBox="1"/>
          <p:nvPr/>
        </p:nvSpPr>
        <p:spPr>
          <a:xfrm>
            <a:off x="548640" y="4690872"/>
            <a:ext cx="5120640" cy="320040"/>
          </a:xfrm>
          <a:prstGeom prst="rect">
            <a:avLst/>
          </a:prstGeom>
          <a:noFill/>
        </p:spPr>
        <p:txBody>
          <a:bodyPr wrap="square">
            <a:spAutoFit/>
          </a:bodyPr>
          <a:lstStyle/>
          <a:p>
            <a:pPr algn="l"/>
            <a:r>
              <a:rPr sz="1400" b="0" i="0">
                <a:solidFill>
                  <a:srgbClr val="444466"/>
                </a:solidFill>
              </a:rPr>
              <a:t>     Guardrails in your prompt shape safer responses</a:t>
            </a:r>
          </a:p>
        </p:txBody>
      </p:sp>
      <p:sp>
        <p:nvSpPr>
          <p:cNvPr id="15" name="TextBox 14"/>
          <p:cNvSpPr txBox="1"/>
          <p:nvPr/>
        </p:nvSpPr>
        <p:spPr>
          <a:xfrm>
            <a:off x="548640" y="5148072"/>
            <a:ext cx="5120640" cy="320040"/>
          </a:xfrm>
          <a:prstGeom prst="rect">
            <a:avLst/>
          </a:prstGeom>
          <a:noFill/>
        </p:spPr>
        <p:txBody>
          <a:bodyPr wrap="square">
            <a:spAutoFit/>
          </a:bodyPr>
          <a:lstStyle/>
          <a:p>
            <a:pPr algn="l"/>
            <a:r>
              <a:rPr sz="1800" b="1" i="0">
                <a:solidFill>
                  <a:srgbClr val="1A1A2E"/>
                </a:solidFill>
              </a:rPr>
              <a:t>  Improve consistency &amp; reliability</a:t>
            </a:r>
          </a:p>
        </p:txBody>
      </p:sp>
      <p:sp>
        <p:nvSpPr>
          <p:cNvPr id="16" name="TextBox 15"/>
          <p:cNvSpPr txBox="1"/>
          <p:nvPr/>
        </p:nvSpPr>
        <p:spPr>
          <a:xfrm>
            <a:off x="548640" y="5440680"/>
            <a:ext cx="5120640" cy="320040"/>
          </a:xfrm>
          <a:prstGeom prst="rect">
            <a:avLst/>
          </a:prstGeom>
          <a:noFill/>
        </p:spPr>
        <p:txBody>
          <a:bodyPr wrap="square">
            <a:spAutoFit/>
          </a:bodyPr>
          <a:lstStyle/>
          <a:p>
            <a:pPr algn="l"/>
            <a:r>
              <a:rPr sz="1400" b="0" i="0">
                <a:solidFill>
                  <a:srgbClr val="444466"/>
                </a:solidFill>
              </a:rPr>
              <a:t>     Repeatable frameworks yield repeatable quality</a:t>
            </a:r>
          </a:p>
        </p:txBody>
      </p:sp>
      <p:sp>
        <p:nvSpPr>
          <p:cNvPr id="17" name="Rounded Rectangle 16"/>
          <p:cNvSpPr/>
          <p:nvPr/>
        </p:nvSpPr>
        <p:spPr>
          <a:xfrm>
            <a:off x="6217920" y="1508760"/>
            <a:ext cx="5577840" cy="5029200"/>
          </a:xfrm>
          <a:prstGeom prst="roundRect">
            <a:avLst/>
          </a:prstGeom>
          <a:solidFill>
            <a:srgbClr val="FD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600200"/>
            <a:ext cx="5303520" cy="457200"/>
          </a:xfrm>
          <a:prstGeom prst="rect">
            <a:avLst/>
          </a:prstGeom>
          <a:noFill/>
        </p:spPr>
        <p:txBody>
          <a:bodyPr wrap="square">
            <a:spAutoFit/>
          </a:bodyPr>
          <a:lstStyle/>
          <a:p>
            <a:pPr algn="l"/>
            <a:r>
              <a:rPr sz="2200" b="1" i="0">
                <a:solidFill>
                  <a:srgbClr val="FF6D00"/>
                </a:solidFill>
              </a:rPr>
              <a:t>Stay in the Driver's Seat</a:t>
            </a:r>
          </a:p>
        </p:txBody>
      </p:sp>
      <p:sp>
        <p:nvSpPr>
          <p:cNvPr id="19" name="TextBox 18"/>
          <p:cNvSpPr txBox="1"/>
          <p:nvPr/>
        </p:nvSpPr>
        <p:spPr>
          <a:xfrm>
            <a:off x="6400800" y="2240280"/>
            <a:ext cx="5029200" cy="914400"/>
          </a:xfrm>
          <a:prstGeom prst="rect">
            <a:avLst/>
          </a:prstGeom>
          <a:noFill/>
        </p:spPr>
        <p:txBody>
          <a:bodyPr wrap="square">
            <a:spAutoFit/>
          </a:bodyPr>
          <a:lstStyle/>
          <a:p>
            <a:pPr algn="l"/>
            <a:r>
              <a:rPr sz="1800" b="1" i="0">
                <a:solidFill>
                  <a:srgbClr val="1A1A2E"/>
                </a:solidFill>
              </a:rPr>
              <a:t>The more context and structure YOU provide,
the more YOU stay in charge of the content.</a:t>
            </a:r>
          </a:p>
        </p:txBody>
      </p:sp>
      <p:sp>
        <p:nvSpPr>
          <p:cNvPr id="20" name="TextBox 19"/>
          <p:cNvSpPr txBox="1"/>
          <p:nvPr/>
        </p:nvSpPr>
        <p:spPr>
          <a:xfrm>
            <a:off x="6400800" y="3108960"/>
            <a:ext cx="5029200" cy="3657600"/>
          </a:xfrm>
          <a:prstGeom prst="rect">
            <a:avLst/>
          </a:prstGeom>
          <a:noFill/>
        </p:spPr>
        <p:txBody>
          <a:bodyPr wrap="square">
            <a:spAutoFit/>
          </a:bodyPr>
          <a:lstStyle/>
          <a:p>
            <a:pPr algn="l"/>
            <a:r>
              <a:rPr sz="1600" b="0" i="0">
                <a:solidFill>
                  <a:srgbClr val="444466"/>
                </a:solidFill>
              </a:rPr>
              <a:t>Good prompting is critical thinking in action.
When you invest effort into crafting a prompt, you are:
  Clarifying your own goals and requirements
  Thinking through what "good" looks like
  Evaluating outputs against your standards
  Keeping human judgment at the center
AI is a tool — your expertise drives the outcome.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6C35DE"/>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rPr>
              <a:t>1</a:t>
            </a:r>
          </a:p>
        </p:txBody>
      </p:sp>
      <p:sp>
        <p:nvSpPr>
          <p:cNvPr id="3" name="Rectangle 2"/>
          <p:cNvSpPr/>
          <p:nvPr/>
        </p:nvSpPr>
        <p:spPr>
          <a:xfrm>
            <a:off x="0" y="0"/>
            <a:ext cx="502920" cy="6858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FD600"/>
                </a:solidFill>
              </a:rPr>
              <a:t>SECTION 1</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rPr>
              <a:t>Prompting Frameworks</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E8ECF8"/>
                </a:solidFill>
              </a:rPr>
              <a:t>Structured approaches for consistent, high-quality prompts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RTF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Role — Task — Format</a:t>
            </a:r>
          </a:p>
        </p:txBody>
      </p:sp>
      <p:sp>
        <p:nvSpPr>
          <p:cNvPr id="5" name="Rounded Rectangle 4"/>
          <p:cNvSpPr/>
          <p:nvPr/>
        </p:nvSpPr>
        <p:spPr>
          <a:xfrm>
            <a:off x="365760" y="1554480"/>
            <a:ext cx="3474720" cy="150876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228BE6"/>
                </a:solidFill>
              </a:rPr>
              <a:t>R</a:t>
            </a:r>
          </a:p>
        </p:txBody>
      </p:sp>
      <p:sp>
        <p:nvSpPr>
          <p:cNvPr id="7" name="TextBox 6"/>
          <p:cNvSpPr txBox="1"/>
          <p:nvPr/>
        </p:nvSpPr>
        <p:spPr>
          <a:xfrm>
            <a:off x="1005840" y="1664207"/>
            <a:ext cx="2651760" cy="411480"/>
          </a:xfrm>
          <a:prstGeom prst="rect">
            <a:avLst/>
          </a:prstGeom>
          <a:noFill/>
        </p:spPr>
        <p:txBody>
          <a:bodyPr wrap="square">
            <a:spAutoFit/>
          </a:bodyPr>
          <a:lstStyle/>
          <a:p>
            <a:pPr algn="l"/>
            <a:r>
              <a:rPr sz="2000" b="1" i="0">
                <a:solidFill>
                  <a:srgbClr val="1A1A2E"/>
                </a:solidFill>
              </a:rPr>
              <a:t>= Role</a:t>
            </a:r>
          </a:p>
        </p:txBody>
      </p:sp>
      <p:sp>
        <p:nvSpPr>
          <p:cNvPr id="8" name="TextBox 7"/>
          <p:cNvSpPr txBox="1"/>
          <p:nvPr/>
        </p:nvSpPr>
        <p:spPr>
          <a:xfrm>
            <a:off x="594360" y="2057400"/>
            <a:ext cx="3063239" cy="914399"/>
          </a:xfrm>
          <a:prstGeom prst="rect">
            <a:avLst/>
          </a:prstGeom>
          <a:noFill/>
        </p:spPr>
        <p:txBody>
          <a:bodyPr wrap="square">
            <a:spAutoFit/>
          </a:bodyPr>
          <a:lstStyle/>
          <a:p>
            <a:pPr algn="l"/>
            <a:r>
              <a:rPr sz="1600" b="0" i="0">
                <a:solidFill>
                  <a:srgbClr val="444466"/>
                </a:solidFill>
              </a:rPr>
              <a:t>Who should the AI act as?
e.g., "You are a senior data analyst..."</a:t>
            </a:r>
          </a:p>
        </p:txBody>
      </p:sp>
      <p:sp>
        <p:nvSpPr>
          <p:cNvPr id="9" name="Rounded Rectangle 8"/>
          <p:cNvSpPr/>
          <p:nvPr/>
        </p:nvSpPr>
        <p:spPr>
          <a:xfrm>
            <a:off x="365760" y="3246120"/>
            <a:ext cx="3474720" cy="150876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319272"/>
            <a:ext cx="548640" cy="502920"/>
          </a:xfrm>
          <a:prstGeom prst="rect">
            <a:avLst/>
          </a:prstGeom>
          <a:noFill/>
        </p:spPr>
        <p:txBody>
          <a:bodyPr wrap="square">
            <a:spAutoFit/>
          </a:bodyPr>
          <a:lstStyle/>
          <a:p>
            <a:pPr algn="l"/>
            <a:r>
              <a:rPr sz="3000" b="1" i="0">
                <a:solidFill>
                  <a:srgbClr val="228BE6"/>
                </a:solidFill>
              </a:rPr>
              <a:t>T</a:t>
            </a:r>
          </a:p>
        </p:txBody>
      </p:sp>
      <p:sp>
        <p:nvSpPr>
          <p:cNvPr id="11" name="TextBox 10"/>
          <p:cNvSpPr txBox="1"/>
          <p:nvPr/>
        </p:nvSpPr>
        <p:spPr>
          <a:xfrm>
            <a:off x="1005840" y="3355848"/>
            <a:ext cx="2651760" cy="411480"/>
          </a:xfrm>
          <a:prstGeom prst="rect">
            <a:avLst/>
          </a:prstGeom>
          <a:noFill/>
        </p:spPr>
        <p:txBody>
          <a:bodyPr wrap="square">
            <a:spAutoFit/>
          </a:bodyPr>
          <a:lstStyle/>
          <a:p>
            <a:pPr algn="l"/>
            <a:r>
              <a:rPr sz="2000" b="1" i="0">
                <a:solidFill>
                  <a:srgbClr val="1A1A2E"/>
                </a:solidFill>
              </a:rPr>
              <a:t>= Task</a:t>
            </a:r>
          </a:p>
        </p:txBody>
      </p:sp>
      <p:sp>
        <p:nvSpPr>
          <p:cNvPr id="12" name="TextBox 11"/>
          <p:cNvSpPr txBox="1"/>
          <p:nvPr/>
        </p:nvSpPr>
        <p:spPr>
          <a:xfrm>
            <a:off x="594360" y="3749039"/>
            <a:ext cx="3063239" cy="914399"/>
          </a:xfrm>
          <a:prstGeom prst="rect">
            <a:avLst/>
          </a:prstGeom>
          <a:noFill/>
        </p:spPr>
        <p:txBody>
          <a:bodyPr wrap="square">
            <a:spAutoFit/>
          </a:bodyPr>
          <a:lstStyle/>
          <a:p>
            <a:pPr algn="l"/>
            <a:r>
              <a:rPr sz="1600" b="0" i="0">
                <a:solidFill>
                  <a:srgbClr val="444466"/>
                </a:solidFill>
              </a:rPr>
              <a:t>What specific task should it perform?
e.g., "Analyze Q3 sales trends and identify..."</a:t>
            </a:r>
          </a:p>
        </p:txBody>
      </p:sp>
      <p:sp>
        <p:nvSpPr>
          <p:cNvPr id="13" name="Rounded Rectangle 12"/>
          <p:cNvSpPr/>
          <p:nvPr/>
        </p:nvSpPr>
        <p:spPr>
          <a:xfrm>
            <a:off x="365760" y="4937760"/>
            <a:ext cx="3474720" cy="150876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010912"/>
            <a:ext cx="548640" cy="502920"/>
          </a:xfrm>
          <a:prstGeom prst="rect">
            <a:avLst/>
          </a:prstGeom>
          <a:noFill/>
        </p:spPr>
        <p:txBody>
          <a:bodyPr wrap="square">
            <a:spAutoFit/>
          </a:bodyPr>
          <a:lstStyle/>
          <a:p>
            <a:pPr algn="l"/>
            <a:r>
              <a:rPr sz="3000" b="1" i="0">
                <a:solidFill>
                  <a:srgbClr val="228BE6"/>
                </a:solidFill>
              </a:rPr>
              <a:t>F</a:t>
            </a:r>
          </a:p>
        </p:txBody>
      </p:sp>
      <p:sp>
        <p:nvSpPr>
          <p:cNvPr id="15" name="TextBox 14"/>
          <p:cNvSpPr txBox="1"/>
          <p:nvPr/>
        </p:nvSpPr>
        <p:spPr>
          <a:xfrm>
            <a:off x="1005840" y="5047488"/>
            <a:ext cx="2651760" cy="411480"/>
          </a:xfrm>
          <a:prstGeom prst="rect">
            <a:avLst/>
          </a:prstGeom>
          <a:noFill/>
        </p:spPr>
        <p:txBody>
          <a:bodyPr wrap="square">
            <a:spAutoFit/>
          </a:bodyPr>
          <a:lstStyle/>
          <a:p>
            <a:pPr algn="l"/>
            <a:r>
              <a:rPr sz="2000" b="1" i="0">
                <a:solidFill>
                  <a:srgbClr val="1A1A2E"/>
                </a:solidFill>
              </a:rPr>
              <a:t>= Format</a:t>
            </a:r>
          </a:p>
        </p:txBody>
      </p:sp>
      <p:sp>
        <p:nvSpPr>
          <p:cNvPr id="16" name="TextBox 15"/>
          <p:cNvSpPr txBox="1"/>
          <p:nvPr/>
        </p:nvSpPr>
        <p:spPr>
          <a:xfrm>
            <a:off x="594360" y="5440680"/>
            <a:ext cx="3063239" cy="914399"/>
          </a:xfrm>
          <a:prstGeom prst="rect">
            <a:avLst/>
          </a:prstGeom>
          <a:noFill/>
        </p:spPr>
        <p:txBody>
          <a:bodyPr wrap="square">
            <a:spAutoFit/>
          </a:bodyPr>
          <a:lstStyle/>
          <a:p>
            <a:pPr algn="l"/>
            <a:r>
              <a:rPr sz="1600" b="0" i="0">
                <a:solidFill>
                  <a:srgbClr val="444466"/>
                </a:solidFill>
              </a:rPr>
              <a:t>How should the output be structured?
e.g., "Present as a bulleted summary with..."</a:t>
            </a:r>
          </a:p>
        </p:txBody>
      </p:sp>
      <p:sp>
        <p:nvSpPr>
          <p:cNvPr id="17" name="Rounded Rectangle 16"/>
          <p:cNvSpPr/>
          <p:nvPr/>
        </p:nvSpPr>
        <p:spPr>
          <a:xfrm>
            <a:off x="4206240" y="1554480"/>
            <a:ext cx="7589520" cy="48920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1645920"/>
            <a:ext cx="7223760" cy="411480"/>
          </a:xfrm>
          <a:prstGeom prst="rect">
            <a:avLst/>
          </a:prstGeom>
          <a:noFill/>
        </p:spPr>
        <p:txBody>
          <a:bodyPr wrap="square">
            <a:spAutoFit/>
          </a:bodyPr>
          <a:lstStyle/>
          <a:p>
            <a:pPr algn="l"/>
            <a:r>
              <a:rPr sz="2000" b="1" i="0">
                <a:solidFill>
                  <a:srgbClr val="228BE6"/>
                </a:solidFill>
              </a:rPr>
              <a:t>Example Prompt Using RTF</a:t>
            </a:r>
          </a:p>
        </p:txBody>
      </p:sp>
      <p:sp>
        <p:nvSpPr>
          <p:cNvPr id="19" name="TextBox 18"/>
          <p:cNvSpPr txBox="1"/>
          <p:nvPr/>
        </p:nvSpPr>
        <p:spPr>
          <a:xfrm>
            <a:off x="4389120" y="2148840"/>
            <a:ext cx="7223760" cy="4114800"/>
          </a:xfrm>
          <a:prstGeom prst="rect">
            <a:avLst/>
          </a:prstGeom>
          <a:noFill/>
        </p:spPr>
        <p:txBody>
          <a:bodyPr wrap="square">
            <a:spAutoFit/>
          </a:bodyPr>
          <a:lstStyle/>
          <a:p>
            <a:pPr algn="l"/>
            <a:r>
              <a:rPr sz="1600" b="0" i="0">
                <a:solidFill>
                  <a:srgbClr val="1A1A2E"/>
                </a:solidFill>
              </a:rPr>
              <a:t>[Role] You are an experienced marketing strategist
who specializes in social media campaigns for
small businesses.
[Task] Create a 1-week social media content
calendar for a local bakery launching a new
line of gluten-free pastries. Include post ideas
for Instagram, Facebook, and TikTok.
[Format] Present the calendar as a table with
columns for Day, Platform, Post Type, Caption
Idea, and Hashtag Suggestions.</a:t>
            </a:r>
          </a:p>
        </p:txBody>
      </p:sp>
      <p:sp>
        <p:nvSpPr>
          <p:cNvPr id="20" name="TextBox 19"/>
          <p:cNvSpPr txBox="1"/>
          <p:nvPr/>
        </p:nvSpPr>
        <p:spPr>
          <a:xfrm>
            <a:off x="365760" y="6537960"/>
            <a:ext cx="11430000" cy="320040"/>
          </a:xfrm>
          <a:prstGeom prst="rect">
            <a:avLst/>
          </a:prstGeom>
          <a:noFill/>
        </p:spPr>
        <p:txBody>
          <a:bodyPr wrap="square">
            <a:spAutoFit/>
          </a:bodyPr>
          <a:lstStyle/>
          <a:p>
            <a:pPr algn="l"/>
            <a:r>
              <a:rPr sz="1400" b="1" i="1">
                <a:solidFill>
                  <a:srgbClr val="228BE6"/>
                </a:solidFill>
              </a:rPr>
              <a:t>Best for: Quick, everyday prompts that need a clear 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CREATE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Character — Request — Examples — Adjustments — Type of Output — Extras</a:t>
            </a:r>
          </a:p>
        </p:txBody>
      </p:sp>
      <p:sp>
        <p:nvSpPr>
          <p:cNvPr id="5" name="Rounded Rectangle 4"/>
          <p:cNvSpPr/>
          <p:nvPr/>
        </p:nvSpPr>
        <p:spPr>
          <a:xfrm>
            <a:off x="3657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00BFA5"/>
                </a:solidFill>
              </a:rPr>
              <a:t>C</a:t>
            </a:r>
          </a:p>
        </p:txBody>
      </p:sp>
      <p:sp>
        <p:nvSpPr>
          <p:cNvPr id="7" name="TextBox 6"/>
          <p:cNvSpPr txBox="1"/>
          <p:nvPr/>
        </p:nvSpPr>
        <p:spPr>
          <a:xfrm>
            <a:off x="1005840" y="1664207"/>
            <a:ext cx="4663440" cy="411480"/>
          </a:xfrm>
          <a:prstGeom prst="rect">
            <a:avLst/>
          </a:prstGeom>
          <a:noFill/>
        </p:spPr>
        <p:txBody>
          <a:bodyPr wrap="square">
            <a:spAutoFit/>
          </a:bodyPr>
          <a:lstStyle/>
          <a:p>
            <a:pPr algn="l"/>
            <a:r>
              <a:rPr sz="2000" b="1" i="0">
                <a:solidFill>
                  <a:srgbClr val="1A1A2E"/>
                </a:solidFill>
              </a:rPr>
              <a:t>= Character</a:t>
            </a:r>
          </a:p>
        </p:txBody>
      </p:sp>
      <p:sp>
        <p:nvSpPr>
          <p:cNvPr id="8" name="TextBox 7"/>
          <p:cNvSpPr txBox="1"/>
          <p:nvPr/>
        </p:nvSpPr>
        <p:spPr>
          <a:xfrm>
            <a:off x="594360" y="2057400"/>
            <a:ext cx="5074920" cy="822960"/>
          </a:xfrm>
          <a:prstGeom prst="rect">
            <a:avLst/>
          </a:prstGeom>
          <a:noFill/>
        </p:spPr>
        <p:txBody>
          <a:bodyPr wrap="square">
            <a:spAutoFit/>
          </a:bodyPr>
          <a:lstStyle/>
          <a:p>
            <a:pPr algn="l"/>
            <a:r>
              <a:rPr sz="1600" b="0" i="0">
                <a:solidFill>
                  <a:srgbClr val="444466"/>
                </a:solidFill>
              </a:rPr>
              <a:t>Define the AI's persona or expertise</a:t>
            </a:r>
          </a:p>
        </p:txBody>
      </p:sp>
      <p:sp>
        <p:nvSpPr>
          <p:cNvPr id="9" name="Rounded Rectangle 8"/>
          <p:cNvSpPr/>
          <p:nvPr/>
        </p:nvSpPr>
        <p:spPr>
          <a:xfrm>
            <a:off x="3657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7832"/>
            <a:ext cx="548640" cy="502920"/>
          </a:xfrm>
          <a:prstGeom prst="rect">
            <a:avLst/>
          </a:prstGeom>
          <a:noFill/>
        </p:spPr>
        <p:txBody>
          <a:bodyPr wrap="square">
            <a:spAutoFit/>
          </a:bodyPr>
          <a:lstStyle/>
          <a:p>
            <a:pPr algn="l"/>
            <a:r>
              <a:rPr sz="3000" b="1" i="0">
                <a:solidFill>
                  <a:srgbClr val="00BFA5"/>
                </a:solidFill>
              </a:rPr>
              <a:t>R</a:t>
            </a:r>
          </a:p>
        </p:txBody>
      </p:sp>
      <p:sp>
        <p:nvSpPr>
          <p:cNvPr id="11" name="TextBox 10"/>
          <p:cNvSpPr txBox="1"/>
          <p:nvPr/>
        </p:nvSpPr>
        <p:spPr>
          <a:xfrm>
            <a:off x="1005840" y="3264408"/>
            <a:ext cx="4663440" cy="411480"/>
          </a:xfrm>
          <a:prstGeom prst="rect">
            <a:avLst/>
          </a:prstGeom>
          <a:noFill/>
        </p:spPr>
        <p:txBody>
          <a:bodyPr wrap="square">
            <a:spAutoFit/>
          </a:bodyPr>
          <a:lstStyle/>
          <a:p>
            <a:pPr algn="l"/>
            <a:r>
              <a:rPr sz="2000" b="1" i="0">
                <a:solidFill>
                  <a:srgbClr val="1A1A2E"/>
                </a:solidFill>
              </a:rPr>
              <a:t>= Request</a:t>
            </a:r>
          </a:p>
        </p:txBody>
      </p:sp>
      <p:sp>
        <p:nvSpPr>
          <p:cNvPr id="12" name="TextBox 11"/>
          <p:cNvSpPr txBox="1"/>
          <p:nvPr/>
        </p:nvSpPr>
        <p:spPr>
          <a:xfrm>
            <a:off x="594360" y="3657600"/>
            <a:ext cx="5074920" cy="822960"/>
          </a:xfrm>
          <a:prstGeom prst="rect">
            <a:avLst/>
          </a:prstGeom>
          <a:noFill/>
        </p:spPr>
        <p:txBody>
          <a:bodyPr wrap="square">
            <a:spAutoFit/>
          </a:bodyPr>
          <a:lstStyle/>
          <a:p>
            <a:pPr algn="l"/>
            <a:r>
              <a:rPr sz="1600" b="0" i="0">
                <a:solidFill>
                  <a:srgbClr val="444466"/>
                </a:solidFill>
              </a:rPr>
              <a:t>State the core task or question clearly</a:t>
            </a:r>
          </a:p>
        </p:txBody>
      </p:sp>
      <p:sp>
        <p:nvSpPr>
          <p:cNvPr id="13" name="Rounded Rectangle 12"/>
          <p:cNvSpPr/>
          <p:nvPr/>
        </p:nvSpPr>
        <p:spPr>
          <a:xfrm>
            <a:off x="3657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828032"/>
            <a:ext cx="548640" cy="502920"/>
          </a:xfrm>
          <a:prstGeom prst="rect">
            <a:avLst/>
          </a:prstGeom>
          <a:noFill/>
        </p:spPr>
        <p:txBody>
          <a:bodyPr wrap="square">
            <a:spAutoFit/>
          </a:bodyPr>
          <a:lstStyle/>
          <a:p>
            <a:pPr algn="l"/>
            <a:r>
              <a:rPr sz="3000" b="1" i="0">
                <a:solidFill>
                  <a:srgbClr val="00BFA5"/>
                </a:solidFill>
              </a:rPr>
              <a:t>E</a:t>
            </a:r>
          </a:p>
        </p:txBody>
      </p:sp>
      <p:sp>
        <p:nvSpPr>
          <p:cNvPr id="15" name="TextBox 14"/>
          <p:cNvSpPr txBox="1"/>
          <p:nvPr/>
        </p:nvSpPr>
        <p:spPr>
          <a:xfrm>
            <a:off x="1005840" y="4864608"/>
            <a:ext cx="4663440" cy="411480"/>
          </a:xfrm>
          <a:prstGeom prst="rect">
            <a:avLst/>
          </a:prstGeom>
          <a:noFill/>
        </p:spPr>
        <p:txBody>
          <a:bodyPr wrap="square">
            <a:spAutoFit/>
          </a:bodyPr>
          <a:lstStyle/>
          <a:p>
            <a:pPr algn="l"/>
            <a:r>
              <a:rPr sz="2000" b="1" i="0">
                <a:solidFill>
                  <a:srgbClr val="1A1A2E"/>
                </a:solidFill>
              </a:rPr>
              <a:t>= Examples</a:t>
            </a:r>
          </a:p>
        </p:txBody>
      </p:sp>
      <p:sp>
        <p:nvSpPr>
          <p:cNvPr id="16" name="TextBox 15"/>
          <p:cNvSpPr txBox="1"/>
          <p:nvPr/>
        </p:nvSpPr>
        <p:spPr>
          <a:xfrm>
            <a:off x="594360" y="5257800"/>
            <a:ext cx="5074920" cy="822960"/>
          </a:xfrm>
          <a:prstGeom prst="rect">
            <a:avLst/>
          </a:prstGeom>
          <a:noFill/>
        </p:spPr>
        <p:txBody>
          <a:bodyPr wrap="square">
            <a:spAutoFit/>
          </a:bodyPr>
          <a:lstStyle/>
          <a:p>
            <a:pPr algn="l"/>
            <a:r>
              <a:rPr sz="1600" b="0" i="0">
                <a:solidFill>
                  <a:srgbClr val="444466"/>
                </a:solidFill>
              </a:rPr>
              <a:t>Provide sample inputs/outputs to guide style</a:t>
            </a:r>
          </a:p>
        </p:txBody>
      </p:sp>
      <p:sp>
        <p:nvSpPr>
          <p:cNvPr id="17" name="Rounded Rectangle 16"/>
          <p:cNvSpPr/>
          <p:nvPr/>
        </p:nvSpPr>
        <p:spPr>
          <a:xfrm>
            <a:off x="63093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27632"/>
            <a:ext cx="548640" cy="502920"/>
          </a:xfrm>
          <a:prstGeom prst="rect">
            <a:avLst/>
          </a:prstGeom>
          <a:noFill/>
        </p:spPr>
        <p:txBody>
          <a:bodyPr wrap="square">
            <a:spAutoFit/>
          </a:bodyPr>
          <a:lstStyle/>
          <a:p>
            <a:pPr algn="l"/>
            <a:r>
              <a:rPr sz="3000" b="1" i="0">
                <a:solidFill>
                  <a:srgbClr val="00BFA5"/>
                </a:solidFill>
              </a:rPr>
              <a:t>A</a:t>
            </a:r>
          </a:p>
        </p:txBody>
      </p:sp>
      <p:sp>
        <p:nvSpPr>
          <p:cNvPr id="19" name="TextBox 18"/>
          <p:cNvSpPr txBox="1"/>
          <p:nvPr/>
        </p:nvSpPr>
        <p:spPr>
          <a:xfrm>
            <a:off x="6949440" y="1664207"/>
            <a:ext cx="4663440" cy="411480"/>
          </a:xfrm>
          <a:prstGeom prst="rect">
            <a:avLst/>
          </a:prstGeom>
          <a:noFill/>
        </p:spPr>
        <p:txBody>
          <a:bodyPr wrap="square">
            <a:spAutoFit/>
          </a:bodyPr>
          <a:lstStyle/>
          <a:p>
            <a:pPr algn="l"/>
            <a:r>
              <a:rPr sz="2000" b="1" i="0">
                <a:solidFill>
                  <a:srgbClr val="1A1A2E"/>
                </a:solidFill>
              </a:rPr>
              <a:t>= Adjustments</a:t>
            </a:r>
          </a:p>
        </p:txBody>
      </p:sp>
      <p:sp>
        <p:nvSpPr>
          <p:cNvPr id="20" name="TextBox 19"/>
          <p:cNvSpPr txBox="1"/>
          <p:nvPr/>
        </p:nvSpPr>
        <p:spPr>
          <a:xfrm>
            <a:off x="6537960" y="2057400"/>
            <a:ext cx="5074920" cy="822960"/>
          </a:xfrm>
          <a:prstGeom prst="rect">
            <a:avLst/>
          </a:prstGeom>
          <a:noFill/>
        </p:spPr>
        <p:txBody>
          <a:bodyPr wrap="square">
            <a:spAutoFit/>
          </a:bodyPr>
          <a:lstStyle/>
          <a:p>
            <a:pPr algn="l"/>
            <a:r>
              <a:rPr sz="1600" b="0" i="0">
                <a:solidFill>
                  <a:srgbClr val="444466"/>
                </a:solidFill>
              </a:rPr>
              <a:t>Specify constraints, tone, or limitations</a:t>
            </a:r>
          </a:p>
        </p:txBody>
      </p:sp>
      <p:sp>
        <p:nvSpPr>
          <p:cNvPr id="21" name="Rounded Rectangle 20"/>
          <p:cNvSpPr/>
          <p:nvPr/>
        </p:nvSpPr>
        <p:spPr>
          <a:xfrm>
            <a:off x="63093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227832"/>
            <a:ext cx="548640" cy="502920"/>
          </a:xfrm>
          <a:prstGeom prst="rect">
            <a:avLst/>
          </a:prstGeom>
          <a:noFill/>
        </p:spPr>
        <p:txBody>
          <a:bodyPr wrap="square">
            <a:spAutoFit/>
          </a:bodyPr>
          <a:lstStyle/>
          <a:p>
            <a:pPr algn="l"/>
            <a:r>
              <a:rPr sz="3000" b="1" i="0">
                <a:solidFill>
                  <a:srgbClr val="00BFA5"/>
                </a:solidFill>
              </a:rPr>
              <a:t>T</a:t>
            </a:r>
          </a:p>
        </p:txBody>
      </p:sp>
      <p:sp>
        <p:nvSpPr>
          <p:cNvPr id="23" name="TextBox 22"/>
          <p:cNvSpPr txBox="1"/>
          <p:nvPr/>
        </p:nvSpPr>
        <p:spPr>
          <a:xfrm>
            <a:off x="6949440" y="3264408"/>
            <a:ext cx="4663440" cy="411480"/>
          </a:xfrm>
          <a:prstGeom prst="rect">
            <a:avLst/>
          </a:prstGeom>
          <a:noFill/>
        </p:spPr>
        <p:txBody>
          <a:bodyPr wrap="square">
            <a:spAutoFit/>
          </a:bodyPr>
          <a:lstStyle/>
          <a:p>
            <a:pPr algn="l"/>
            <a:r>
              <a:rPr sz="2000" b="1" i="0">
                <a:solidFill>
                  <a:srgbClr val="1A1A2E"/>
                </a:solidFill>
              </a:rPr>
              <a:t>= Type of Output</a:t>
            </a:r>
          </a:p>
        </p:txBody>
      </p:sp>
      <p:sp>
        <p:nvSpPr>
          <p:cNvPr id="24" name="TextBox 23"/>
          <p:cNvSpPr txBox="1"/>
          <p:nvPr/>
        </p:nvSpPr>
        <p:spPr>
          <a:xfrm>
            <a:off x="6537960" y="3657600"/>
            <a:ext cx="5074920" cy="822960"/>
          </a:xfrm>
          <a:prstGeom prst="rect">
            <a:avLst/>
          </a:prstGeom>
          <a:noFill/>
        </p:spPr>
        <p:txBody>
          <a:bodyPr wrap="square">
            <a:spAutoFit/>
          </a:bodyPr>
          <a:lstStyle/>
          <a:p>
            <a:pPr algn="l"/>
            <a:r>
              <a:rPr sz="1600" b="0" i="0">
                <a:solidFill>
                  <a:srgbClr val="444466"/>
                </a:solidFill>
              </a:rPr>
              <a:t>Define the desired format (list, essay, code, etc.)</a:t>
            </a:r>
          </a:p>
        </p:txBody>
      </p:sp>
      <p:sp>
        <p:nvSpPr>
          <p:cNvPr id="25" name="Rounded Rectangle 24"/>
          <p:cNvSpPr/>
          <p:nvPr/>
        </p:nvSpPr>
        <p:spPr>
          <a:xfrm>
            <a:off x="63093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828032"/>
            <a:ext cx="548640" cy="502920"/>
          </a:xfrm>
          <a:prstGeom prst="rect">
            <a:avLst/>
          </a:prstGeom>
          <a:noFill/>
        </p:spPr>
        <p:txBody>
          <a:bodyPr wrap="square">
            <a:spAutoFit/>
          </a:bodyPr>
          <a:lstStyle/>
          <a:p>
            <a:pPr algn="l"/>
            <a:r>
              <a:rPr sz="3000" b="1" i="0">
                <a:solidFill>
                  <a:srgbClr val="00BFA5"/>
                </a:solidFill>
              </a:rPr>
              <a:t>E</a:t>
            </a:r>
          </a:p>
        </p:txBody>
      </p:sp>
      <p:sp>
        <p:nvSpPr>
          <p:cNvPr id="27" name="TextBox 26"/>
          <p:cNvSpPr txBox="1"/>
          <p:nvPr/>
        </p:nvSpPr>
        <p:spPr>
          <a:xfrm>
            <a:off x="6949440" y="4864608"/>
            <a:ext cx="4663440" cy="411480"/>
          </a:xfrm>
          <a:prstGeom prst="rect">
            <a:avLst/>
          </a:prstGeom>
          <a:noFill/>
        </p:spPr>
        <p:txBody>
          <a:bodyPr wrap="square">
            <a:spAutoFit/>
          </a:bodyPr>
          <a:lstStyle/>
          <a:p>
            <a:pPr algn="l"/>
            <a:r>
              <a:rPr sz="2000" b="1" i="0">
                <a:solidFill>
                  <a:srgbClr val="1A1A2E"/>
                </a:solidFill>
              </a:rPr>
              <a:t>= Extras</a:t>
            </a:r>
          </a:p>
        </p:txBody>
      </p:sp>
      <p:sp>
        <p:nvSpPr>
          <p:cNvPr id="28" name="TextBox 27"/>
          <p:cNvSpPr txBox="1"/>
          <p:nvPr/>
        </p:nvSpPr>
        <p:spPr>
          <a:xfrm>
            <a:off x="6537960" y="5257800"/>
            <a:ext cx="5074920" cy="822960"/>
          </a:xfrm>
          <a:prstGeom prst="rect">
            <a:avLst/>
          </a:prstGeom>
          <a:noFill/>
        </p:spPr>
        <p:txBody>
          <a:bodyPr wrap="square">
            <a:spAutoFit/>
          </a:bodyPr>
          <a:lstStyle/>
          <a:p>
            <a:pPr algn="l"/>
            <a:r>
              <a:rPr sz="1600" b="0" i="0">
                <a:solidFill>
                  <a:srgbClr val="444466"/>
                </a:solidFill>
              </a:rPr>
              <a:t>Add any additional context or special instructions</a:t>
            </a:r>
          </a:p>
        </p:txBody>
      </p:sp>
      <p:sp>
        <p:nvSpPr>
          <p:cNvPr id="29" name="TextBox 28"/>
          <p:cNvSpPr txBox="1"/>
          <p:nvPr/>
        </p:nvSpPr>
        <p:spPr>
          <a:xfrm>
            <a:off x="365760" y="6537960"/>
            <a:ext cx="11430000" cy="320040"/>
          </a:xfrm>
          <a:prstGeom prst="rect">
            <a:avLst/>
          </a:prstGeom>
          <a:noFill/>
        </p:spPr>
        <p:txBody>
          <a:bodyPr wrap="square">
            <a:spAutoFit/>
          </a:bodyPr>
          <a:lstStyle/>
          <a:p>
            <a:pPr algn="l"/>
            <a:r>
              <a:rPr sz="1400" b="1" i="1">
                <a:solidFill>
                  <a:srgbClr val="00BFA5"/>
                </a:solidFill>
              </a:rPr>
              <a:t>Best for: Detailed, nuanced prompts where tone, examples, and constraints matter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CO-STAR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Context — Objective — Style — Tone — Audience — Response</a:t>
            </a:r>
          </a:p>
        </p:txBody>
      </p:sp>
      <p:sp>
        <p:nvSpPr>
          <p:cNvPr id="5" name="Rounded Rectangle 4"/>
          <p:cNvSpPr/>
          <p:nvPr/>
        </p:nvSpPr>
        <p:spPr>
          <a:xfrm>
            <a:off x="3657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6C35DE"/>
                </a:solidFill>
              </a:rPr>
              <a:t>C</a:t>
            </a:r>
          </a:p>
        </p:txBody>
      </p:sp>
      <p:sp>
        <p:nvSpPr>
          <p:cNvPr id="7" name="TextBox 6"/>
          <p:cNvSpPr txBox="1"/>
          <p:nvPr/>
        </p:nvSpPr>
        <p:spPr>
          <a:xfrm>
            <a:off x="1005840" y="1664207"/>
            <a:ext cx="4663440" cy="411480"/>
          </a:xfrm>
          <a:prstGeom prst="rect">
            <a:avLst/>
          </a:prstGeom>
          <a:noFill/>
        </p:spPr>
        <p:txBody>
          <a:bodyPr wrap="square">
            <a:spAutoFit/>
          </a:bodyPr>
          <a:lstStyle/>
          <a:p>
            <a:pPr algn="l"/>
            <a:r>
              <a:rPr sz="2000" b="1" i="0">
                <a:solidFill>
                  <a:srgbClr val="1A1A2E"/>
                </a:solidFill>
              </a:rPr>
              <a:t>= Context</a:t>
            </a:r>
          </a:p>
        </p:txBody>
      </p:sp>
      <p:sp>
        <p:nvSpPr>
          <p:cNvPr id="8" name="TextBox 7"/>
          <p:cNvSpPr txBox="1"/>
          <p:nvPr/>
        </p:nvSpPr>
        <p:spPr>
          <a:xfrm>
            <a:off x="594360" y="2057400"/>
            <a:ext cx="5074920" cy="822960"/>
          </a:xfrm>
          <a:prstGeom prst="rect">
            <a:avLst/>
          </a:prstGeom>
          <a:noFill/>
        </p:spPr>
        <p:txBody>
          <a:bodyPr wrap="square">
            <a:spAutoFit/>
          </a:bodyPr>
          <a:lstStyle/>
          <a:p>
            <a:pPr algn="l"/>
            <a:r>
              <a:rPr sz="1600" b="0" i="0">
                <a:solidFill>
                  <a:srgbClr val="444466"/>
                </a:solidFill>
              </a:rPr>
              <a:t>Background info &amp; situation the AI needs to know</a:t>
            </a:r>
          </a:p>
        </p:txBody>
      </p:sp>
      <p:sp>
        <p:nvSpPr>
          <p:cNvPr id="9" name="Rounded Rectangle 8"/>
          <p:cNvSpPr/>
          <p:nvPr/>
        </p:nvSpPr>
        <p:spPr>
          <a:xfrm>
            <a:off x="3657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7832"/>
            <a:ext cx="548640" cy="502920"/>
          </a:xfrm>
          <a:prstGeom prst="rect">
            <a:avLst/>
          </a:prstGeom>
          <a:noFill/>
        </p:spPr>
        <p:txBody>
          <a:bodyPr wrap="square">
            <a:spAutoFit/>
          </a:bodyPr>
          <a:lstStyle/>
          <a:p>
            <a:pPr algn="l"/>
            <a:r>
              <a:rPr sz="3000" b="1" i="0">
                <a:solidFill>
                  <a:srgbClr val="6C35DE"/>
                </a:solidFill>
              </a:rPr>
              <a:t>O</a:t>
            </a:r>
          </a:p>
        </p:txBody>
      </p:sp>
      <p:sp>
        <p:nvSpPr>
          <p:cNvPr id="11" name="TextBox 10"/>
          <p:cNvSpPr txBox="1"/>
          <p:nvPr/>
        </p:nvSpPr>
        <p:spPr>
          <a:xfrm>
            <a:off x="1005840" y="3264408"/>
            <a:ext cx="4663440" cy="411480"/>
          </a:xfrm>
          <a:prstGeom prst="rect">
            <a:avLst/>
          </a:prstGeom>
          <a:noFill/>
        </p:spPr>
        <p:txBody>
          <a:bodyPr wrap="square">
            <a:spAutoFit/>
          </a:bodyPr>
          <a:lstStyle/>
          <a:p>
            <a:pPr algn="l"/>
            <a:r>
              <a:rPr sz="2000" b="1" i="0">
                <a:solidFill>
                  <a:srgbClr val="1A1A2E"/>
                </a:solidFill>
              </a:rPr>
              <a:t>= Objective</a:t>
            </a:r>
          </a:p>
        </p:txBody>
      </p:sp>
      <p:sp>
        <p:nvSpPr>
          <p:cNvPr id="12" name="TextBox 11"/>
          <p:cNvSpPr txBox="1"/>
          <p:nvPr/>
        </p:nvSpPr>
        <p:spPr>
          <a:xfrm>
            <a:off x="594360" y="3657600"/>
            <a:ext cx="5074920" cy="822960"/>
          </a:xfrm>
          <a:prstGeom prst="rect">
            <a:avLst/>
          </a:prstGeom>
          <a:noFill/>
        </p:spPr>
        <p:txBody>
          <a:bodyPr wrap="square">
            <a:spAutoFit/>
          </a:bodyPr>
          <a:lstStyle/>
          <a:p>
            <a:pPr algn="l"/>
            <a:r>
              <a:rPr sz="1600" b="0" i="0">
                <a:solidFill>
                  <a:srgbClr val="444466"/>
                </a:solidFill>
              </a:rPr>
              <a:t>The specific goal or task you want accomplished</a:t>
            </a:r>
          </a:p>
        </p:txBody>
      </p:sp>
      <p:sp>
        <p:nvSpPr>
          <p:cNvPr id="13" name="Rounded Rectangle 12"/>
          <p:cNvSpPr/>
          <p:nvPr/>
        </p:nvSpPr>
        <p:spPr>
          <a:xfrm>
            <a:off x="3657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828032"/>
            <a:ext cx="548640" cy="502920"/>
          </a:xfrm>
          <a:prstGeom prst="rect">
            <a:avLst/>
          </a:prstGeom>
          <a:noFill/>
        </p:spPr>
        <p:txBody>
          <a:bodyPr wrap="square">
            <a:spAutoFit/>
          </a:bodyPr>
          <a:lstStyle/>
          <a:p>
            <a:pPr algn="l"/>
            <a:r>
              <a:rPr sz="3000" b="1" i="0">
                <a:solidFill>
                  <a:srgbClr val="6C35DE"/>
                </a:solidFill>
              </a:rPr>
              <a:t>S</a:t>
            </a:r>
          </a:p>
        </p:txBody>
      </p:sp>
      <p:sp>
        <p:nvSpPr>
          <p:cNvPr id="15" name="TextBox 14"/>
          <p:cNvSpPr txBox="1"/>
          <p:nvPr/>
        </p:nvSpPr>
        <p:spPr>
          <a:xfrm>
            <a:off x="1005840" y="4864608"/>
            <a:ext cx="4663440" cy="411480"/>
          </a:xfrm>
          <a:prstGeom prst="rect">
            <a:avLst/>
          </a:prstGeom>
          <a:noFill/>
        </p:spPr>
        <p:txBody>
          <a:bodyPr wrap="square">
            <a:spAutoFit/>
          </a:bodyPr>
          <a:lstStyle/>
          <a:p>
            <a:pPr algn="l"/>
            <a:r>
              <a:rPr sz="2000" b="1" i="0">
                <a:solidFill>
                  <a:srgbClr val="1A1A2E"/>
                </a:solidFill>
              </a:rPr>
              <a:t>= Style</a:t>
            </a:r>
          </a:p>
        </p:txBody>
      </p:sp>
      <p:sp>
        <p:nvSpPr>
          <p:cNvPr id="16" name="TextBox 15"/>
          <p:cNvSpPr txBox="1"/>
          <p:nvPr/>
        </p:nvSpPr>
        <p:spPr>
          <a:xfrm>
            <a:off x="594360" y="5257800"/>
            <a:ext cx="5074920" cy="822960"/>
          </a:xfrm>
          <a:prstGeom prst="rect">
            <a:avLst/>
          </a:prstGeom>
          <a:noFill/>
        </p:spPr>
        <p:txBody>
          <a:bodyPr wrap="square">
            <a:spAutoFit/>
          </a:bodyPr>
          <a:lstStyle/>
          <a:p>
            <a:pPr algn="l"/>
            <a:r>
              <a:rPr sz="1600" b="0" i="0">
                <a:solidFill>
                  <a:srgbClr val="444466"/>
                </a:solidFill>
              </a:rPr>
              <a:t>Writing style — academic, casual, technical, etc.</a:t>
            </a:r>
          </a:p>
        </p:txBody>
      </p:sp>
      <p:sp>
        <p:nvSpPr>
          <p:cNvPr id="17" name="Rounded Rectangle 16"/>
          <p:cNvSpPr/>
          <p:nvPr/>
        </p:nvSpPr>
        <p:spPr>
          <a:xfrm>
            <a:off x="63093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27632"/>
            <a:ext cx="548640" cy="502920"/>
          </a:xfrm>
          <a:prstGeom prst="rect">
            <a:avLst/>
          </a:prstGeom>
          <a:noFill/>
        </p:spPr>
        <p:txBody>
          <a:bodyPr wrap="square">
            <a:spAutoFit/>
          </a:bodyPr>
          <a:lstStyle/>
          <a:p>
            <a:pPr algn="l"/>
            <a:r>
              <a:rPr sz="3000" b="1" i="0">
                <a:solidFill>
                  <a:srgbClr val="6C35DE"/>
                </a:solidFill>
              </a:rPr>
              <a:t>T</a:t>
            </a:r>
          </a:p>
        </p:txBody>
      </p:sp>
      <p:sp>
        <p:nvSpPr>
          <p:cNvPr id="19" name="TextBox 18"/>
          <p:cNvSpPr txBox="1"/>
          <p:nvPr/>
        </p:nvSpPr>
        <p:spPr>
          <a:xfrm>
            <a:off x="6949440" y="1664207"/>
            <a:ext cx="4663440" cy="411480"/>
          </a:xfrm>
          <a:prstGeom prst="rect">
            <a:avLst/>
          </a:prstGeom>
          <a:noFill/>
        </p:spPr>
        <p:txBody>
          <a:bodyPr wrap="square">
            <a:spAutoFit/>
          </a:bodyPr>
          <a:lstStyle/>
          <a:p>
            <a:pPr algn="l"/>
            <a:r>
              <a:rPr sz="2000" b="1" i="0">
                <a:solidFill>
                  <a:srgbClr val="1A1A2E"/>
                </a:solidFill>
              </a:rPr>
              <a:t>= Tone</a:t>
            </a:r>
          </a:p>
        </p:txBody>
      </p:sp>
      <p:sp>
        <p:nvSpPr>
          <p:cNvPr id="20" name="TextBox 19"/>
          <p:cNvSpPr txBox="1"/>
          <p:nvPr/>
        </p:nvSpPr>
        <p:spPr>
          <a:xfrm>
            <a:off x="6537960" y="2057400"/>
            <a:ext cx="5074920" cy="822960"/>
          </a:xfrm>
          <a:prstGeom prst="rect">
            <a:avLst/>
          </a:prstGeom>
          <a:noFill/>
        </p:spPr>
        <p:txBody>
          <a:bodyPr wrap="square">
            <a:spAutoFit/>
          </a:bodyPr>
          <a:lstStyle/>
          <a:p>
            <a:pPr algn="l"/>
            <a:r>
              <a:rPr sz="1600" b="0" i="0">
                <a:solidFill>
                  <a:srgbClr val="444466"/>
                </a:solidFill>
              </a:rPr>
              <a:t>Emotional quality — encouraging, formal, witty, etc.</a:t>
            </a:r>
          </a:p>
        </p:txBody>
      </p:sp>
      <p:sp>
        <p:nvSpPr>
          <p:cNvPr id="21" name="Rounded Rectangle 20"/>
          <p:cNvSpPr/>
          <p:nvPr/>
        </p:nvSpPr>
        <p:spPr>
          <a:xfrm>
            <a:off x="63093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227832"/>
            <a:ext cx="548640" cy="502920"/>
          </a:xfrm>
          <a:prstGeom prst="rect">
            <a:avLst/>
          </a:prstGeom>
          <a:noFill/>
        </p:spPr>
        <p:txBody>
          <a:bodyPr wrap="square">
            <a:spAutoFit/>
          </a:bodyPr>
          <a:lstStyle/>
          <a:p>
            <a:pPr algn="l"/>
            <a:r>
              <a:rPr sz="3000" b="1" i="0">
                <a:solidFill>
                  <a:srgbClr val="6C35DE"/>
                </a:solidFill>
              </a:rPr>
              <a:t>A</a:t>
            </a:r>
          </a:p>
        </p:txBody>
      </p:sp>
      <p:sp>
        <p:nvSpPr>
          <p:cNvPr id="23" name="TextBox 22"/>
          <p:cNvSpPr txBox="1"/>
          <p:nvPr/>
        </p:nvSpPr>
        <p:spPr>
          <a:xfrm>
            <a:off x="6949440" y="3264408"/>
            <a:ext cx="4663440" cy="411480"/>
          </a:xfrm>
          <a:prstGeom prst="rect">
            <a:avLst/>
          </a:prstGeom>
          <a:noFill/>
        </p:spPr>
        <p:txBody>
          <a:bodyPr wrap="square">
            <a:spAutoFit/>
          </a:bodyPr>
          <a:lstStyle/>
          <a:p>
            <a:pPr algn="l"/>
            <a:r>
              <a:rPr sz="2000" b="1" i="0">
                <a:solidFill>
                  <a:srgbClr val="1A1A2E"/>
                </a:solidFill>
              </a:rPr>
              <a:t>= Audience</a:t>
            </a:r>
          </a:p>
        </p:txBody>
      </p:sp>
      <p:sp>
        <p:nvSpPr>
          <p:cNvPr id="24" name="TextBox 23"/>
          <p:cNvSpPr txBox="1"/>
          <p:nvPr/>
        </p:nvSpPr>
        <p:spPr>
          <a:xfrm>
            <a:off x="6537960" y="3657600"/>
            <a:ext cx="5074920" cy="822960"/>
          </a:xfrm>
          <a:prstGeom prst="rect">
            <a:avLst/>
          </a:prstGeom>
          <a:noFill/>
        </p:spPr>
        <p:txBody>
          <a:bodyPr wrap="square">
            <a:spAutoFit/>
          </a:bodyPr>
          <a:lstStyle/>
          <a:p>
            <a:pPr algn="l"/>
            <a:r>
              <a:rPr sz="1600" b="0" i="0">
                <a:solidFill>
                  <a:srgbClr val="444466"/>
                </a:solidFill>
              </a:rPr>
              <a:t>Who will consume the output? Tailor appropriately</a:t>
            </a:r>
          </a:p>
        </p:txBody>
      </p:sp>
      <p:sp>
        <p:nvSpPr>
          <p:cNvPr id="25" name="Rounded Rectangle 24"/>
          <p:cNvSpPr/>
          <p:nvPr/>
        </p:nvSpPr>
        <p:spPr>
          <a:xfrm>
            <a:off x="63093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828032"/>
            <a:ext cx="548640" cy="502920"/>
          </a:xfrm>
          <a:prstGeom prst="rect">
            <a:avLst/>
          </a:prstGeom>
          <a:noFill/>
        </p:spPr>
        <p:txBody>
          <a:bodyPr wrap="square">
            <a:spAutoFit/>
          </a:bodyPr>
          <a:lstStyle/>
          <a:p>
            <a:pPr algn="l"/>
            <a:r>
              <a:rPr sz="3000" b="1" i="0">
                <a:solidFill>
                  <a:srgbClr val="6C35DE"/>
                </a:solidFill>
              </a:rPr>
              <a:t>R</a:t>
            </a:r>
          </a:p>
        </p:txBody>
      </p:sp>
      <p:sp>
        <p:nvSpPr>
          <p:cNvPr id="27" name="TextBox 26"/>
          <p:cNvSpPr txBox="1"/>
          <p:nvPr/>
        </p:nvSpPr>
        <p:spPr>
          <a:xfrm>
            <a:off x="6949440" y="4864608"/>
            <a:ext cx="4663440" cy="411480"/>
          </a:xfrm>
          <a:prstGeom prst="rect">
            <a:avLst/>
          </a:prstGeom>
          <a:noFill/>
        </p:spPr>
        <p:txBody>
          <a:bodyPr wrap="square">
            <a:spAutoFit/>
          </a:bodyPr>
          <a:lstStyle/>
          <a:p>
            <a:pPr algn="l"/>
            <a:r>
              <a:rPr sz="2000" b="1" i="0">
                <a:solidFill>
                  <a:srgbClr val="1A1A2E"/>
                </a:solidFill>
              </a:rPr>
              <a:t>= Response</a:t>
            </a:r>
          </a:p>
        </p:txBody>
      </p:sp>
      <p:sp>
        <p:nvSpPr>
          <p:cNvPr id="28" name="TextBox 27"/>
          <p:cNvSpPr txBox="1"/>
          <p:nvPr/>
        </p:nvSpPr>
        <p:spPr>
          <a:xfrm>
            <a:off x="6537960" y="5257800"/>
            <a:ext cx="5074920" cy="822960"/>
          </a:xfrm>
          <a:prstGeom prst="rect">
            <a:avLst/>
          </a:prstGeom>
          <a:noFill/>
        </p:spPr>
        <p:txBody>
          <a:bodyPr wrap="square">
            <a:spAutoFit/>
          </a:bodyPr>
          <a:lstStyle/>
          <a:p>
            <a:pPr algn="l"/>
            <a:r>
              <a:rPr sz="1600" b="0" i="0">
                <a:solidFill>
                  <a:srgbClr val="444466"/>
                </a:solidFill>
              </a:rPr>
              <a:t>Desired output format — paragraph, list, JSON, etc.</a:t>
            </a:r>
          </a:p>
        </p:txBody>
      </p:sp>
      <p:sp>
        <p:nvSpPr>
          <p:cNvPr id="29" name="TextBox 28"/>
          <p:cNvSpPr txBox="1"/>
          <p:nvPr/>
        </p:nvSpPr>
        <p:spPr>
          <a:xfrm>
            <a:off x="365760" y="6537960"/>
            <a:ext cx="11430000" cy="320040"/>
          </a:xfrm>
          <a:prstGeom prst="rect">
            <a:avLst/>
          </a:prstGeom>
          <a:noFill/>
        </p:spPr>
        <p:txBody>
          <a:bodyPr wrap="square">
            <a:spAutoFit/>
          </a:bodyPr>
          <a:lstStyle/>
          <a:p>
            <a:pPr algn="l"/>
            <a:r>
              <a:rPr sz="1400" b="1" i="1">
                <a:solidFill>
                  <a:srgbClr val="6C35DE"/>
                </a:solidFill>
              </a:rPr>
              <a:t>Best for: Content creation tasks — blogs, emails, reports where style and audience matter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CRISPE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Capacity — Request — Insight — Statement — Personality — Experiment</a:t>
            </a:r>
          </a:p>
        </p:txBody>
      </p:sp>
      <p:sp>
        <p:nvSpPr>
          <p:cNvPr id="5" name="Rounded Rectangle 4"/>
          <p:cNvSpPr/>
          <p:nvPr/>
        </p:nvSpPr>
        <p:spPr>
          <a:xfrm>
            <a:off x="3657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E91E8C"/>
                </a:solidFill>
              </a:rPr>
              <a:t>C</a:t>
            </a:r>
          </a:p>
        </p:txBody>
      </p:sp>
      <p:sp>
        <p:nvSpPr>
          <p:cNvPr id="7" name="TextBox 6"/>
          <p:cNvSpPr txBox="1"/>
          <p:nvPr/>
        </p:nvSpPr>
        <p:spPr>
          <a:xfrm>
            <a:off x="1005840" y="1664207"/>
            <a:ext cx="4663440" cy="411480"/>
          </a:xfrm>
          <a:prstGeom prst="rect">
            <a:avLst/>
          </a:prstGeom>
          <a:noFill/>
        </p:spPr>
        <p:txBody>
          <a:bodyPr wrap="square">
            <a:spAutoFit/>
          </a:bodyPr>
          <a:lstStyle/>
          <a:p>
            <a:pPr algn="l"/>
            <a:r>
              <a:rPr sz="2000" b="1" i="0">
                <a:solidFill>
                  <a:srgbClr val="1A1A2E"/>
                </a:solidFill>
              </a:rPr>
              <a:t>= Capacity &amp; Role</a:t>
            </a:r>
          </a:p>
        </p:txBody>
      </p:sp>
      <p:sp>
        <p:nvSpPr>
          <p:cNvPr id="8" name="TextBox 7"/>
          <p:cNvSpPr txBox="1"/>
          <p:nvPr/>
        </p:nvSpPr>
        <p:spPr>
          <a:xfrm>
            <a:off x="594360" y="2057400"/>
            <a:ext cx="5074920" cy="822960"/>
          </a:xfrm>
          <a:prstGeom prst="rect">
            <a:avLst/>
          </a:prstGeom>
          <a:noFill/>
        </p:spPr>
        <p:txBody>
          <a:bodyPr wrap="square">
            <a:spAutoFit/>
          </a:bodyPr>
          <a:lstStyle/>
          <a:p>
            <a:pPr algn="l"/>
            <a:r>
              <a:rPr sz="1600" b="0" i="0">
                <a:solidFill>
                  <a:srgbClr val="444466"/>
                </a:solidFill>
              </a:rPr>
              <a:t>What role or capacity should the AI assume?</a:t>
            </a:r>
          </a:p>
        </p:txBody>
      </p:sp>
      <p:sp>
        <p:nvSpPr>
          <p:cNvPr id="9" name="Rounded Rectangle 8"/>
          <p:cNvSpPr/>
          <p:nvPr/>
        </p:nvSpPr>
        <p:spPr>
          <a:xfrm>
            <a:off x="3657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227832"/>
            <a:ext cx="548640" cy="502920"/>
          </a:xfrm>
          <a:prstGeom prst="rect">
            <a:avLst/>
          </a:prstGeom>
          <a:noFill/>
        </p:spPr>
        <p:txBody>
          <a:bodyPr wrap="square">
            <a:spAutoFit/>
          </a:bodyPr>
          <a:lstStyle/>
          <a:p>
            <a:pPr algn="l"/>
            <a:r>
              <a:rPr sz="3000" b="1" i="0">
                <a:solidFill>
                  <a:srgbClr val="E91E8C"/>
                </a:solidFill>
              </a:rPr>
              <a:t>R</a:t>
            </a:r>
          </a:p>
        </p:txBody>
      </p:sp>
      <p:sp>
        <p:nvSpPr>
          <p:cNvPr id="11" name="TextBox 10"/>
          <p:cNvSpPr txBox="1"/>
          <p:nvPr/>
        </p:nvSpPr>
        <p:spPr>
          <a:xfrm>
            <a:off x="1005840" y="3264408"/>
            <a:ext cx="4663440" cy="411480"/>
          </a:xfrm>
          <a:prstGeom prst="rect">
            <a:avLst/>
          </a:prstGeom>
          <a:noFill/>
        </p:spPr>
        <p:txBody>
          <a:bodyPr wrap="square">
            <a:spAutoFit/>
          </a:bodyPr>
          <a:lstStyle/>
          <a:p>
            <a:pPr algn="l"/>
            <a:r>
              <a:rPr sz="2000" b="1" i="0">
                <a:solidFill>
                  <a:srgbClr val="1A1A2E"/>
                </a:solidFill>
              </a:rPr>
              <a:t>= Request</a:t>
            </a:r>
          </a:p>
        </p:txBody>
      </p:sp>
      <p:sp>
        <p:nvSpPr>
          <p:cNvPr id="12" name="TextBox 11"/>
          <p:cNvSpPr txBox="1"/>
          <p:nvPr/>
        </p:nvSpPr>
        <p:spPr>
          <a:xfrm>
            <a:off x="594360" y="3657600"/>
            <a:ext cx="5074920" cy="822960"/>
          </a:xfrm>
          <a:prstGeom prst="rect">
            <a:avLst/>
          </a:prstGeom>
          <a:noFill/>
        </p:spPr>
        <p:txBody>
          <a:bodyPr wrap="square">
            <a:spAutoFit/>
          </a:bodyPr>
          <a:lstStyle/>
          <a:p>
            <a:pPr algn="l"/>
            <a:r>
              <a:rPr sz="1600" b="0" i="0">
                <a:solidFill>
                  <a:srgbClr val="444466"/>
                </a:solidFill>
              </a:rPr>
              <a:t>What specific output are you asking for?</a:t>
            </a:r>
          </a:p>
        </p:txBody>
      </p:sp>
      <p:sp>
        <p:nvSpPr>
          <p:cNvPr id="13" name="Rounded Rectangle 12"/>
          <p:cNvSpPr/>
          <p:nvPr/>
        </p:nvSpPr>
        <p:spPr>
          <a:xfrm>
            <a:off x="3657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828032"/>
            <a:ext cx="548640" cy="502920"/>
          </a:xfrm>
          <a:prstGeom prst="rect">
            <a:avLst/>
          </a:prstGeom>
          <a:noFill/>
        </p:spPr>
        <p:txBody>
          <a:bodyPr wrap="square">
            <a:spAutoFit/>
          </a:bodyPr>
          <a:lstStyle/>
          <a:p>
            <a:pPr algn="l"/>
            <a:r>
              <a:rPr sz="3000" b="1" i="0">
                <a:solidFill>
                  <a:srgbClr val="E91E8C"/>
                </a:solidFill>
              </a:rPr>
              <a:t>I</a:t>
            </a:r>
          </a:p>
        </p:txBody>
      </p:sp>
      <p:sp>
        <p:nvSpPr>
          <p:cNvPr id="15" name="TextBox 14"/>
          <p:cNvSpPr txBox="1"/>
          <p:nvPr/>
        </p:nvSpPr>
        <p:spPr>
          <a:xfrm>
            <a:off x="1005840" y="4864608"/>
            <a:ext cx="4663440" cy="411480"/>
          </a:xfrm>
          <a:prstGeom prst="rect">
            <a:avLst/>
          </a:prstGeom>
          <a:noFill/>
        </p:spPr>
        <p:txBody>
          <a:bodyPr wrap="square">
            <a:spAutoFit/>
          </a:bodyPr>
          <a:lstStyle/>
          <a:p>
            <a:pPr algn="l"/>
            <a:r>
              <a:rPr sz="2000" b="1" i="0">
                <a:solidFill>
                  <a:srgbClr val="1A1A2E"/>
                </a:solidFill>
              </a:rPr>
              <a:t>= Insight</a:t>
            </a:r>
          </a:p>
        </p:txBody>
      </p:sp>
      <p:sp>
        <p:nvSpPr>
          <p:cNvPr id="16" name="TextBox 15"/>
          <p:cNvSpPr txBox="1"/>
          <p:nvPr/>
        </p:nvSpPr>
        <p:spPr>
          <a:xfrm>
            <a:off x="594360" y="5257800"/>
            <a:ext cx="5074920" cy="822960"/>
          </a:xfrm>
          <a:prstGeom prst="rect">
            <a:avLst/>
          </a:prstGeom>
          <a:noFill/>
        </p:spPr>
        <p:txBody>
          <a:bodyPr wrap="square">
            <a:spAutoFit/>
          </a:bodyPr>
          <a:lstStyle/>
          <a:p>
            <a:pPr algn="l"/>
            <a:r>
              <a:rPr sz="1600" b="0" i="0">
                <a:solidFill>
                  <a:srgbClr val="444466"/>
                </a:solidFill>
              </a:rPr>
              <a:t>What background knowledge or data should it consider?</a:t>
            </a:r>
          </a:p>
        </p:txBody>
      </p:sp>
      <p:sp>
        <p:nvSpPr>
          <p:cNvPr id="17" name="Rounded Rectangle 16"/>
          <p:cNvSpPr/>
          <p:nvPr/>
        </p:nvSpPr>
        <p:spPr>
          <a:xfrm>
            <a:off x="6309360" y="15544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27632"/>
            <a:ext cx="548640" cy="502920"/>
          </a:xfrm>
          <a:prstGeom prst="rect">
            <a:avLst/>
          </a:prstGeom>
          <a:noFill/>
        </p:spPr>
        <p:txBody>
          <a:bodyPr wrap="square">
            <a:spAutoFit/>
          </a:bodyPr>
          <a:lstStyle/>
          <a:p>
            <a:pPr algn="l"/>
            <a:r>
              <a:rPr sz="3000" b="1" i="0">
                <a:solidFill>
                  <a:srgbClr val="E91E8C"/>
                </a:solidFill>
              </a:rPr>
              <a:t>S</a:t>
            </a:r>
          </a:p>
        </p:txBody>
      </p:sp>
      <p:sp>
        <p:nvSpPr>
          <p:cNvPr id="19" name="TextBox 18"/>
          <p:cNvSpPr txBox="1"/>
          <p:nvPr/>
        </p:nvSpPr>
        <p:spPr>
          <a:xfrm>
            <a:off x="6949440" y="1664207"/>
            <a:ext cx="4663440" cy="411480"/>
          </a:xfrm>
          <a:prstGeom prst="rect">
            <a:avLst/>
          </a:prstGeom>
          <a:noFill/>
        </p:spPr>
        <p:txBody>
          <a:bodyPr wrap="square">
            <a:spAutoFit/>
          </a:bodyPr>
          <a:lstStyle/>
          <a:p>
            <a:pPr algn="l"/>
            <a:r>
              <a:rPr sz="2000" b="1" i="0">
                <a:solidFill>
                  <a:srgbClr val="1A1A2E"/>
                </a:solidFill>
              </a:rPr>
              <a:t>= Statement</a:t>
            </a:r>
          </a:p>
        </p:txBody>
      </p:sp>
      <p:sp>
        <p:nvSpPr>
          <p:cNvPr id="20" name="TextBox 19"/>
          <p:cNvSpPr txBox="1"/>
          <p:nvPr/>
        </p:nvSpPr>
        <p:spPr>
          <a:xfrm>
            <a:off x="6537960" y="2057400"/>
            <a:ext cx="5074920" cy="822960"/>
          </a:xfrm>
          <a:prstGeom prst="rect">
            <a:avLst/>
          </a:prstGeom>
          <a:noFill/>
        </p:spPr>
        <p:txBody>
          <a:bodyPr wrap="square">
            <a:spAutoFit/>
          </a:bodyPr>
          <a:lstStyle/>
          <a:p>
            <a:pPr algn="l"/>
            <a:r>
              <a:rPr sz="1600" b="0" i="0">
                <a:solidFill>
                  <a:srgbClr val="444466"/>
                </a:solidFill>
              </a:rPr>
              <a:t>Clear statement of what you want delivered</a:t>
            </a:r>
          </a:p>
        </p:txBody>
      </p:sp>
      <p:sp>
        <p:nvSpPr>
          <p:cNvPr id="21" name="Rounded Rectangle 20"/>
          <p:cNvSpPr/>
          <p:nvPr/>
        </p:nvSpPr>
        <p:spPr>
          <a:xfrm>
            <a:off x="6309360" y="31546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227832"/>
            <a:ext cx="548640" cy="502920"/>
          </a:xfrm>
          <a:prstGeom prst="rect">
            <a:avLst/>
          </a:prstGeom>
          <a:noFill/>
        </p:spPr>
        <p:txBody>
          <a:bodyPr wrap="square">
            <a:spAutoFit/>
          </a:bodyPr>
          <a:lstStyle/>
          <a:p>
            <a:pPr algn="l"/>
            <a:r>
              <a:rPr sz="3000" b="1" i="0">
                <a:solidFill>
                  <a:srgbClr val="E91E8C"/>
                </a:solidFill>
              </a:rPr>
              <a:t>P</a:t>
            </a:r>
          </a:p>
        </p:txBody>
      </p:sp>
      <p:sp>
        <p:nvSpPr>
          <p:cNvPr id="23" name="TextBox 22"/>
          <p:cNvSpPr txBox="1"/>
          <p:nvPr/>
        </p:nvSpPr>
        <p:spPr>
          <a:xfrm>
            <a:off x="6949440" y="3264408"/>
            <a:ext cx="4663440" cy="411480"/>
          </a:xfrm>
          <a:prstGeom prst="rect">
            <a:avLst/>
          </a:prstGeom>
          <a:noFill/>
        </p:spPr>
        <p:txBody>
          <a:bodyPr wrap="square">
            <a:spAutoFit/>
          </a:bodyPr>
          <a:lstStyle/>
          <a:p>
            <a:pPr algn="l"/>
            <a:r>
              <a:rPr sz="2000" b="1" i="0">
                <a:solidFill>
                  <a:srgbClr val="1A1A2E"/>
                </a:solidFill>
              </a:rPr>
              <a:t>= Personality</a:t>
            </a:r>
          </a:p>
        </p:txBody>
      </p:sp>
      <p:sp>
        <p:nvSpPr>
          <p:cNvPr id="24" name="TextBox 23"/>
          <p:cNvSpPr txBox="1"/>
          <p:nvPr/>
        </p:nvSpPr>
        <p:spPr>
          <a:xfrm>
            <a:off x="6537960" y="3657600"/>
            <a:ext cx="5074920" cy="822960"/>
          </a:xfrm>
          <a:prstGeom prst="rect">
            <a:avLst/>
          </a:prstGeom>
          <a:noFill/>
        </p:spPr>
        <p:txBody>
          <a:bodyPr wrap="square">
            <a:spAutoFit/>
          </a:bodyPr>
          <a:lstStyle/>
          <a:p>
            <a:pPr algn="l"/>
            <a:r>
              <a:rPr sz="1600" b="0" i="0">
                <a:solidFill>
                  <a:srgbClr val="444466"/>
                </a:solidFill>
              </a:rPr>
              <a:t>What style or personality should the response reflect?</a:t>
            </a:r>
          </a:p>
        </p:txBody>
      </p:sp>
      <p:sp>
        <p:nvSpPr>
          <p:cNvPr id="25" name="Rounded Rectangle 24"/>
          <p:cNvSpPr/>
          <p:nvPr/>
        </p:nvSpPr>
        <p:spPr>
          <a:xfrm>
            <a:off x="6309360" y="4754880"/>
            <a:ext cx="5486400" cy="14173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828032"/>
            <a:ext cx="548640" cy="502920"/>
          </a:xfrm>
          <a:prstGeom prst="rect">
            <a:avLst/>
          </a:prstGeom>
          <a:noFill/>
        </p:spPr>
        <p:txBody>
          <a:bodyPr wrap="square">
            <a:spAutoFit/>
          </a:bodyPr>
          <a:lstStyle/>
          <a:p>
            <a:pPr algn="l"/>
            <a:r>
              <a:rPr sz="3000" b="1" i="0">
                <a:solidFill>
                  <a:srgbClr val="E91E8C"/>
                </a:solidFill>
              </a:rPr>
              <a:t>E</a:t>
            </a:r>
          </a:p>
        </p:txBody>
      </p:sp>
      <p:sp>
        <p:nvSpPr>
          <p:cNvPr id="27" name="TextBox 26"/>
          <p:cNvSpPr txBox="1"/>
          <p:nvPr/>
        </p:nvSpPr>
        <p:spPr>
          <a:xfrm>
            <a:off x="6949440" y="4864608"/>
            <a:ext cx="4663440" cy="411480"/>
          </a:xfrm>
          <a:prstGeom prst="rect">
            <a:avLst/>
          </a:prstGeom>
          <a:noFill/>
        </p:spPr>
        <p:txBody>
          <a:bodyPr wrap="square">
            <a:spAutoFit/>
          </a:bodyPr>
          <a:lstStyle/>
          <a:p>
            <a:pPr algn="l"/>
            <a:r>
              <a:rPr sz="2000" b="1" i="0">
                <a:solidFill>
                  <a:srgbClr val="1A1A2E"/>
                </a:solidFill>
              </a:rPr>
              <a:t>= Experiment</a:t>
            </a:r>
          </a:p>
        </p:txBody>
      </p:sp>
      <p:sp>
        <p:nvSpPr>
          <p:cNvPr id="28" name="TextBox 27"/>
          <p:cNvSpPr txBox="1"/>
          <p:nvPr/>
        </p:nvSpPr>
        <p:spPr>
          <a:xfrm>
            <a:off x="6537960" y="5257800"/>
            <a:ext cx="5074920" cy="822960"/>
          </a:xfrm>
          <a:prstGeom prst="rect">
            <a:avLst/>
          </a:prstGeom>
          <a:noFill/>
        </p:spPr>
        <p:txBody>
          <a:bodyPr wrap="square">
            <a:spAutoFit/>
          </a:bodyPr>
          <a:lstStyle/>
          <a:p>
            <a:pPr algn="l"/>
            <a:r>
              <a:rPr sz="1600" b="0" i="0">
                <a:solidFill>
                  <a:srgbClr val="444466"/>
                </a:solidFill>
              </a:rPr>
              <a:t>Ask for multiple variations or options to compare</a:t>
            </a:r>
          </a:p>
        </p:txBody>
      </p:sp>
      <p:sp>
        <p:nvSpPr>
          <p:cNvPr id="29" name="TextBox 28"/>
          <p:cNvSpPr txBox="1"/>
          <p:nvPr/>
        </p:nvSpPr>
        <p:spPr>
          <a:xfrm>
            <a:off x="365760" y="6537960"/>
            <a:ext cx="11430000" cy="320040"/>
          </a:xfrm>
          <a:prstGeom prst="rect">
            <a:avLst/>
          </a:prstGeom>
          <a:noFill/>
        </p:spPr>
        <p:txBody>
          <a:bodyPr wrap="square">
            <a:spAutoFit/>
          </a:bodyPr>
          <a:lstStyle/>
          <a:p>
            <a:pPr algn="l"/>
            <a:r>
              <a:rPr sz="1400" b="1" i="1">
                <a:solidFill>
                  <a:srgbClr val="E91E8C"/>
                </a:solidFill>
              </a:rPr>
              <a:t>Best for: Creative and exploratory tasks — brainstorming, ideation, generating multiple options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RISEN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Role — Instructions — Steps — End Goal — Narrowing</a:t>
            </a:r>
          </a:p>
        </p:txBody>
      </p:sp>
      <p:sp>
        <p:nvSpPr>
          <p:cNvPr id="5" name="Rounded Rectangle 4"/>
          <p:cNvSpPr/>
          <p:nvPr/>
        </p:nvSpPr>
        <p:spPr>
          <a:xfrm>
            <a:off x="365760" y="1554480"/>
            <a:ext cx="54864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FF6D00"/>
                </a:solidFill>
              </a:rPr>
              <a:t>R</a:t>
            </a:r>
          </a:p>
        </p:txBody>
      </p:sp>
      <p:sp>
        <p:nvSpPr>
          <p:cNvPr id="7" name="TextBox 6"/>
          <p:cNvSpPr txBox="1"/>
          <p:nvPr/>
        </p:nvSpPr>
        <p:spPr>
          <a:xfrm>
            <a:off x="1005840" y="1664207"/>
            <a:ext cx="4663440" cy="411480"/>
          </a:xfrm>
          <a:prstGeom prst="rect">
            <a:avLst/>
          </a:prstGeom>
          <a:noFill/>
        </p:spPr>
        <p:txBody>
          <a:bodyPr wrap="square">
            <a:spAutoFit/>
          </a:bodyPr>
          <a:lstStyle/>
          <a:p>
            <a:pPr algn="l"/>
            <a:r>
              <a:rPr sz="2000" b="1" i="0">
                <a:solidFill>
                  <a:srgbClr val="1A1A2E"/>
                </a:solidFill>
              </a:rPr>
              <a:t>= Role</a:t>
            </a:r>
          </a:p>
        </p:txBody>
      </p:sp>
      <p:sp>
        <p:nvSpPr>
          <p:cNvPr id="8" name="TextBox 7"/>
          <p:cNvSpPr txBox="1"/>
          <p:nvPr/>
        </p:nvSpPr>
        <p:spPr>
          <a:xfrm>
            <a:off x="594360" y="2057400"/>
            <a:ext cx="5074920" cy="320040"/>
          </a:xfrm>
          <a:prstGeom prst="rect">
            <a:avLst/>
          </a:prstGeom>
          <a:noFill/>
        </p:spPr>
        <p:txBody>
          <a:bodyPr wrap="square">
            <a:spAutoFit/>
          </a:bodyPr>
          <a:lstStyle/>
          <a:p>
            <a:pPr algn="l"/>
            <a:r>
              <a:rPr sz="1600" b="0" i="0">
                <a:solidFill>
                  <a:srgbClr val="444466"/>
                </a:solidFill>
              </a:rPr>
              <a:t>Assign a specific role or expert persona</a:t>
            </a:r>
          </a:p>
        </p:txBody>
      </p:sp>
      <p:sp>
        <p:nvSpPr>
          <p:cNvPr id="9" name="Rounded Rectangle 8"/>
          <p:cNvSpPr/>
          <p:nvPr/>
        </p:nvSpPr>
        <p:spPr>
          <a:xfrm>
            <a:off x="365760" y="2606039"/>
            <a:ext cx="54864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679191"/>
            <a:ext cx="548640" cy="502920"/>
          </a:xfrm>
          <a:prstGeom prst="rect">
            <a:avLst/>
          </a:prstGeom>
          <a:noFill/>
        </p:spPr>
        <p:txBody>
          <a:bodyPr wrap="square">
            <a:spAutoFit/>
          </a:bodyPr>
          <a:lstStyle/>
          <a:p>
            <a:pPr algn="l"/>
            <a:r>
              <a:rPr sz="3000" b="1" i="0">
                <a:solidFill>
                  <a:srgbClr val="FF6D00"/>
                </a:solidFill>
              </a:rPr>
              <a:t>I</a:t>
            </a:r>
          </a:p>
        </p:txBody>
      </p:sp>
      <p:sp>
        <p:nvSpPr>
          <p:cNvPr id="11" name="TextBox 10"/>
          <p:cNvSpPr txBox="1"/>
          <p:nvPr/>
        </p:nvSpPr>
        <p:spPr>
          <a:xfrm>
            <a:off x="1005840" y="2715768"/>
            <a:ext cx="4663440" cy="411480"/>
          </a:xfrm>
          <a:prstGeom prst="rect">
            <a:avLst/>
          </a:prstGeom>
          <a:noFill/>
        </p:spPr>
        <p:txBody>
          <a:bodyPr wrap="square">
            <a:spAutoFit/>
          </a:bodyPr>
          <a:lstStyle/>
          <a:p>
            <a:pPr algn="l"/>
            <a:r>
              <a:rPr sz="2000" b="1" i="0">
                <a:solidFill>
                  <a:srgbClr val="1A1A2E"/>
                </a:solidFill>
              </a:rPr>
              <a:t>= Instructions</a:t>
            </a:r>
          </a:p>
        </p:txBody>
      </p:sp>
      <p:sp>
        <p:nvSpPr>
          <p:cNvPr id="12" name="TextBox 11"/>
          <p:cNvSpPr txBox="1"/>
          <p:nvPr/>
        </p:nvSpPr>
        <p:spPr>
          <a:xfrm>
            <a:off x="594360" y="3108959"/>
            <a:ext cx="5074920" cy="320040"/>
          </a:xfrm>
          <a:prstGeom prst="rect">
            <a:avLst/>
          </a:prstGeom>
          <a:noFill/>
        </p:spPr>
        <p:txBody>
          <a:bodyPr wrap="square">
            <a:spAutoFit/>
          </a:bodyPr>
          <a:lstStyle/>
          <a:p>
            <a:pPr algn="l"/>
            <a:r>
              <a:rPr sz="1600" b="0" i="0">
                <a:solidFill>
                  <a:srgbClr val="444466"/>
                </a:solidFill>
              </a:rPr>
              <a:t>Provide clear, detailed instructions</a:t>
            </a:r>
          </a:p>
        </p:txBody>
      </p:sp>
      <p:sp>
        <p:nvSpPr>
          <p:cNvPr id="13" name="Rounded Rectangle 12"/>
          <p:cNvSpPr/>
          <p:nvPr/>
        </p:nvSpPr>
        <p:spPr>
          <a:xfrm>
            <a:off x="365760" y="3657600"/>
            <a:ext cx="54864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730752"/>
            <a:ext cx="548640" cy="502920"/>
          </a:xfrm>
          <a:prstGeom prst="rect">
            <a:avLst/>
          </a:prstGeom>
          <a:noFill/>
        </p:spPr>
        <p:txBody>
          <a:bodyPr wrap="square">
            <a:spAutoFit/>
          </a:bodyPr>
          <a:lstStyle/>
          <a:p>
            <a:pPr algn="l"/>
            <a:r>
              <a:rPr sz="3000" b="1" i="0">
                <a:solidFill>
                  <a:srgbClr val="FF6D00"/>
                </a:solidFill>
              </a:rPr>
              <a:t>S</a:t>
            </a:r>
          </a:p>
        </p:txBody>
      </p:sp>
      <p:sp>
        <p:nvSpPr>
          <p:cNvPr id="15" name="TextBox 14"/>
          <p:cNvSpPr txBox="1"/>
          <p:nvPr/>
        </p:nvSpPr>
        <p:spPr>
          <a:xfrm>
            <a:off x="1005840" y="3767328"/>
            <a:ext cx="4663440" cy="411480"/>
          </a:xfrm>
          <a:prstGeom prst="rect">
            <a:avLst/>
          </a:prstGeom>
          <a:noFill/>
        </p:spPr>
        <p:txBody>
          <a:bodyPr wrap="square">
            <a:spAutoFit/>
          </a:bodyPr>
          <a:lstStyle/>
          <a:p>
            <a:pPr algn="l"/>
            <a:r>
              <a:rPr sz="2000" b="1" i="0">
                <a:solidFill>
                  <a:srgbClr val="1A1A2E"/>
                </a:solidFill>
              </a:rPr>
              <a:t>= Steps</a:t>
            </a:r>
          </a:p>
        </p:txBody>
      </p:sp>
      <p:sp>
        <p:nvSpPr>
          <p:cNvPr id="16" name="TextBox 15"/>
          <p:cNvSpPr txBox="1"/>
          <p:nvPr/>
        </p:nvSpPr>
        <p:spPr>
          <a:xfrm>
            <a:off x="594360" y="4160520"/>
            <a:ext cx="5074920" cy="320040"/>
          </a:xfrm>
          <a:prstGeom prst="rect">
            <a:avLst/>
          </a:prstGeom>
          <a:noFill/>
        </p:spPr>
        <p:txBody>
          <a:bodyPr wrap="square">
            <a:spAutoFit/>
          </a:bodyPr>
          <a:lstStyle/>
          <a:p>
            <a:pPr algn="l"/>
            <a:r>
              <a:rPr sz="1600" b="0" i="0">
                <a:solidFill>
                  <a:srgbClr val="444466"/>
                </a:solidFill>
              </a:rPr>
              <a:t>Break the task into sequential steps</a:t>
            </a:r>
          </a:p>
        </p:txBody>
      </p:sp>
      <p:sp>
        <p:nvSpPr>
          <p:cNvPr id="17" name="Rounded Rectangle 16"/>
          <p:cNvSpPr/>
          <p:nvPr/>
        </p:nvSpPr>
        <p:spPr>
          <a:xfrm>
            <a:off x="6309360" y="1554480"/>
            <a:ext cx="54864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27632"/>
            <a:ext cx="548640" cy="502920"/>
          </a:xfrm>
          <a:prstGeom prst="rect">
            <a:avLst/>
          </a:prstGeom>
          <a:noFill/>
        </p:spPr>
        <p:txBody>
          <a:bodyPr wrap="square">
            <a:spAutoFit/>
          </a:bodyPr>
          <a:lstStyle/>
          <a:p>
            <a:pPr algn="l"/>
            <a:r>
              <a:rPr sz="3000" b="1" i="0">
                <a:solidFill>
                  <a:srgbClr val="FF6D00"/>
                </a:solidFill>
              </a:rPr>
              <a:t>E</a:t>
            </a:r>
          </a:p>
        </p:txBody>
      </p:sp>
      <p:sp>
        <p:nvSpPr>
          <p:cNvPr id="19" name="TextBox 18"/>
          <p:cNvSpPr txBox="1"/>
          <p:nvPr/>
        </p:nvSpPr>
        <p:spPr>
          <a:xfrm>
            <a:off x="6949440" y="1664207"/>
            <a:ext cx="4663440" cy="411480"/>
          </a:xfrm>
          <a:prstGeom prst="rect">
            <a:avLst/>
          </a:prstGeom>
          <a:noFill/>
        </p:spPr>
        <p:txBody>
          <a:bodyPr wrap="square">
            <a:spAutoFit/>
          </a:bodyPr>
          <a:lstStyle/>
          <a:p>
            <a:pPr algn="l"/>
            <a:r>
              <a:rPr sz="2000" b="1" i="0">
                <a:solidFill>
                  <a:srgbClr val="1A1A2E"/>
                </a:solidFill>
              </a:rPr>
              <a:t>= End Goal</a:t>
            </a:r>
          </a:p>
        </p:txBody>
      </p:sp>
      <p:sp>
        <p:nvSpPr>
          <p:cNvPr id="20" name="TextBox 19"/>
          <p:cNvSpPr txBox="1"/>
          <p:nvPr/>
        </p:nvSpPr>
        <p:spPr>
          <a:xfrm>
            <a:off x="6537960" y="2057400"/>
            <a:ext cx="5074920" cy="320040"/>
          </a:xfrm>
          <a:prstGeom prst="rect">
            <a:avLst/>
          </a:prstGeom>
          <a:noFill/>
        </p:spPr>
        <p:txBody>
          <a:bodyPr wrap="square">
            <a:spAutoFit/>
          </a:bodyPr>
          <a:lstStyle/>
          <a:p>
            <a:pPr algn="l"/>
            <a:r>
              <a:rPr sz="1600" b="0" i="0">
                <a:solidFill>
                  <a:srgbClr val="444466"/>
                </a:solidFill>
              </a:rPr>
              <a:t>Define what success looks like</a:t>
            </a:r>
          </a:p>
        </p:txBody>
      </p:sp>
      <p:sp>
        <p:nvSpPr>
          <p:cNvPr id="21" name="Rounded Rectangle 20"/>
          <p:cNvSpPr/>
          <p:nvPr/>
        </p:nvSpPr>
        <p:spPr>
          <a:xfrm>
            <a:off x="6309360" y="2606039"/>
            <a:ext cx="54864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679191"/>
            <a:ext cx="548640" cy="502920"/>
          </a:xfrm>
          <a:prstGeom prst="rect">
            <a:avLst/>
          </a:prstGeom>
          <a:noFill/>
        </p:spPr>
        <p:txBody>
          <a:bodyPr wrap="square">
            <a:spAutoFit/>
          </a:bodyPr>
          <a:lstStyle/>
          <a:p>
            <a:pPr algn="l"/>
            <a:r>
              <a:rPr sz="3000" b="1" i="0">
                <a:solidFill>
                  <a:srgbClr val="FF6D00"/>
                </a:solidFill>
              </a:rPr>
              <a:t>N</a:t>
            </a:r>
          </a:p>
        </p:txBody>
      </p:sp>
      <p:sp>
        <p:nvSpPr>
          <p:cNvPr id="23" name="TextBox 22"/>
          <p:cNvSpPr txBox="1"/>
          <p:nvPr/>
        </p:nvSpPr>
        <p:spPr>
          <a:xfrm>
            <a:off x="6949440" y="2715768"/>
            <a:ext cx="4663440" cy="411480"/>
          </a:xfrm>
          <a:prstGeom prst="rect">
            <a:avLst/>
          </a:prstGeom>
          <a:noFill/>
        </p:spPr>
        <p:txBody>
          <a:bodyPr wrap="square">
            <a:spAutoFit/>
          </a:bodyPr>
          <a:lstStyle/>
          <a:p>
            <a:pPr algn="l"/>
            <a:r>
              <a:rPr sz="2000" b="1" i="0">
                <a:solidFill>
                  <a:srgbClr val="1A1A2E"/>
                </a:solidFill>
              </a:rPr>
              <a:t>= Narrowing</a:t>
            </a:r>
          </a:p>
        </p:txBody>
      </p:sp>
      <p:sp>
        <p:nvSpPr>
          <p:cNvPr id="24" name="TextBox 23"/>
          <p:cNvSpPr txBox="1"/>
          <p:nvPr/>
        </p:nvSpPr>
        <p:spPr>
          <a:xfrm>
            <a:off x="6537960" y="3108959"/>
            <a:ext cx="5074920" cy="320040"/>
          </a:xfrm>
          <a:prstGeom prst="rect">
            <a:avLst/>
          </a:prstGeom>
          <a:noFill/>
        </p:spPr>
        <p:txBody>
          <a:bodyPr wrap="square">
            <a:spAutoFit/>
          </a:bodyPr>
          <a:lstStyle/>
          <a:p>
            <a:pPr algn="l"/>
            <a:r>
              <a:rPr sz="1600" b="0" i="0">
                <a:solidFill>
                  <a:srgbClr val="444466"/>
                </a:solidFill>
              </a:rPr>
              <a:t>Add constraints to focus the output</a:t>
            </a:r>
          </a:p>
        </p:txBody>
      </p:sp>
      <p:sp>
        <p:nvSpPr>
          <p:cNvPr id="25" name="Rounded Rectangle 24"/>
          <p:cNvSpPr/>
          <p:nvPr/>
        </p:nvSpPr>
        <p:spPr>
          <a:xfrm>
            <a:off x="365760" y="4754880"/>
            <a:ext cx="11430000" cy="1645920"/>
          </a:xfrm>
          <a:prstGeom prst="roundRect">
            <a:avLst/>
          </a:prstGeom>
          <a:solidFill>
            <a:srgbClr val="FD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846320"/>
            <a:ext cx="4572000" cy="320040"/>
          </a:xfrm>
          <a:prstGeom prst="rect">
            <a:avLst/>
          </a:prstGeom>
          <a:noFill/>
        </p:spPr>
        <p:txBody>
          <a:bodyPr wrap="square">
            <a:spAutoFit/>
          </a:bodyPr>
          <a:lstStyle/>
          <a:p>
            <a:pPr algn="l"/>
            <a:r>
              <a:rPr sz="1800" b="1" i="0">
                <a:solidFill>
                  <a:srgbClr val="FF6D00"/>
                </a:solidFill>
              </a:rPr>
              <a:t>When to use RISEN:</a:t>
            </a:r>
          </a:p>
        </p:txBody>
      </p:sp>
      <p:sp>
        <p:nvSpPr>
          <p:cNvPr id="27" name="TextBox 26"/>
          <p:cNvSpPr txBox="1"/>
          <p:nvPr/>
        </p:nvSpPr>
        <p:spPr>
          <a:xfrm>
            <a:off x="548640" y="5212080"/>
            <a:ext cx="10972800" cy="1097280"/>
          </a:xfrm>
          <a:prstGeom prst="rect">
            <a:avLst/>
          </a:prstGeom>
          <a:noFill/>
        </p:spPr>
        <p:txBody>
          <a:bodyPr wrap="square">
            <a:spAutoFit/>
          </a:bodyPr>
          <a:lstStyle/>
          <a:p>
            <a:pPr algn="l"/>
            <a:r>
              <a:rPr sz="1600" b="0" i="0">
                <a:solidFill>
                  <a:srgbClr val="444466"/>
                </a:solidFill>
              </a:rPr>
              <a:t>Ideal for multi-step tasks where you need procedural accuracy — like writing a project plan, debugging code, or building a lesson plan. The "Steps" and "Narrowing" components make it especially powerful for complex, structured outputs.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RACE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Role — Action — Context — Expectation</a:t>
            </a:r>
          </a:p>
        </p:txBody>
      </p:sp>
      <p:sp>
        <p:nvSpPr>
          <p:cNvPr id="5" name="Rounded Rectangle 4"/>
          <p:cNvSpPr/>
          <p:nvPr/>
        </p:nvSpPr>
        <p:spPr>
          <a:xfrm>
            <a:off x="365760" y="1554480"/>
            <a:ext cx="5486400" cy="16459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27632"/>
            <a:ext cx="548640" cy="502920"/>
          </a:xfrm>
          <a:prstGeom prst="rect">
            <a:avLst/>
          </a:prstGeom>
          <a:noFill/>
        </p:spPr>
        <p:txBody>
          <a:bodyPr wrap="square">
            <a:spAutoFit/>
          </a:bodyPr>
          <a:lstStyle/>
          <a:p>
            <a:pPr algn="l"/>
            <a:r>
              <a:rPr sz="3000" b="1" i="0">
                <a:solidFill>
                  <a:srgbClr val="00C853"/>
                </a:solidFill>
              </a:rPr>
              <a:t>R</a:t>
            </a:r>
          </a:p>
        </p:txBody>
      </p:sp>
      <p:sp>
        <p:nvSpPr>
          <p:cNvPr id="7" name="TextBox 6"/>
          <p:cNvSpPr txBox="1"/>
          <p:nvPr/>
        </p:nvSpPr>
        <p:spPr>
          <a:xfrm>
            <a:off x="1005840" y="1664207"/>
            <a:ext cx="4663440" cy="411480"/>
          </a:xfrm>
          <a:prstGeom prst="rect">
            <a:avLst/>
          </a:prstGeom>
          <a:noFill/>
        </p:spPr>
        <p:txBody>
          <a:bodyPr wrap="square">
            <a:spAutoFit/>
          </a:bodyPr>
          <a:lstStyle/>
          <a:p>
            <a:pPr algn="l"/>
            <a:r>
              <a:rPr sz="2000" b="1" i="0">
                <a:solidFill>
                  <a:srgbClr val="1A1A2E"/>
                </a:solidFill>
              </a:rPr>
              <a:t>= Role</a:t>
            </a:r>
          </a:p>
        </p:txBody>
      </p:sp>
      <p:sp>
        <p:nvSpPr>
          <p:cNvPr id="8" name="TextBox 7"/>
          <p:cNvSpPr txBox="1"/>
          <p:nvPr/>
        </p:nvSpPr>
        <p:spPr>
          <a:xfrm>
            <a:off x="594360" y="2057400"/>
            <a:ext cx="5074920" cy="1051560"/>
          </a:xfrm>
          <a:prstGeom prst="rect">
            <a:avLst/>
          </a:prstGeom>
          <a:noFill/>
        </p:spPr>
        <p:txBody>
          <a:bodyPr wrap="square">
            <a:spAutoFit/>
          </a:bodyPr>
          <a:lstStyle/>
          <a:p>
            <a:pPr algn="l"/>
            <a:r>
              <a:rPr sz="1600" b="0" i="0">
                <a:solidFill>
                  <a:srgbClr val="444466"/>
                </a:solidFill>
              </a:rPr>
              <a:t>Define who the AI should be
e.g., "You are a UX researcher..."</a:t>
            </a:r>
          </a:p>
        </p:txBody>
      </p:sp>
      <p:sp>
        <p:nvSpPr>
          <p:cNvPr id="9" name="Rounded Rectangle 8"/>
          <p:cNvSpPr/>
          <p:nvPr/>
        </p:nvSpPr>
        <p:spPr>
          <a:xfrm>
            <a:off x="365760" y="3383280"/>
            <a:ext cx="5486400" cy="16459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456432"/>
            <a:ext cx="548640" cy="502920"/>
          </a:xfrm>
          <a:prstGeom prst="rect">
            <a:avLst/>
          </a:prstGeom>
          <a:noFill/>
        </p:spPr>
        <p:txBody>
          <a:bodyPr wrap="square">
            <a:spAutoFit/>
          </a:bodyPr>
          <a:lstStyle/>
          <a:p>
            <a:pPr algn="l"/>
            <a:r>
              <a:rPr sz="3000" b="1" i="0">
                <a:solidFill>
                  <a:srgbClr val="00C853"/>
                </a:solidFill>
              </a:rPr>
              <a:t>A</a:t>
            </a:r>
          </a:p>
        </p:txBody>
      </p:sp>
      <p:sp>
        <p:nvSpPr>
          <p:cNvPr id="11" name="TextBox 10"/>
          <p:cNvSpPr txBox="1"/>
          <p:nvPr/>
        </p:nvSpPr>
        <p:spPr>
          <a:xfrm>
            <a:off x="1005840" y="3493008"/>
            <a:ext cx="4663440" cy="411480"/>
          </a:xfrm>
          <a:prstGeom prst="rect">
            <a:avLst/>
          </a:prstGeom>
          <a:noFill/>
        </p:spPr>
        <p:txBody>
          <a:bodyPr wrap="square">
            <a:spAutoFit/>
          </a:bodyPr>
          <a:lstStyle/>
          <a:p>
            <a:pPr algn="l"/>
            <a:r>
              <a:rPr sz="2000" b="1" i="0">
                <a:solidFill>
                  <a:srgbClr val="1A1A2E"/>
                </a:solidFill>
              </a:rPr>
              <a:t>= Action</a:t>
            </a:r>
          </a:p>
        </p:txBody>
      </p:sp>
      <p:sp>
        <p:nvSpPr>
          <p:cNvPr id="12" name="TextBox 11"/>
          <p:cNvSpPr txBox="1"/>
          <p:nvPr/>
        </p:nvSpPr>
        <p:spPr>
          <a:xfrm>
            <a:off x="594360" y="3886200"/>
            <a:ext cx="5074920" cy="1051560"/>
          </a:xfrm>
          <a:prstGeom prst="rect">
            <a:avLst/>
          </a:prstGeom>
          <a:noFill/>
        </p:spPr>
        <p:txBody>
          <a:bodyPr wrap="square">
            <a:spAutoFit/>
          </a:bodyPr>
          <a:lstStyle/>
          <a:p>
            <a:pPr algn="l"/>
            <a:r>
              <a:rPr sz="1600" b="0" i="0">
                <a:solidFill>
                  <a:srgbClr val="444466"/>
                </a:solidFill>
              </a:rPr>
              <a:t>Specify the action to perform
e.g., "Conduct a heuristic evaluation..."</a:t>
            </a:r>
          </a:p>
        </p:txBody>
      </p:sp>
      <p:sp>
        <p:nvSpPr>
          <p:cNvPr id="13" name="Rounded Rectangle 12"/>
          <p:cNvSpPr/>
          <p:nvPr/>
        </p:nvSpPr>
        <p:spPr>
          <a:xfrm>
            <a:off x="6309360" y="1554480"/>
            <a:ext cx="5486400" cy="16459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27632"/>
            <a:ext cx="548640" cy="502920"/>
          </a:xfrm>
          <a:prstGeom prst="rect">
            <a:avLst/>
          </a:prstGeom>
          <a:noFill/>
        </p:spPr>
        <p:txBody>
          <a:bodyPr wrap="square">
            <a:spAutoFit/>
          </a:bodyPr>
          <a:lstStyle/>
          <a:p>
            <a:pPr algn="l"/>
            <a:r>
              <a:rPr sz="3000" b="1" i="0">
                <a:solidFill>
                  <a:srgbClr val="00C853"/>
                </a:solidFill>
              </a:rPr>
              <a:t>C</a:t>
            </a:r>
          </a:p>
        </p:txBody>
      </p:sp>
      <p:sp>
        <p:nvSpPr>
          <p:cNvPr id="15" name="TextBox 14"/>
          <p:cNvSpPr txBox="1"/>
          <p:nvPr/>
        </p:nvSpPr>
        <p:spPr>
          <a:xfrm>
            <a:off x="6949440" y="1664207"/>
            <a:ext cx="4663440" cy="411480"/>
          </a:xfrm>
          <a:prstGeom prst="rect">
            <a:avLst/>
          </a:prstGeom>
          <a:noFill/>
        </p:spPr>
        <p:txBody>
          <a:bodyPr wrap="square">
            <a:spAutoFit/>
          </a:bodyPr>
          <a:lstStyle/>
          <a:p>
            <a:pPr algn="l"/>
            <a:r>
              <a:rPr sz="2000" b="1" i="0">
                <a:solidFill>
                  <a:srgbClr val="1A1A2E"/>
                </a:solidFill>
              </a:rPr>
              <a:t>= Context</a:t>
            </a:r>
          </a:p>
        </p:txBody>
      </p:sp>
      <p:sp>
        <p:nvSpPr>
          <p:cNvPr id="16" name="TextBox 15"/>
          <p:cNvSpPr txBox="1"/>
          <p:nvPr/>
        </p:nvSpPr>
        <p:spPr>
          <a:xfrm>
            <a:off x="6537960" y="2057400"/>
            <a:ext cx="5074920" cy="1051560"/>
          </a:xfrm>
          <a:prstGeom prst="rect">
            <a:avLst/>
          </a:prstGeom>
          <a:noFill/>
        </p:spPr>
        <p:txBody>
          <a:bodyPr wrap="square">
            <a:spAutoFit/>
          </a:bodyPr>
          <a:lstStyle/>
          <a:p>
            <a:pPr algn="l"/>
            <a:r>
              <a:rPr sz="1600" b="0" i="0">
                <a:solidFill>
                  <a:srgbClr val="444466"/>
                </a:solidFill>
              </a:rPr>
              <a:t>Provide relevant background
e.g., "...of our mobile checkout flow for Gen Z users"</a:t>
            </a:r>
          </a:p>
        </p:txBody>
      </p:sp>
      <p:sp>
        <p:nvSpPr>
          <p:cNvPr id="17" name="Rounded Rectangle 16"/>
          <p:cNvSpPr/>
          <p:nvPr/>
        </p:nvSpPr>
        <p:spPr>
          <a:xfrm>
            <a:off x="6309360" y="3383280"/>
            <a:ext cx="5486400" cy="164592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456432"/>
            <a:ext cx="548640" cy="502920"/>
          </a:xfrm>
          <a:prstGeom prst="rect">
            <a:avLst/>
          </a:prstGeom>
          <a:noFill/>
        </p:spPr>
        <p:txBody>
          <a:bodyPr wrap="square">
            <a:spAutoFit/>
          </a:bodyPr>
          <a:lstStyle/>
          <a:p>
            <a:pPr algn="l"/>
            <a:r>
              <a:rPr sz="3000" b="1" i="0">
                <a:solidFill>
                  <a:srgbClr val="00C853"/>
                </a:solidFill>
              </a:rPr>
              <a:t>E</a:t>
            </a:r>
          </a:p>
        </p:txBody>
      </p:sp>
      <p:sp>
        <p:nvSpPr>
          <p:cNvPr id="19" name="TextBox 18"/>
          <p:cNvSpPr txBox="1"/>
          <p:nvPr/>
        </p:nvSpPr>
        <p:spPr>
          <a:xfrm>
            <a:off x="6949440" y="3493008"/>
            <a:ext cx="4663440" cy="411480"/>
          </a:xfrm>
          <a:prstGeom prst="rect">
            <a:avLst/>
          </a:prstGeom>
          <a:noFill/>
        </p:spPr>
        <p:txBody>
          <a:bodyPr wrap="square">
            <a:spAutoFit/>
          </a:bodyPr>
          <a:lstStyle/>
          <a:p>
            <a:pPr algn="l"/>
            <a:r>
              <a:rPr sz="2000" b="1" i="0">
                <a:solidFill>
                  <a:srgbClr val="1A1A2E"/>
                </a:solidFill>
              </a:rPr>
              <a:t>= Expectation</a:t>
            </a:r>
          </a:p>
        </p:txBody>
      </p:sp>
      <p:sp>
        <p:nvSpPr>
          <p:cNvPr id="20" name="TextBox 19"/>
          <p:cNvSpPr txBox="1"/>
          <p:nvPr/>
        </p:nvSpPr>
        <p:spPr>
          <a:xfrm>
            <a:off x="6537960" y="3886200"/>
            <a:ext cx="5074920" cy="1051560"/>
          </a:xfrm>
          <a:prstGeom prst="rect">
            <a:avLst/>
          </a:prstGeom>
          <a:noFill/>
        </p:spPr>
        <p:txBody>
          <a:bodyPr wrap="square">
            <a:spAutoFit/>
          </a:bodyPr>
          <a:lstStyle/>
          <a:p>
            <a:pPr algn="l"/>
            <a:r>
              <a:rPr sz="1600" b="0" i="0">
                <a:solidFill>
                  <a:srgbClr val="444466"/>
                </a:solidFill>
              </a:rPr>
              <a:t>State the expected deliverable
e.g., "Provide a ranked list of 10 usability issues..."</a:t>
            </a:r>
          </a:p>
        </p:txBody>
      </p:sp>
      <p:sp>
        <p:nvSpPr>
          <p:cNvPr id="21" name="Rounded Rectangle 20"/>
          <p:cNvSpPr/>
          <p:nvPr/>
        </p:nvSpPr>
        <p:spPr>
          <a:xfrm>
            <a:off x="365760" y="5303520"/>
            <a:ext cx="11430000" cy="12344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394960"/>
            <a:ext cx="2743200" cy="320040"/>
          </a:xfrm>
          <a:prstGeom prst="rect">
            <a:avLst/>
          </a:prstGeom>
          <a:noFill/>
        </p:spPr>
        <p:txBody>
          <a:bodyPr wrap="square">
            <a:spAutoFit/>
          </a:bodyPr>
          <a:lstStyle/>
          <a:p>
            <a:pPr algn="l"/>
            <a:r>
              <a:rPr sz="1800" b="1" i="0">
                <a:solidFill>
                  <a:srgbClr val="00C853"/>
                </a:solidFill>
              </a:rPr>
              <a:t>RTF vs RACE:</a:t>
            </a:r>
          </a:p>
        </p:txBody>
      </p:sp>
      <p:sp>
        <p:nvSpPr>
          <p:cNvPr id="23" name="TextBox 22"/>
          <p:cNvSpPr txBox="1"/>
          <p:nvPr/>
        </p:nvSpPr>
        <p:spPr>
          <a:xfrm>
            <a:off x="548640" y="5715000"/>
            <a:ext cx="10972800" cy="777240"/>
          </a:xfrm>
          <a:prstGeom prst="rect">
            <a:avLst/>
          </a:prstGeom>
          <a:noFill/>
        </p:spPr>
        <p:txBody>
          <a:bodyPr wrap="square">
            <a:spAutoFit/>
          </a:bodyPr>
          <a:lstStyle/>
          <a:p>
            <a:pPr algn="l"/>
            <a:r>
              <a:rPr sz="1600" b="0" i="0">
                <a:solidFill>
                  <a:srgbClr val="444466"/>
                </a:solidFill>
              </a:rPr>
              <a:t>RACE builds on RTF by adding explicit Context and setting clear Expectations for the deliverable. Use RTF for quick prompts; upgrade to RACE when you need more precision about the situation and outcome.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Choosing the Right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Match the framework to your task</a:t>
            </a:r>
          </a:p>
        </p:txBody>
      </p:sp>
      <p:sp>
        <p:nvSpPr>
          <p:cNvPr id="5" name="Rectangle 4"/>
          <p:cNvSpPr/>
          <p:nvPr/>
        </p:nvSpPr>
        <p:spPr>
          <a:xfrm>
            <a:off x="365760" y="1508760"/>
            <a:ext cx="11430000" cy="50292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36192"/>
            <a:ext cx="1828800" cy="411480"/>
          </a:xfrm>
          <a:prstGeom prst="rect">
            <a:avLst/>
          </a:prstGeom>
          <a:noFill/>
        </p:spPr>
        <p:txBody>
          <a:bodyPr wrap="square">
            <a:spAutoFit/>
          </a:bodyPr>
          <a:lstStyle/>
          <a:p>
            <a:pPr algn="ctr"/>
            <a:r>
              <a:rPr sz="1600" b="1" i="0">
                <a:solidFill>
                  <a:srgbClr val="FFFFFF"/>
                </a:solidFill>
              </a:rPr>
              <a:t>Framework</a:t>
            </a:r>
          </a:p>
        </p:txBody>
      </p:sp>
      <p:sp>
        <p:nvSpPr>
          <p:cNvPr id="7" name="TextBox 6"/>
          <p:cNvSpPr txBox="1"/>
          <p:nvPr/>
        </p:nvSpPr>
        <p:spPr>
          <a:xfrm>
            <a:off x="2377440" y="1536192"/>
            <a:ext cx="3200400" cy="411480"/>
          </a:xfrm>
          <a:prstGeom prst="rect">
            <a:avLst/>
          </a:prstGeom>
          <a:noFill/>
        </p:spPr>
        <p:txBody>
          <a:bodyPr wrap="square">
            <a:spAutoFit/>
          </a:bodyPr>
          <a:lstStyle/>
          <a:p>
            <a:pPr algn="ctr"/>
            <a:r>
              <a:rPr sz="1600" b="1" i="0">
                <a:solidFill>
                  <a:srgbClr val="FFFFFF"/>
                </a:solidFill>
              </a:rPr>
              <a:t>Components</a:t>
            </a:r>
          </a:p>
        </p:txBody>
      </p:sp>
      <p:sp>
        <p:nvSpPr>
          <p:cNvPr id="8" name="TextBox 7"/>
          <p:cNvSpPr txBox="1"/>
          <p:nvPr/>
        </p:nvSpPr>
        <p:spPr>
          <a:xfrm>
            <a:off x="5760720" y="1536192"/>
            <a:ext cx="3200400" cy="411480"/>
          </a:xfrm>
          <a:prstGeom prst="rect">
            <a:avLst/>
          </a:prstGeom>
          <a:noFill/>
        </p:spPr>
        <p:txBody>
          <a:bodyPr wrap="square">
            <a:spAutoFit/>
          </a:bodyPr>
          <a:lstStyle/>
          <a:p>
            <a:pPr algn="ctr"/>
            <a:r>
              <a:rPr sz="1600" b="1" i="0">
                <a:solidFill>
                  <a:srgbClr val="FFFFFF"/>
                </a:solidFill>
              </a:rPr>
              <a:t>Best For</a:t>
            </a:r>
          </a:p>
        </p:txBody>
      </p:sp>
      <p:sp>
        <p:nvSpPr>
          <p:cNvPr id="9" name="TextBox 8"/>
          <p:cNvSpPr txBox="1"/>
          <p:nvPr/>
        </p:nvSpPr>
        <p:spPr>
          <a:xfrm>
            <a:off x="9144000" y="1536192"/>
            <a:ext cx="2286000" cy="411480"/>
          </a:xfrm>
          <a:prstGeom prst="rect">
            <a:avLst/>
          </a:prstGeom>
          <a:noFill/>
        </p:spPr>
        <p:txBody>
          <a:bodyPr wrap="square">
            <a:spAutoFit/>
          </a:bodyPr>
          <a:lstStyle/>
          <a:p>
            <a:pPr algn="ctr"/>
            <a:r>
              <a:rPr sz="1600" b="1" i="0">
                <a:solidFill>
                  <a:srgbClr val="FFFFFF"/>
                </a:solidFill>
              </a:rPr>
              <a:t>Complexity</a:t>
            </a:r>
          </a:p>
        </p:txBody>
      </p:sp>
      <p:sp>
        <p:nvSpPr>
          <p:cNvPr id="10" name="Rectangle 9"/>
          <p:cNvSpPr/>
          <p:nvPr/>
        </p:nvSpPr>
        <p:spPr>
          <a:xfrm>
            <a:off x="365760" y="2057400"/>
            <a:ext cx="11430000" cy="777240"/>
          </a:xfrm>
          <a:prstGeom prst="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130552"/>
            <a:ext cx="1645920" cy="685800"/>
          </a:xfrm>
          <a:prstGeom prst="rect">
            <a:avLst/>
          </a:prstGeom>
          <a:noFill/>
        </p:spPr>
        <p:txBody>
          <a:bodyPr wrap="square">
            <a:spAutoFit/>
          </a:bodyPr>
          <a:lstStyle/>
          <a:p>
            <a:pPr algn="l"/>
            <a:r>
              <a:rPr sz="1600" b="1" i="0">
                <a:solidFill>
                  <a:srgbClr val="6C35DE"/>
                </a:solidFill>
              </a:rPr>
              <a:t>RTF</a:t>
            </a:r>
          </a:p>
        </p:txBody>
      </p:sp>
      <p:sp>
        <p:nvSpPr>
          <p:cNvPr id="12" name="TextBox 11"/>
          <p:cNvSpPr txBox="1"/>
          <p:nvPr/>
        </p:nvSpPr>
        <p:spPr>
          <a:xfrm>
            <a:off x="2377440" y="2103120"/>
            <a:ext cx="3200400" cy="685800"/>
          </a:xfrm>
          <a:prstGeom prst="rect">
            <a:avLst/>
          </a:prstGeom>
          <a:noFill/>
        </p:spPr>
        <p:txBody>
          <a:bodyPr wrap="square">
            <a:spAutoFit/>
          </a:bodyPr>
          <a:lstStyle/>
          <a:p>
            <a:pPr algn="l"/>
            <a:r>
              <a:rPr sz="1300" b="0" i="0">
                <a:solidFill>
                  <a:srgbClr val="1A1A2E"/>
                </a:solidFill>
              </a:rPr>
              <a:t>Role, Task, Format</a:t>
            </a:r>
          </a:p>
        </p:txBody>
      </p:sp>
      <p:sp>
        <p:nvSpPr>
          <p:cNvPr id="13" name="TextBox 12"/>
          <p:cNvSpPr txBox="1"/>
          <p:nvPr/>
        </p:nvSpPr>
        <p:spPr>
          <a:xfrm>
            <a:off x="5760720" y="2130552"/>
            <a:ext cx="3200400" cy="685800"/>
          </a:xfrm>
          <a:prstGeom prst="rect">
            <a:avLst/>
          </a:prstGeom>
          <a:noFill/>
        </p:spPr>
        <p:txBody>
          <a:bodyPr wrap="square">
            <a:spAutoFit/>
          </a:bodyPr>
          <a:lstStyle/>
          <a:p>
            <a:pPr algn="l"/>
            <a:r>
              <a:rPr sz="1400" b="0" i="0">
                <a:solidFill>
                  <a:srgbClr val="1A1A2E"/>
                </a:solidFill>
              </a:rPr>
              <a:t>Quick everyday prompts</a:t>
            </a:r>
          </a:p>
        </p:txBody>
      </p:sp>
      <p:sp>
        <p:nvSpPr>
          <p:cNvPr id="14" name="TextBox 13"/>
          <p:cNvSpPr txBox="1"/>
          <p:nvPr/>
        </p:nvSpPr>
        <p:spPr>
          <a:xfrm>
            <a:off x="9144000" y="2130552"/>
            <a:ext cx="2286000" cy="685800"/>
          </a:xfrm>
          <a:prstGeom prst="rect">
            <a:avLst/>
          </a:prstGeom>
          <a:noFill/>
        </p:spPr>
        <p:txBody>
          <a:bodyPr wrap="square">
            <a:spAutoFit/>
          </a:bodyPr>
          <a:lstStyle/>
          <a:p>
            <a:pPr algn="ctr"/>
            <a:r>
              <a:rPr sz="1400" b="0" i="0">
                <a:solidFill>
                  <a:srgbClr val="444466"/>
                </a:solidFill>
              </a:rPr>
              <a:t>Low</a:t>
            </a:r>
          </a:p>
        </p:txBody>
      </p:sp>
      <p:sp>
        <p:nvSpPr>
          <p:cNvPr id="15" name="Rectangle 14"/>
          <p:cNvSpPr/>
          <p:nvPr/>
        </p:nvSpPr>
        <p:spPr>
          <a:xfrm>
            <a:off x="365760" y="2834640"/>
            <a:ext cx="114300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07792"/>
            <a:ext cx="1645920" cy="685800"/>
          </a:xfrm>
          <a:prstGeom prst="rect">
            <a:avLst/>
          </a:prstGeom>
          <a:noFill/>
        </p:spPr>
        <p:txBody>
          <a:bodyPr wrap="square">
            <a:spAutoFit/>
          </a:bodyPr>
          <a:lstStyle/>
          <a:p>
            <a:pPr algn="l"/>
            <a:r>
              <a:rPr sz="1600" b="1" i="0">
                <a:solidFill>
                  <a:srgbClr val="6C35DE"/>
                </a:solidFill>
              </a:rPr>
              <a:t>CREATE</a:t>
            </a:r>
          </a:p>
        </p:txBody>
      </p:sp>
      <p:sp>
        <p:nvSpPr>
          <p:cNvPr id="17" name="TextBox 16"/>
          <p:cNvSpPr txBox="1"/>
          <p:nvPr/>
        </p:nvSpPr>
        <p:spPr>
          <a:xfrm>
            <a:off x="2377440" y="2880360"/>
            <a:ext cx="3200400" cy="685800"/>
          </a:xfrm>
          <a:prstGeom prst="rect">
            <a:avLst/>
          </a:prstGeom>
          <a:noFill/>
        </p:spPr>
        <p:txBody>
          <a:bodyPr wrap="square">
            <a:spAutoFit/>
          </a:bodyPr>
          <a:lstStyle/>
          <a:p>
            <a:pPr algn="l"/>
            <a:r>
              <a:rPr sz="1300" b="0" i="0">
                <a:solidFill>
                  <a:srgbClr val="1A1A2E"/>
                </a:solidFill>
              </a:rPr>
              <a:t>Character, Request, Examples,
Adjustments, Type, Extras</a:t>
            </a:r>
          </a:p>
        </p:txBody>
      </p:sp>
      <p:sp>
        <p:nvSpPr>
          <p:cNvPr id="18" name="TextBox 17"/>
          <p:cNvSpPr txBox="1"/>
          <p:nvPr/>
        </p:nvSpPr>
        <p:spPr>
          <a:xfrm>
            <a:off x="5760720" y="2907792"/>
            <a:ext cx="3200400" cy="685800"/>
          </a:xfrm>
          <a:prstGeom prst="rect">
            <a:avLst/>
          </a:prstGeom>
          <a:noFill/>
        </p:spPr>
        <p:txBody>
          <a:bodyPr wrap="square">
            <a:spAutoFit/>
          </a:bodyPr>
          <a:lstStyle/>
          <a:p>
            <a:pPr algn="l"/>
            <a:r>
              <a:rPr sz="1400" b="0" i="0">
                <a:solidFill>
                  <a:srgbClr val="1A1A2E"/>
                </a:solidFill>
              </a:rPr>
              <a:t>Detailed, nuanced tasks</a:t>
            </a:r>
          </a:p>
        </p:txBody>
      </p:sp>
      <p:sp>
        <p:nvSpPr>
          <p:cNvPr id="19" name="TextBox 18"/>
          <p:cNvSpPr txBox="1"/>
          <p:nvPr/>
        </p:nvSpPr>
        <p:spPr>
          <a:xfrm>
            <a:off x="9144000" y="2907792"/>
            <a:ext cx="2286000" cy="685800"/>
          </a:xfrm>
          <a:prstGeom prst="rect">
            <a:avLst/>
          </a:prstGeom>
          <a:noFill/>
        </p:spPr>
        <p:txBody>
          <a:bodyPr wrap="square">
            <a:spAutoFit/>
          </a:bodyPr>
          <a:lstStyle/>
          <a:p>
            <a:pPr algn="ctr"/>
            <a:r>
              <a:rPr sz="1400" b="0" i="0">
                <a:solidFill>
                  <a:srgbClr val="444466"/>
                </a:solidFill>
              </a:rPr>
              <a:t>High</a:t>
            </a:r>
          </a:p>
        </p:txBody>
      </p:sp>
      <p:sp>
        <p:nvSpPr>
          <p:cNvPr id="20" name="Rectangle 19"/>
          <p:cNvSpPr/>
          <p:nvPr/>
        </p:nvSpPr>
        <p:spPr>
          <a:xfrm>
            <a:off x="365760" y="3611880"/>
            <a:ext cx="11430000" cy="777240"/>
          </a:xfrm>
          <a:prstGeom prst="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685032"/>
            <a:ext cx="1645920" cy="685800"/>
          </a:xfrm>
          <a:prstGeom prst="rect">
            <a:avLst/>
          </a:prstGeom>
          <a:noFill/>
        </p:spPr>
        <p:txBody>
          <a:bodyPr wrap="square">
            <a:spAutoFit/>
          </a:bodyPr>
          <a:lstStyle/>
          <a:p>
            <a:pPr algn="l"/>
            <a:r>
              <a:rPr sz="1600" b="1" i="0">
                <a:solidFill>
                  <a:srgbClr val="6C35DE"/>
                </a:solidFill>
              </a:rPr>
              <a:t>CO-STAR</a:t>
            </a:r>
          </a:p>
        </p:txBody>
      </p:sp>
      <p:sp>
        <p:nvSpPr>
          <p:cNvPr id="22" name="TextBox 21"/>
          <p:cNvSpPr txBox="1"/>
          <p:nvPr/>
        </p:nvSpPr>
        <p:spPr>
          <a:xfrm>
            <a:off x="2377440" y="3657600"/>
            <a:ext cx="3200400" cy="685800"/>
          </a:xfrm>
          <a:prstGeom prst="rect">
            <a:avLst/>
          </a:prstGeom>
          <a:noFill/>
        </p:spPr>
        <p:txBody>
          <a:bodyPr wrap="square">
            <a:spAutoFit/>
          </a:bodyPr>
          <a:lstStyle/>
          <a:p>
            <a:pPr algn="l"/>
            <a:r>
              <a:rPr sz="1300" b="0" i="0">
                <a:solidFill>
                  <a:srgbClr val="1A1A2E"/>
                </a:solidFill>
              </a:rPr>
              <a:t>Context, Objective, Style,
Tone, Audience, Response</a:t>
            </a:r>
          </a:p>
        </p:txBody>
      </p:sp>
      <p:sp>
        <p:nvSpPr>
          <p:cNvPr id="23" name="TextBox 22"/>
          <p:cNvSpPr txBox="1"/>
          <p:nvPr/>
        </p:nvSpPr>
        <p:spPr>
          <a:xfrm>
            <a:off x="5760720" y="3685032"/>
            <a:ext cx="3200400" cy="685800"/>
          </a:xfrm>
          <a:prstGeom prst="rect">
            <a:avLst/>
          </a:prstGeom>
          <a:noFill/>
        </p:spPr>
        <p:txBody>
          <a:bodyPr wrap="square">
            <a:spAutoFit/>
          </a:bodyPr>
          <a:lstStyle/>
          <a:p>
            <a:pPr algn="l"/>
            <a:r>
              <a:rPr sz="1400" b="0" i="0">
                <a:solidFill>
                  <a:srgbClr val="1A1A2E"/>
                </a:solidFill>
              </a:rPr>
              <a:t>Content creation &amp; writing</a:t>
            </a:r>
          </a:p>
        </p:txBody>
      </p:sp>
      <p:sp>
        <p:nvSpPr>
          <p:cNvPr id="24" name="TextBox 23"/>
          <p:cNvSpPr txBox="1"/>
          <p:nvPr/>
        </p:nvSpPr>
        <p:spPr>
          <a:xfrm>
            <a:off x="9144000" y="3685032"/>
            <a:ext cx="2286000" cy="685800"/>
          </a:xfrm>
          <a:prstGeom prst="rect">
            <a:avLst/>
          </a:prstGeom>
          <a:noFill/>
        </p:spPr>
        <p:txBody>
          <a:bodyPr wrap="square">
            <a:spAutoFit/>
          </a:bodyPr>
          <a:lstStyle/>
          <a:p>
            <a:pPr algn="ctr"/>
            <a:r>
              <a:rPr sz="1400" b="0" i="0">
                <a:solidFill>
                  <a:srgbClr val="444466"/>
                </a:solidFill>
              </a:rPr>
              <a:t>Medium</a:t>
            </a:r>
          </a:p>
        </p:txBody>
      </p:sp>
      <p:sp>
        <p:nvSpPr>
          <p:cNvPr id="25" name="Rectangle 24"/>
          <p:cNvSpPr/>
          <p:nvPr/>
        </p:nvSpPr>
        <p:spPr>
          <a:xfrm>
            <a:off x="365760" y="4389120"/>
            <a:ext cx="114300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462272"/>
            <a:ext cx="1645920" cy="685800"/>
          </a:xfrm>
          <a:prstGeom prst="rect">
            <a:avLst/>
          </a:prstGeom>
          <a:noFill/>
        </p:spPr>
        <p:txBody>
          <a:bodyPr wrap="square">
            <a:spAutoFit/>
          </a:bodyPr>
          <a:lstStyle/>
          <a:p>
            <a:pPr algn="l"/>
            <a:r>
              <a:rPr sz="1600" b="1" i="0">
                <a:solidFill>
                  <a:srgbClr val="6C35DE"/>
                </a:solidFill>
              </a:rPr>
              <a:t>CRISPE</a:t>
            </a:r>
          </a:p>
        </p:txBody>
      </p:sp>
      <p:sp>
        <p:nvSpPr>
          <p:cNvPr id="27" name="TextBox 26"/>
          <p:cNvSpPr txBox="1"/>
          <p:nvPr/>
        </p:nvSpPr>
        <p:spPr>
          <a:xfrm>
            <a:off x="2377440" y="4434840"/>
            <a:ext cx="3200400" cy="685800"/>
          </a:xfrm>
          <a:prstGeom prst="rect">
            <a:avLst/>
          </a:prstGeom>
          <a:noFill/>
        </p:spPr>
        <p:txBody>
          <a:bodyPr wrap="square">
            <a:spAutoFit/>
          </a:bodyPr>
          <a:lstStyle/>
          <a:p>
            <a:pPr algn="l"/>
            <a:r>
              <a:rPr sz="1300" b="0" i="0">
                <a:solidFill>
                  <a:srgbClr val="1A1A2E"/>
                </a:solidFill>
              </a:rPr>
              <a:t>Capacity, Request, Insight,
Statement, Personality, Experiment</a:t>
            </a:r>
          </a:p>
        </p:txBody>
      </p:sp>
      <p:sp>
        <p:nvSpPr>
          <p:cNvPr id="28" name="TextBox 27"/>
          <p:cNvSpPr txBox="1"/>
          <p:nvPr/>
        </p:nvSpPr>
        <p:spPr>
          <a:xfrm>
            <a:off x="5760720" y="4462272"/>
            <a:ext cx="3200400" cy="685800"/>
          </a:xfrm>
          <a:prstGeom prst="rect">
            <a:avLst/>
          </a:prstGeom>
          <a:noFill/>
        </p:spPr>
        <p:txBody>
          <a:bodyPr wrap="square">
            <a:spAutoFit/>
          </a:bodyPr>
          <a:lstStyle/>
          <a:p>
            <a:pPr algn="l"/>
            <a:r>
              <a:rPr sz="1400" b="0" i="0">
                <a:solidFill>
                  <a:srgbClr val="1A1A2E"/>
                </a:solidFill>
              </a:rPr>
              <a:t>Creative &amp; exploratory work</a:t>
            </a:r>
          </a:p>
        </p:txBody>
      </p:sp>
      <p:sp>
        <p:nvSpPr>
          <p:cNvPr id="29" name="TextBox 28"/>
          <p:cNvSpPr txBox="1"/>
          <p:nvPr/>
        </p:nvSpPr>
        <p:spPr>
          <a:xfrm>
            <a:off x="9144000" y="4462272"/>
            <a:ext cx="2286000" cy="685800"/>
          </a:xfrm>
          <a:prstGeom prst="rect">
            <a:avLst/>
          </a:prstGeom>
          <a:noFill/>
        </p:spPr>
        <p:txBody>
          <a:bodyPr wrap="square">
            <a:spAutoFit/>
          </a:bodyPr>
          <a:lstStyle/>
          <a:p>
            <a:pPr algn="ctr"/>
            <a:r>
              <a:rPr sz="1400" b="0" i="0">
                <a:solidFill>
                  <a:srgbClr val="444466"/>
                </a:solidFill>
              </a:rPr>
              <a:t>Medium</a:t>
            </a:r>
          </a:p>
        </p:txBody>
      </p:sp>
      <p:sp>
        <p:nvSpPr>
          <p:cNvPr id="30" name="Rectangle 29"/>
          <p:cNvSpPr/>
          <p:nvPr/>
        </p:nvSpPr>
        <p:spPr>
          <a:xfrm>
            <a:off x="365760" y="5166360"/>
            <a:ext cx="11430000" cy="777240"/>
          </a:xfrm>
          <a:prstGeom prst="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239512"/>
            <a:ext cx="1645920" cy="685800"/>
          </a:xfrm>
          <a:prstGeom prst="rect">
            <a:avLst/>
          </a:prstGeom>
          <a:noFill/>
        </p:spPr>
        <p:txBody>
          <a:bodyPr wrap="square">
            <a:spAutoFit/>
          </a:bodyPr>
          <a:lstStyle/>
          <a:p>
            <a:pPr algn="l"/>
            <a:r>
              <a:rPr sz="1600" b="1" i="0">
                <a:solidFill>
                  <a:srgbClr val="6C35DE"/>
                </a:solidFill>
              </a:rPr>
              <a:t>RISEN</a:t>
            </a:r>
          </a:p>
        </p:txBody>
      </p:sp>
      <p:sp>
        <p:nvSpPr>
          <p:cNvPr id="32" name="TextBox 31"/>
          <p:cNvSpPr txBox="1"/>
          <p:nvPr/>
        </p:nvSpPr>
        <p:spPr>
          <a:xfrm>
            <a:off x="2377440" y="5212080"/>
            <a:ext cx="3200400" cy="685800"/>
          </a:xfrm>
          <a:prstGeom prst="rect">
            <a:avLst/>
          </a:prstGeom>
          <a:noFill/>
        </p:spPr>
        <p:txBody>
          <a:bodyPr wrap="square">
            <a:spAutoFit/>
          </a:bodyPr>
          <a:lstStyle/>
          <a:p>
            <a:pPr algn="l"/>
            <a:r>
              <a:rPr sz="1300" b="0" i="0">
                <a:solidFill>
                  <a:srgbClr val="1A1A2E"/>
                </a:solidFill>
              </a:rPr>
              <a:t>Role, Instructions, Steps,
End Goal, Narrowing</a:t>
            </a:r>
          </a:p>
        </p:txBody>
      </p:sp>
      <p:sp>
        <p:nvSpPr>
          <p:cNvPr id="33" name="TextBox 32"/>
          <p:cNvSpPr txBox="1"/>
          <p:nvPr/>
        </p:nvSpPr>
        <p:spPr>
          <a:xfrm>
            <a:off x="5760720" y="5239512"/>
            <a:ext cx="3200400" cy="685800"/>
          </a:xfrm>
          <a:prstGeom prst="rect">
            <a:avLst/>
          </a:prstGeom>
          <a:noFill/>
        </p:spPr>
        <p:txBody>
          <a:bodyPr wrap="square">
            <a:spAutoFit/>
          </a:bodyPr>
          <a:lstStyle/>
          <a:p>
            <a:pPr algn="l"/>
            <a:r>
              <a:rPr sz="1400" b="0" i="0">
                <a:solidFill>
                  <a:srgbClr val="1A1A2E"/>
                </a:solidFill>
              </a:rPr>
              <a:t>Multi-step procedural tasks</a:t>
            </a:r>
          </a:p>
        </p:txBody>
      </p:sp>
      <p:sp>
        <p:nvSpPr>
          <p:cNvPr id="34" name="TextBox 33"/>
          <p:cNvSpPr txBox="1"/>
          <p:nvPr/>
        </p:nvSpPr>
        <p:spPr>
          <a:xfrm>
            <a:off x="9144000" y="5239512"/>
            <a:ext cx="2286000" cy="685800"/>
          </a:xfrm>
          <a:prstGeom prst="rect">
            <a:avLst/>
          </a:prstGeom>
          <a:noFill/>
        </p:spPr>
        <p:txBody>
          <a:bodyPr wrap="square">
            <a:spAutoFit/>
          </a:bodyPr>
          <a:lstStyle/>
          <a:p>
            <a:pPr algn="ctr"/>
            <a:r>
              <a:rPr sz="1400" b="0" i="0">
                <a:solidFill>
                  <a:srgbClr val="444466"/>
                </a:solidFill>
              </a:rPr>
              <a:t>Medium</a:t>
            </a:r>
          </a:p>
        </p:txBody>
      </p:sp>
      <p:sp>
        <p:nvSpPr>
          <p:cNvPr id="35" name="Rectangle 34"/>
          <p:cNvSpPr/>
          <p:nvPr/>
        </p:nvSpPr>
        <p:spPr>
          <a:xfrm>
            <a:off x="365760" y="5943600"/>
            <a:ext cx="114300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016752"/>
            <a:ext cx="1645920" cy="685800"/>
          </a:xfrm>
          <a:prstGeom prst="rect">
            <a:avLst/>
          </a:prstGeom>
          <a:noFill/>
        </p:spPr>
        <p:txBody>
          <a:bodyPr wrap="square">
            <a:spAutoFit/>
          </a:bodyPr>
          <a:lstStyle/>
          <a:p>
            <a:pPr algn="l"/>
            <a:r>
              <a:rPr sz="1600" b="1" i="0">
                <a:solidFill>
                  <a:srgbClr val="6C35DE"/>
                </a:solidFill>
              </a:rPr>
              <a:t>RACE</a:t>
            </a:r>
          </a:p>
        </p:txBody>
      </p:sp>
      <p:sp>
        <p:nvSpPr>
          <p:cNvPr id="37" name="TextBox 36"/>
          <p:cNvSpPr txBox="1"/>
          <p:nvPr/>
        </p:nvSpPr>
        <p:spPr>
          <a:xfrm>
            <a:off x="2377440" y="5989320"/>
            <a:ext cx="3200400" cy="685800"/>
          </a:xfrm>
          <a:prstGeom prst="rect">
            <a:avLst/>
          </a:prstGeom>
          <a:noFill/>
        </p:spPr>
        <p:txBody>
          <a:bodyPr wrap="square">
            <a:spAutoFit/>
          </a:bodyPr>
          <a:lstStyle/>
          <a:p>
            <a:pPr algn="l"/>
            <a:r>
              <a:rPr sz="1300" b="0" i="0">
                <a:solidFill>
                  <a:srgbClr val="1A1A2E"/>
                </a:solidFill>
              </a:rPr>
              <a:t>Role, Action, Context,
Expectation</a:t>
            </a:r>
          </a:p>
        </p:txBody>
      </p:sp>
      <p:sp>
        <p:nvSpPr>
          <p:cNvPr id="38" name="TextBox 37"/>
          <p:cNvSpPr txBox="1"/>
          <p:nvPr/>
        </p:nvSpPr>
        <p:spPr>
          <a:xfrm>
            <a:off x="5760720" y="6016752"/>
            <a:ext cx="3200400" cy="685800"/>
          </a:xfrm>
          <a:prstGeom prst="rect">
            <a:avLst/>
          </a:prstGeom>
          <a:noFill/>
        </p:spPr>
        <p:txBody>
          <a:bodyPr wrap="square">
            <a:spAutoFit/>
          </a:bodyPr>
          <a:lstStyle/>
          <a:p>
            <a:pPr algn="l"/>
            <a:r>
              <a:rPr sz="1400" b="0" i="0">
                <a:solidFill>
                  <a:srgbClr val="1A1A2E"/>
                </a:solidFill>
              </a:rPr>
              <a:t>Precise deliverable-focused tasks</a:t>
            </a:r>
          </a:p>
        </p:txBody>
      </p:sp>
      <p:sp>
        <p:nvSpPr>
          <p:cNvPr id="39" name="TextBox 38"/>
          <p:cNvSpPr txBox="1"/>
          <p:nvPr/>
        </p:nvSpPr>
        <p:spPr>
          <a:xfrm>
            <a:off x="9144000" y="6016752"/>
            <a:ext cx="2286000" cy="685800"/>
          </a:xfrm>
          <a:prstGeom prst="rect">
            <a:avLst/>
          </a:prstGeom>
          <a:noFill/>
        </p:spPr>
        <p:txBody>
          <a:bodyPr wrap="square">
            <a:spAutoFit/>
          </a:bodyPr>
          <a:lstStyle/>
          <a:p>
            <a:pPr algn="ctr"/>
            <a:r>
              <a:rPr sz="1400" b="0" i="0">
                <a:solidFill>
                  <a:srgbClr val="444466"/>
                </a:solidFill>
              </a:rPr>
              <a:t>Low-Med</a:t>
            </a:r>
          </a:p>
        </p:txBody>
      </p:sp>
      <p:sp>
        <p:nvSpPr>
          <p:cNvPr id="40" name="TextBox 39"/>
          <p:cNvSpPr txBox="1"/>
          <p:nvPr/>
        </p:nvSpPr>
        <p:spPr>
          <a:xfrm>
            <a:off x="365760" y="6537960"/>
            <a:ext cx="11430000" cy="320040"/>
          </a:xfrm>
          <a:prstGeom prst="rect">
            <a:avLst/>
          </a:prstGeom>
          <a:noFill/>
        </p:spPr>
        <p:txBody>
          <a:bodyPr wrap="square">
            <a:spAutoFit/>
          </a:bodyPr>
          <a:lstStyle/>
          <a:p>
            <a:pPr algn="l"/>
            <a:r>
              <a:rPr sz="1400" b="1" i="1">
                <a:solidFill>
                  <a:srgbClr val="6C35DE"/>
                </a:solidFill>
              </a:rPr>
              <a:t>Tip: You don't have to use a framework rigidly — mix and match elements that fit your task!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Interactive Activity: Try the RTF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Your turn! Build a prompt using Role — Task — Format</a:t>
            </a:r>
          </a:p>
        </p:txBody>
      </p:sp>
      <p:sp>
        <p:nvSpPr>
          <p:cNvPr id="5" name="Rounded Rectangle 4"/>
          <p:cNvSpPr/>
          <p:nvPr/>
        </p:nvSpPr>
        <p:spPr>
          <a:xfrm>
            <a:off x="365760" y="1508760"/>
            <a:ext cx="5486400" cy="5029200"/>
          </a:xfrm>
          <a:prstGeom prst="roundRect">
            <a:avLst/>
          </a:prstGeom>
          <a:solidFill>
            <a:srgbClr val="FD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120640" cy="411480"/>
          </a:xfrm>
          <a:prstGeom prst="rect">
            <a:avLst/>
          </a:prstGeom>
          <a:noFill/>
        </p:spPr>
        <p:txBody>
          <a:bodyPr wrap="square">
            <a:spAutoFit/>
          </a:bodyPr>
          <a:lstStyle/>
          <a:p>
            <a:pPr algn="l"/>
            <a:r>
              <a:rPr sz="2200" b="1" i="0">
                <a:solidFill>
                  <a:srgbClr val="FF6D00"/>
                </a:solidFill>
              </a:rPr>
              <a:t>Your Challenge</a:t>
            </a:r>
          </a:p>
        </p:txBody>
      </p:sp>
      <p:sp>
        <p:nvSpPr>
          <p:cNvPr id="7" name="TextBox 6"/>
          <p:cNvSpPr txBox="1"/>
          <p:nvPr/>
        </p:nvSpPr>
        <p:spPr>
          <a:xfrm>
            <a:off x="548640" y="2103120"/>
            <a:ext cx="5120640" cy="4114800"/>
          </a:xfrm>
          <a:prstGeom prst="rect">
            <a:avLst/>
          </a:prstGeom>
          <a:noFill/>
        </p:spPr>
        <p:txBody>
          <a:bodyPr wrap="square">
            <a:spAutoFit/>
          </a:bodyPr>
          <a:lstStyle/>
          <a:p>
            <a:pPr algn="l"/>
            <a:r>
              <a:rPr sz="1600" b="0" i="0">
                <a:solidFill>
                  <a:srgbClr val="1A1A2E"/>
                </a:solidFill>
              </a:rPr>
              <a:t>Pick one of these scenarios (or choose your own!):
1. You need help writing a professional email
   to reschedule a meeting with a client
2. You want a study guide for a topic
   you're learning
3. You need a meal prep plan for the week
Now build your prompt using RTF:
  R  — Who should the AI be?
  T  — What should it do?
  F  — How should the answer look?</a:t>
            </a:r>
          </a:p>
        </p:txBody>
      </p:sp>
      <p:sp>
        <p:nvSpPr>
          <p:cNvPr id="8" name="Rounded Rectangle 7"/>
          <p:cNvSpPr/>
          <p:nvPr/>
        </p:nvSpPr>
        <p:spPr>
          <a:xfrm>
            <a:off x="6217920" y="1508760"/>
            <a:ext cx="5577840" cy="50292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212080" cy="411480"/>
          </a:xfrm>
          <a:prstGeom prst="rect">
            <a:avLst/>
          </a:prstGeom>
          <a:noFill/>
        </p:spPr>
        <p:txBody>
          <a:bodyPr wrap="square">
            <a:spAutoFit/>
          </a:bodyPr>
          <a:lstStyle/>
          <a:p>
            <a:pPr algn="l"/>
            <a:r>
              <a:rPr sz="2200" b="1" i="0">
                <a:solidFill>
                  <a:srgbClr val="6C35DE"/>
                </a:solidFill>
              </a:rPr>
              <a:t>Write Your Prompt Here</a:t>
            </a:r>
          </a:p>
        </p:txBody>
      </p:sp>
      <p:sp>
        <p:nvSpPr>
          <p:cNvPr id="10" name="TextBox 9"/>
          <p:cNvSpPr txBox="1"/>
          <p:nvPr/>
        </p:nvSpPr>
        <p:spPr>
          <a:xfrm>
            <a:off x="6400800" y="2194560"/>
            <a:ext cx="5212080" cy="4114800"/>
          </a:xfrm>
          <a:prstGeom prst="rect">
            <a:avLst/>
          </a:prstGeom>
          <a:noFill/>
        </p:spPr>
        <p:txBody>
          <a:bodyPr wrap="square">
            <a:spAutoFit/>
          </a:bodyPr>
          <a:lstStyle/>
          <a:p>
            <a:pPr algn="l"/>
            <a:r>
              <a:rPr sz="1600" b="0" i="0">
                <a:solidFill>
                  <a:srgbClr val="444466"/>
                </a:solidFill>
              </a:rPr>
              <a:t>Role:
_________________________________
_________________________________
Task:
_________________________________
_________________________________
_________________________________
Format:
_________________________________
_________________________________
Then test it with your favorite AI tool!</a:t>
            </a:r>
          </a:p>
        </p:txBody>
      </p:sp>
      <p:sp>
        <p:nvSpPr>
          <p:cNvPr id="11" name="TextBox 10"/>
          <p:cNvSpPr txBox="1"/>
          <p:nvPr/>
        </p:nvSpPr>
        <p:spPr>
          <a:xfrm>
            <a:off x="365760" y="6537960"/>
            <a:ext cx="11430000" cy="320040"/>
          </a:xfrm>
          <a:prstGeom prst="rect">
            <a:avLst/>
          </a:prstGeom>
          <a:noFill/>
        </p:spPr>
        <p:txBody>
          <a:bodyPr wrap="square">
            <a:spAutoFit/>
          </a:bodyPr>
          <a:lstStyle/>
          <a:p>
            <a:pPr algn="l"/>
            <a:r>
              <a:rPr sz="1600" b="1" i="1">
                <a:solidFill>
                  <a:srgbClr val="FF6D00"/>
                </a:solidFill>
              </a:rPr>
              <a:t>Time: 5 minutes  |  Try it out and share your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Interactive Activity: Try the CO-STAR Framework</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Apply CO-STAR to a content creation challenge</a:t>
            </a:r>
          </a:p>
        </p:txBody>
      </p:sp>
      <p:sp>
        <p:nvSpPr>
          <p:cNvPr id="5" name="Rounded Rectangle 4"/>
          <p:cNvSpPr/>
          <p:nvPr/>
        </p:nvSpPr>
        <p:spPr>
          <a:xfrm>
            <a:off x="365760" y="1508760"/>
            <a:ext cx="5486400" cy="5029200"/>
          </a:xfrm>
          <a:prstGeom prst="roundRect">
            <a:avLst/>
          </a:prstGeom>
          <a:solidFill>
            <a:srgbClr val="FD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120640" cy="411480"/>
          </a:xfrm>
          <a:prstGeom prst="rect">
            <a:avLst/>
          </a:prstGeom>
          <a:noFill/>
        </p:spPr>
        <p:txBody>
          <a:bodyPr wrap="square">
            <a:spAutoFit/>
          </a:bodyPr>
          <a:lstStyle/>
          <a:p>
            <a:pPr algn="l"/>
            <a:r>
              <a:rPr sz="2200" b="1" i="0">
                <a:solidFill>
                  <a:srgbClr val="FF6D00"/>
                </a:solidFill>
              </a:rPr>
              <a:t>Your Challenge</a:t>
            </a:r>
          </a:p>
        </p:txBody>
      </p:sp>
      <p:sp>
        <p:nvSpPr>
          <p:cNvPr id="7" name="TextBox 6"/>
          <p:cNvSpPr txBox="1"/>
          <p:nvPr/>
        </p:nvSpPr>
        <p:spPr>
          <a:xfrm>
            <a:off x="548640" y="2103120"/>
            <a:ext cx="5120640" cy="4114800"/>
          </a:xfrm>
          <a:prstGeom prst="rect">
            <a:avLst/>
          </a:prstGeom>
          <a:noFill/>
        </p:spPr>
        <p:txBody>
          <a:bodyPr wrap="square">
            <a:spAutoFit/>
          </a:bodyPr>
          <a:lstStyle/>
          <a:p>
            <a:pPr algn="l"/>
            <a:r>
              <a:rPr sz="1600" b="0" i="0">
                <a:solidFill>
                  <a:srgbClr val="1A1A2E"/>
                </a:solidFill>
              </a:rPr>
              <a:t>Scenario: You need to write a LinkedIn post
announcing a new product, service, or initiative
at your organization.
Use CO-STAR to build your prompt:
  C  — What's the context/background?
  O  — What's the objective of this post?
  S  — What writing style fits LinkedIn?
  T  — What tone do you want?
  A  — Who is your target audience?
  R  — What format should the output be?</a:t>
            </a:r>
          </a:p>
        </p:txBody>
      </p:sp>
      <p:sp>
        <p:nvSpPr>
          <p:cNvPr id="8" name="Rounded Rectangle 7"/>
          <p:cNvSpPr/>
          <p:nvPr/>
        </p:nvSpPr>
        <p:spPr>
          <a:xfrm>
            <a:off x="6217920" y="1508760"/>
            <a:ext cx="5577840" cy="50292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212080" cy="411480"/>
          </a:xfrm>
          <a:prstGeom prst="rect">
            <a:avLst/>
          </a:prstGeom>
          <a:noFill/>
        </p:spPr>
        <p:txBody>
          <a:bodyPr wrap="square">
            <a:spAutoFit/>
          </a:bodyPr>
          <a:lstStyle/>
          <a:p>
            <a:pPr algn="l"/>
            <a:r>
              <a:rPr sz="2200" b="1" i="0">
                <a:solidFill>
                  <a:srgbClr val="6C35DE"/>
                </a:solidFill>
              </a:rPr>
              <a:t>Build Your CO-STAR Prompt</a:t>
            </a:r>
          </a:p>
        </p:txBody>
      </p:sp>
      <p:sp>
        <p:nvSpPr>
          <p:cNvPr id="10" name="TextBox 9"/>
          <p:cNvSpPr txBox="1"/>
          <p:nvPr/>
        </p:nvSpPr>
        <p:spPr>
          <a:xfrm>
            <a:off x="6400800" y="2103120"/>
            <a:ext cx="5212080" cy="4389120"/>
          </a:xfrm>
          <a:prstGeom prst="rect">
            <a:avLst/>
          </a:prstGeom>
          <a:noFill/>
        </p:spPr>
        <p:txBody>
          <a:bodyPr wrap="square">
            <a:spAutoFit/>
          </a:bodyPr>
          <a:lstStyle/>
          <a:p>
            <a:pPr algn="l"/>
            <a:r>
              <a:rPr sz="1500" b="0" i="0">
                <a:solidFill>
                  <a:srgbClr val="444466"/>
                </a:solidFill>
              </a:rPr>
              <a:t>C (Context):
_________________________________
O (Objective):
_________________________________
S (Style):
_________________________________
T (Tone):
_________________________________
A (Audience):
_________________________________
R (Response):
_________________________________</a:t>
            </a:r>
          </a:p>
        </p:txBody>
      </p:sp>
      <p:sp>
        <p:nvSpPr>
          <p:cNvPr id="11" name="TextBox 10"/>
          <p:cNvSpPr txBox="1"/>
          <p:nvPr/>
        </p:nvSpPr>
        <p:spPr>
          <a:xfrm>
            <a:off x="365760" y="6537960"/>
            <a:ext cx="11430000" cy="320040"/>
          </a:xfrm>
          <a:prstGeom prst="rect">
            <a:avLst/>
          </a:prstGeom>
          <a:noFill/>
        </p:spPr>
        <p:txBody>
          <a:bodyPr wrap="square">
            <a:spAutoFit/>
          </a:bodyPr>
          <a:lstStyle/>
          <a:p>
            <a:pPr algn="l"/>
            <a:r>
              <a:rPr sz="1600" b="1" i="1">
                <a:solidFill>
                  <a:srgbClr val="FF6D00"/>
                </a:solidFill>
              </a:rPr>
              <a:t>Time: 5 minutes  |  Compare your prompt and output with a neighbor!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rPr>
              <a:t>2</a:t>
            </a:r>
          </a:p>
        </p:txBody>
      </p:sp>
      <p:sp>
        <p:nvSpPr>
          <p:cNvPr id="3" name="Rectangle 2"/>
          <p:cNvSpPr/>
          <p:nvPr/>
        </p:nvSpPr>
        <p:spPr>
          <a:xfrm>
            <a:off x="0" y="0"/>
            <a:ext cx="502920" cy="6858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FD600"/>
                </a:solidFill>
              </a:rPr>
              <a:t>SECTION 2</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rPr>
              <a:t>Green Prompting</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E8ECF8"/>
                </a:solidFill>
              </a:rPr>
              <a:t>How better prompts reduce environmental impact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The Environmental Cost of AI</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Every query has an energy footprint</a:t>
            </a:r>
          </a:p>
        </p:txBody>
      </p:sp>
      <p:sp>
        <p:nvSpPr>
          <p:cNvPr id="5" name="Rounded Rectangle 4"/>
          <p:cNvSpPr/>
          <p:nvPr/>
        </p:nvSpPr>
        <p:spPr>
          <a:xfrm>
            <a:off x="365760" y="1508760"/>
            <a:ext cx="5486400" cy="50292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120640" cy="411480"/>
          </a:xfrm>
          <a:prstGeom prst="rect">
            <a:avLst/>
          </a:prstGeom>
          <a:noFill/>
        </p:spPr>
        <p:txBody>
          <a:bodyPr wrap="square">
            <a:spAutoFit/>
          </a:bodyPr>
          <a:lstStyle/>
          <a:p>
            <a:pPr algn="l"/>
            <a:r>
              <a:rPr sz="2200" b="1" i="0">
                <a:solidFill>
                  <a:srgbClr val="E91E8C"/>
                </a:solidFill>
              </a:rPr>
              <a:t>The Reality</a:t>
            </a:r>
          </a:p>
        </p:txBody>
      </p:sp>
      <p:sp>
        <p:nvSpPr>
          <p:cNvPr id="7" name="TextBox 6"/>
          <p:cNvSpPr txBox="1"/>
          <p:nvPr/>
        </p:nvSpPr>
        <p:spPr>
          <a:xfrm>
            <a:off x="548640" y="2148840"/>
            <a:ext cx="5120640" cy="4114800"/>
          </a:xfrm>
          <a:prstGeom prst="rect">
            <a:avLst/>
          </a:prstGeom>
          <a:noFill/>
        </p:spPr>
        <p:txBody>
          <a:bodyPr wrap="square">
            <a:spAutoFit/>
          </a:bodyPr>
          <a:lstStyle/>
          <a:p>
            <a:pPr algn="l"/>
            <a:r>
              <a:rPr sz="1600" b="0" i="0">
                <a:solidFill>
                  <a:srgbClr val="1A1A2E"/>
                </a:solidFill>
              </a:rPr>
              <a:t>AI models run on massive data centers that
consume significant energy and water.
  A single ChatGPT query uses roughly
  10x the energy of a Google search
  Training GPT-4 used an estimated
  50 GWh of electricity
  Data centers account for ~1-1.5% of
  global electricity consumption
Every unnecessary re-prompt, vague query,
or discarded output wastes energy.</a:t>
            </a:r>
          </a:p>
        </p:txBody>
      </p:sp>
      <p:sp>
        <p:nvSpPr>
          <p:cNvPr id="8" name="Rounded Rectangle 7"/>
          <p:cNvSpPr/>
          <p:nvPr/>
        </p:nvSpPr>
        <p:spPr>
          <a:xfrm>
            <a:off x="6217920" y="1508760"/>
            <a:ext cx="5577840" cy="50292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212080" cy="411480"/>
          </a:xfrm>
          <a:prstGeom prst="rect">
            <a:avLst/>
          </a:prstGeom>
          <a:noFill/>
        </p:spPr>
        <p:txBody>
          <a:bodyPr wrap="square">
            <a:spAutoFit/>
          </a:bodyPr>
          <a:lstStyle/>
          <a:p>
            <a:pPr algn="l"/>
            <a:r>
              <a:rPr sz="2200" b="1" i="0">
                <a:solidFill>
                  <a:srgbClr val="2E7D32"/>
                </a:solidFill>
              </a:rPr>
              <a:t>Better Prompts = Greener AI</a:t>
            </a:r>
          </a:p>
        </p:txBody>
      </p:sp>
      <p:sp>
        <p:nvSpPr>
          <p:cNvPr id="10" name="TextBox 9"/>
          <p:cNvSpPr txBox="1"/>
          <p:nvPr/>
        </p:nvSpPr>
        <p:spPr>
          <a:xfrm>
            <a:off x="6400800" y="2148840"/>
            <a:ext cx="5212080" cy="4114800"/>
          </a:xfrm>
          <a:prstGeom prst="rect">
            <a:avLst/>
          </a:prstGeom>
          <a:noFill/>
        </p:spPr>
        <p:txBody>
          <a:bodyPr wrap="square">
            <a:spAutoFit/>
          </a:bodyPr>
          <a:lstStyle/>
          <a:p>
            <a:pPr algn="l"/>
            <a:r>
              <a:rPr sz="1600" b="0" i="0">
                <a:solidFill>
                  <a:srgbClr val="1A1A2E"/>
                </a:solidFill>
              </a:rPr>
              <a:t>When you prompt well, you:
  Reduce the number of follow-up queries
  — fewer round trips = less compute
  Get usable output on the first try
  — no wasted generation cycles
  Use shorter, targeted prompts when simple
  tasks don't need elaborate frameworks
  Make intentional choices about when to
  use AI vs. when you don't need it
Efficient prompting is sustainable prompting.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Green Prompting Best Practices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Small changes, big environmental impact</a:t>
            </a:r>
          </a:p>
        </p:txBody>
      </p:sp>
      <p:sp>
        <p:nvSpPr>
          <p:cNvPr id="5" name="Rounded Rectangle 4"/>
          <p:cNvSpPr/>
          <p:nvPr/>
        </p:nvSpPr>
        <p:spPr>
          <a:xfrm>
            <a:off x="365760" y="1554480"/>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228600"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10789920" cy="320040"/>
          </a:xfrm>
          <a:prstGeom prst="rect">
            <a:avLst/>
          </a:prstGeom>
          <a:noFill/>
        </p:spPr>
        <p:txBody>
          <a:bodyPr wrap="square">
            <a:spAutoFit/>
          </a:bodyPr>
          <a:lstStyle/>
          <a:p>
            <a:pPr algn="l"/>
            <a:r>
              <a:rPr sz="1800" b="1" i="0">
                <a:solidFill>
                  <a:srgbClr val="2E7D32"/>
                </a:solidFill>
              </a:rPr>
              <a:t>Be Specific the First Time</a:t>
            </a:r>
          </a:p>
        </p:txBody>
      </p:sp>
      <p:sp>
        <p:nvSpPr>
          <p:cNvPr id="8" name="TextBox 7"/>
          <p:cNvSpPr txBox="1"/>
          <p:nvPr/>
        </p:nvSpPr>
        <p:spPr>
          <a:xfrm>
            <a:off x="777240" y="1938528"/>
            <a:ext cx="10789920" cy="502920"/>
          </a:xfrm>
          <a:prstGeom prst="rect">
            <a:avLst/>
          </a:prstGeom>
          <a:noFill/>
        </p:spPr>
        <p:txBody>
          <a:bodyPr wrap="square">
            <a:spAutoFit/>
          </a:bodyPr>
          <a:lstStyle/>
          <a:p>
            <a:pPr algn="l"/>
            <a:r>
              <a:rPr sz="1500" b="0" i="0">
                <a:solidFill>
                  <a:srgbClr val="444466"/>
                </a:solidFill>
              </a:rPr>
              <a:t>Use a framework. Provide context. Vague prompts lead to multiple retries.</a:t>
            </a:r>
          </a:p>
        </p:txBody>
      </p:sp>
      <p:sp>
        <p:nvSpPr>
          <p:cNvPr id="9" name="Rounded Rectangle 8"/>
          <p:cNvSpPr/>
          <p:nvPr/>
        </p:nvSpPr>
        <p:spPr>
          <a:xfrm>
            <a:off x="365760" y="2578608"/>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578608"/>
            <a:ext cx="228600" cy="91440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24328"/>
            <a:ext cx="10789920" cy="320040"/>
          </a:xfrm>
          <a:prstGeom prst="rect">
            <a:avLst/>
          </a:prstGeom>
          <a:noFill/>
        </p:spPr>
        <p:txBody>
          <a:bodyPr wrap="square">
            <a:spAutoFit/>
          </a:bodyPr>
          <a:lstStyle/>
          <a:p>
            <a:pPr algn="l"/>
            <a:r>
              <a:rPr sz="1800" b="1" i="0">
                <a:solidFill>
                  <a:srgbClr val="00BFA5"/>
                </a:solidFill>
              </a:rPr>
              <a:t>Right-Size Your Prompt</a:t>
            </a:r>
          </a:p>
        </p:txBody>
      </p:sp>
      <p:sp>
        <p:nvSpPr>
          <p:cNvPr id="12" name="TextBox 11"/>
          <p:cNvSpPr txBox="1"/>
          <p:nvPr/>
        </p:nvSpPr>
        <p:spPr>
          <a:xfrm>
            <a:off x="777240" y="2962656"/>
            <a:ext cx="10789920" cy="502920"/>
          </a:xfrm>
          <a:prstGeom prst="rect">
            <a:avLst/>
          </a:prstGeom>
          <a:noFill/>
        </p:spPr>
        <p:txBody>
          <a:bodyPr wrap="square">
            <a:spAutoFit/>
          </a:bodyPr>
          <a:lstStyle/>
          <a:p>
            <a:pPr algn="l"/>
            <a:r>
              <a:rPr sz="1500" b="0" i="0">
                <a:solidFill>
                  <a:srgbClr val="444466"/>
                </a:solidFill>
              </a:rPr>
              <a:t>Not every task needs a 6-part framework. A simple question? Just ask it clearly.</a:t>
            </a:r>
          </a:p>
        </p:txBody>
      </p:sp>
      <p:sp>
        <p:nvSpPr>
          <p:cNvPr id="13" name="Rounded Rectangle 12"/>
          <p:cNvSpPr/>
          <p:nvPr/>
        </p:nvSpPr>
        <p:spPr>
          <a:xfrm>
            <a:off x="365760" y="3602736"/>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602736"/>
            <a:ext cx="228600" cy="91440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648456"/>
            <a:ext cx="10789920" cy="320040"/>
          </a:xfrm>
          <a:prstGeom prst="rect">
            <a:avLst/>
          </a:prstGeom>
          <a:noFill/>
        </p:spPr>
        <p:txBody>
          <a:bodyPr wrap="square">
            <a:spAutoFit/>
          </a:bodyPr>
          <a:lstStyle/>
          <a:p>
            <a:pPr algn="l"/>
            <a:r>
              <a:rPr sz="1800" b="1" i="0">
                <a:solidFill>
                  <a:srgbClr val="228BE6"/>
                </a:solidFill>
              </a:rPr>
              <a:t>Batch Related Questions</a:t>
            </a:r>
          </a:p>
        </p:txBody>
      </p:sp>
      <p:sp>
        <p:nvSpPr>
          <p:cNvPr id="16" name="TextBox 15"/>
          <p:cNvSpPr txBox="1"/>
          <p:nvPr/>
        </p:nvSpPr>
        <p:spPr>
          <a:xfrm>
            <a:off x="777240" y="3986784"/>
            <a:ext cx="10789920" cy="502920"/>
          </a:xfrm>
          <a:prstGeom prst="rect">
            <a:avLst/>
          </a:prstGeom>
          <a:noFill/>
        </p:spPr>
        <p:txBody>
          <a:bodyPr wrap="square">
            <a:spAutoFit/>
          </a:bodyPr>
          <a:lstStyle/>
          <a:p>
            <a:pPr algn="l"/>
            <a:r>
              <a:rPr sz="1500" b="0" i="0">
                <a:solidFill>
                  <a:srgbClr val="444466"/>
                </a:solidFill>
              </a:rPr>
              <a:t>Combine related asks into one prompt instead of sending five separate messages.</a:t>
            </a:r>
          </a:p>
        </p:txBody>
      </p:sp>
      <p:sp>
        <p:nvSpPr>
          <p:cNvPr id="17" name="Rounded Rectangle 16"/>
          <p:cNvSpPr/>
          <p:nvPr/>
        </p:nvSpPr>
        <p:spPr>
          <a:xfrm>
            <a:off x="365760" y="4626864"/>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4626864"/>
            <a:ext cx="228600" cy="91440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672584"/>
            <a:ext cx="10789920" cy="320040"/>
          </a:xfrm>
          <a:prstGeom prst="rect">
            <a:avLst/>
          </a:prstGeom>
          <a:noFill/>
        </p:spPr>
        <p:txBody>
          <a:bodyPr wrap="square">
            <a:spAutoFit/>
          </a:bodyPr>
          <a:lstStyle/>
          <a:p>
            <a:pPr algn="l"/>
            <a:r>
              <a:rPr sz="1800" b="1" i="0">
                <a:solidFill>
                  <a:srgbClr val="6C35DE"/>
                </a:solidFill>
              </a:rPr>
              <a:t>Evaluate Before Re-Prompting</a:t>
            </a:r>
          </a:p>
        </p:txBody>
      </p:sp>
      <p:sp>
        <p:nvSpPr>
          <p:cNvPr id="20" name="TextBox 19"/>
          <p:cNvSpPr txBox="1"/>
          <p:nvPr/>
        </p:nvSpPr>
        <p:spPr>
          <a:xfrm>
            <a:off x="777240" y="5010912"/>
            <a:ext cx="10789920" cy="502920"/>
          </a:xfrm>
          <a:prstGeom prst="rect">
            <a:avLst/>
          </a:prstGeom>
          <a:noFill/>
        </p:spPr>
        <p:txBody>
          <a:bodyPr wrap="square">
            <a:spAutoFit/>
          </a:bodyPr>
          <a:lstStyle/>
          <a:p>
            <a:pPr algn="l"/>
            <a:r>
              <a:rPr sz="1500" b="0" i="0">
                <a:solidFill>
                  <a:srgbClr val="444466"/>
                </a:solidFill>
              </a:rPr>
              <a:t>Can you edit the output yourself instead of regenerating? Often a small tweak is faster and greener.</a:t>
            </a:r>
          </a:p>
        </p:txBody>
      </p:sp>
      <p:sp>
        <p:nvSpPr>
          <p:cNvPr id="21" name="Rounded Rectangle 20"/>
          <p:cNvSpPr/>
          <p:nvPr/>
        </p:nvSpPr>
        <p:spPr>
          <a:xfrm>
            <a:off x="365760" y="5650992"/>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650992"/>
            <a:ext cx="228600" cy="91440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696712"/>
            <a:ext cx="10789920" cy="320040"/>
          </a:xfrm>
          <a:prstGeom prst="rect">
            <a:avLst/>
          </a:prstGeom>
          <a:noFill/>
        </p:spPr>
        <p:txBody>
          <a:bodyPr wrap="square">
            <a:spAutoFit/>
          </a:bodyPr>
          <a:lstStyle/>
          <a:p>
            <a:pPr algn="l"/>
            <a:r>
              <a:rPr sz="1800" b="1" i="0">
                <a:solidFill>
                  <a:srgbClr val="FF6D00"/>
                </a:solidFill>
              </a:rPr>
              <a:t>Ask Yourself: Do I Need AI for This?</a:t>
            </a:r>
          </a:p>
        </p:txBody>
      </p:sp>
      <p:sp>
        <p:nvSpPr>
          <p:cNvPr id="24" name="TextBox 23"/>
          <p:cNvSpPr txBox="1"/>
          <p:nvPr/>
        </p:nvSpPr>
        <p:spPr>
          <a:xfrm>
            <a:off x="777240" y="6035040"/>
            <a:ext cx="10789920" cy="502920"/>
          </a:xfrm>
          <a:prstGeom prst="rect">
            <a:avLst/>
          </a:prstGeom>
          <a:noFill/>
        </p:spPr>
        <p:txBody>
          <a:bodyPr wrap="square">
            <a:spAutoFit/>
          </a:bodyPr>
          <a:lstStyle/>
          <a:p>
            <a:pPr algn="l"/>
            <a:r>
              <a:rPr sz="1500" b="0" i="0">
                <a:solidFill>
                  <a:srgbClr val="444466"/>
                </a:solidFill>
              </a:rPr>
              <a:t>Sometimes a quick search, a template, or your own expertise is the better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28BE6"/>
        </a:solidFill>
        <a:effectLst/>
      </p:bgPr>
    </p:bg>
    <p:spTree>
      <p:nvGrpSpPr>
        <p:cNvPr id="1" name=""/>
        <p:cNvGrpSpPr/>
        <p:nvPr/>
      </p:nvGrpSpPr>
      <p:grpSpPr/>
      <p:sp>
        <p:nvSpPr>
          <p:cNvPr id="2" name="TextBox 1"/>
          <p:cNvSpPr txBox="1"/>
          <p:nvPr/>
        </p:nvSpPr>
        <p:spPr>
          <a:xfrm>
            <a:off x="7772400" y="457200"/>
            <a:ext cx="4114800" cy="5943600"/>
          </a:xfrm>
          <a:prstGeom prst="rect">
            <a:avLst/>
          </a:prstGeom>
          <a:noFill/>
        </p:spPr>
        <p:txBody>
          <a:bodyPr wrap="square">
            <a:spAutoFit/>
          </a:bodyPr>
          <a:lstStyle/>
          <a:p>
            <a:pPr algn="l"/>
            <a:r>
              <a:rPr sz="28000" b="1" i="0">
                <a:solidFill>
                  <a:srgbClr val="FFFFFF"/>
                </a:solidFill>
              </a:rPr>
              <a:t>3</a:t>
            </a:r>
          </a:p>
        </p:txBody>
      </p:sp>
      <p:sp>
        <p:nvSpPr>
          <p:cNvPr id="3" name="Rectangle 2"/>
          <p:cNvSpPr/>
          <p:nvPr/>
        </p:nvSpPr>
        <p:spPr>
          <a:xfrm>
            <a:off x="0" y="0"/>
            <a:ext cx="502920" cy="6858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9144000" cy="502920"/>
          </a:xfrm>
          <a:prstGeom prst="rect">
            <a:avLst/>
          </a:prstGeom>
          <a:noFill/>
        </p:spPr>
        <p:txBody>
          <a:bodyPr wrap="square">
            <a:spAutoFit/>
          </a:bodyPr>
          <a:lstStyle/>
          <a:p>
            <a:pPr algn="l"/>
            <a:r>
              <a:rPr sz="1800" b="1" i="1">
                <a:solidFill>
                  <a:srgbClr val="FFD600"/>
                </a:solidFill>
              </a:rPr>
              <a:t>SECTION 3</a:t>
            </a:r>
          </a:p>
        </p:txBody>
      </p:sp>
      <p:sp>
        <p:nvSpPr>
          <p:cNvPr id="5" name="TextBox 4"/>
          <p:cNvSpPr txBox="1"/>
          <p:nvPr/>
        </p:nvSpPr>
        <p:spPr>
          <a:xfrm>
            <a:off x="777240" y="2514600"/>
            <a:ext cx="9601200" cy="1371600"/>
          </a:xfrm>
          <a:prstGeom prst="rect">
            <a:avLst/>
          </a:prstGeom>
          <a:noFill/>
        </p:spPr>
        <p:txBody>
          <a:bodyPr wrap="square">
            <a:spAutoFit/>
          </a:bodyPr>
          <a:lstStyle/>
          <a:p>
            <a:pPr algn="l"/>
            <a:r>
              <a:rPr sz="4600" b="1" i="0">
                <a:solidFill>
                  <a:srgbClr val="FFFFFF"/>
                </a:solidFill>
              </a:rPr>
              <a:t>Refining Prompts &amp;
Evaluating Outputs</a:t>
            </a:r>
          </a:p>
        </p:txBody>
      </p:sp>
      <p:sp>
        <p:nvSpPr>
          <p:cNvPr id="6" name="TextBox 5"/>
          <p:cNvSpPr txBox="1"/>
          <p:nvPr/>
        </p:nvSpPr>
        <p:spPr>
          <a:xfrm>
            <a:off x="777240" y="4023360"/>
            <a:ext cx="9601200" cy="777240"/>
          </a:xfrm>
          <a:prstGeom prst="rect">
            <a:avLst/>
          </a:prstGeom>
          <a:noFill/>
        </p:spPr>
        <p:txBody>
          <a:bodyPr wrap="square">
            <a:spAutoFit/>
          </a:bodyPr>
          <a:lstStyle/>
          <a:p>
            <a:pPr algn="l"/>
            <a:r>
              <a:rPr sz="2200" b="0" i="1">
                <a:solidFill>
                  <a:srgbClr val="E8ECF8"/>
                </a:solidFill>
              </a:rPr>
              <a:t>Iterating toward excellence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The Prompt Refinement Cycle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Great prompts rarely happen on the first try</a:t>
            </a:r>
          </a:p>
        </p:txBody>
      </p:sp>
      <p:sp>
        <p:nvSpPr>
          <p:cNvPr id="5" name="Rounded Rectangle 4"/>
          <p:cNvSpPr/>
          <p:nvPr/>
        </p:nvSpPr>
        <p:spPr>
          <a:xfrm>
            <a:off x="320040" y="1645920"/>
            <a:ext cx="2148840" cy="237744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645920"/>
            <a:ext cx="2148840" cy="50292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673352"/>
            <a:ext cx="1965960" cy="411480"/>
          </a:xfrm>
          <a:prstGeom prst="rect">
            <a:avLst/>
          </a:prstGeom>
          <a:noFill/>
        </p:spPr>
        <p:txBody>
          <a:bodyPr wrap="square">
            <a:spAutoFit/>
          </a:bodyPr>
          <a:lstStyle/>
          <a:p>
            <a:pPr algn="ctr"/>
            <a:r>
              <a:rPr sz="1800" b="1" i="0">
                <a:solidFill>
                  <a:srgbClr val="FFFFFF"/>
                </a:solidFill>
              </a:rPr>
              <a:t>Step 1</a:t>
            </a:r>
          </a:p>
        </p:txBody>
      </p:sp>
      <p:sp>
        <p:nvSpPr>
          <p:cNvPr id="8" name="TextBox 7"/>
          <p:cNvSpPr txBox="1"/>
          <p:nvPr/>
        </p:nvSpPr>
        <p:spPr>
          <a:xfrm>
            <a:off x="457200" y="2240280"/>
            <a:ext cx="1874520" cy="365760"/>
          </a:xfrm>
          <a:prstGeom prst="rect">
            <a:avLst/>
          </a:prstGeom>
          <a:noFill/>
        </p:spPr>
        <p:txBody>
          <a:bodyPr wrap="square">
            <a:spAutoFit/>
          </a:bodyPr>
          <a:lstStyle/>
          <a:p>
            <a:pPr algn="ctr"/>
            <a:r>
              <a:rPr sz="1600" b="1" i="0">
                <a:solidFill>
                  <a:srgbClr val="1A1A2E"/>
                </a:solidFill>
              </a:rPr>
              <a:t>Draft Your Prompt</a:t>
            </a:r>
          </a:p>
        </p:txBody>
      </p:sp>
      <p:sp>
        <p:nvSpPr>
          <p:cNvPr id="9" name="TextBox 8"/>
          <p:cNvSpPr txBox="1"/>
          <p:nvPr/>
        </p:nvSpPr>
        <p:spPr>
          <a:xfrm>
            <a:off x="457200" y="2651760"/>
            <a:ext cx="1874520" cy="1188720"/>
          </a:xfrm>
          <a:prstGeom prst="rect">
            <a:avLst/>
          </a:prstGeom>
          <a:noFill/>
        </p:spPr>
        <p:txBody>
          <a:bodyPr wrap="square">
            <a:spAutoFit/>
          </a:bodyPr>
          <a:lstStyle/>
          <a:p>
            <a:pPr algn="ctr"/>
            <a:r>
              <a:rPr sz="1400" b="0" i="0">
                <a:solidFill>
                  <a:srgbClr val="444466"/>
                </a:solidFill>
              </a:rPr>
              <a:t>Use a framework to
build your initial prompt</a:t>
            </a:r>
          </a:p>
        </p:txBody>
      </p:sp>
      <p:sp>
        <p:nvSpPr>
          <p:cNvPr id="10" name="Rounded Rectangle 9"/>
          <p:cNvSpPr/>
          <p:nvPr/>
        </p:nvSpPr>
        <p:spPr>
          <a:xfrm>
            <a:off x="2651760" y="1645920"/>
            <a:ext cx="2148840" cy="237744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51760" y="1645920"/>
            <a:ext cx="2148840" cy="50292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673352"/>
            <a:ext cx="1965960" cy="411480"/>
          </a:xfrm>
          <a:prstGeom prst="rect">
            <a:avLst/>
          </a:prstGeom>
          <a:noFill/>
        </p:spPr>
        <p:txBody>
          <a:bodyPr wrap="square">
            <a:spAutoFit/>
          </a:bodyPr>
          <a:lstStyle/>
          <a:p>
            <a:pPr algn="ctr"/>
            <a:r>
              <a:rPr sz="1800" b="1" i="0">
                <a:solidFill>
                  <a:srgbClr val="FFFFFF"/>
                </a:solidFill>
              </a:rPr>
              <a:t>Step 2</a:t>
            </a:r>
          </a:p>
        </p:txBody>
      </p:sp>
      <p:sp>
        <p:nvSpPr>
          <p:cNvPr id="13" name="TextBox 12"/>
          <p:cNvSpPr txBox="1"/>
          <p:nvPr/>
        </p:nvSpPr>
        <p:spPr>
          <a:xfrm>
            <a:off x="2788920" y="2240280"/>
            <a:ext cx="1874520" cy="365760"/>
          </a:xfrm>
          <a:prstGeom prst="rect">
            <a:avLst/>
          </a:prstGeom>
          <a:noFill/>
        </p:spPr>
        <p:txBody>
          <a:bodyPr wrap="square">
            <a:spAutoFit/>
          </a:bodyPr>
          <a:lstStyle/>
          <a:p>
            <a:pPr algn="ctr"/>
            <a:r>
              <a:rPr sz="1600" b="1" i="0">
                <a:solidFill>
                  <a:srgbClr val="1A1A2E"/>
                </a:solidFill>
              </a:rPr>
              <a:t>Run &amp; Review</a:t>
            </a:r>
          </a:p>
        </p:txBody>
      </p:sp>
      <p:sp>
        <p:nvSpPr>
          <p:cNvPr id="14" name="TextBox 13"/>
          <p:cNvSpPr txBox="1"/>
          <p:nvPr/>
        </p:nvSpPr>
        <p:spPr>
          <a:xfrm>
            <a:off x="2788920" y="2651760"/>
            <a:ext cx="1874520" cy="1188720"/>
          </a:xfrm>
          <a:prstGeom prst="rect">
            <a:avLst/>
          </a:prstGeom>
          <a:noFill/>
        </p:spPr>
        <p:txBody>
          <a:bodyPr wrap="square">
            <a:spAutoFit/>
          </a:bodyPr>
          <a:lstStyle/>
          <a:p>
            <a:pPr algn="ctr"/>
            <a:r>
              <a:rPr sz="1400" b="0" i="0">
                <a:solidFill>
                  <a:srgbClr val="444466"/>
                </a:solidFill>
              </a:rPr>
              <a:t>Submit the prompt and
carefully read the output</a:t>
            </a:r>
          </a:p>
        </p:txBody>
      </p:sp>
      <p:sp>
        <p:nvSpPr>
          <p:cNvPr id="15" name="Rounded Rectangle 14"/>
          <p:cNvSpPr/>
          <p:nvPr/>
        </p:nvSpPr>
        <p:spPr>
          <a:xfrm>
            <a:off x="4983480" y="1645920"/>
            <a:ext cx="2148840" cy="237744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83480" y="1645920"/>
            <a:ext cx="2148840" cy="50292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1673352"/>
            <a:ext cx="1965960" cy="411480"/>
          </a:xfrm>
          <a:prstGeom prst="rect">
            <a:avLst/>
          </a:prstGeom>
          <a:noFill/>
        </p:spPr>
        <p:txBody>
          <a:bodyPr wrap="square">
            <a:spAutoFit/>
          </a:bodyPr>
          <a:lstStyle/>
          <a:p>
            <a:pPr algn="ctr"/>
            <a:r>
              <a:rPr sz="1800" b="1" i="0">
                <a:solidFill>
                  <a:srgbClr val="FFFFFF"/>
                </a:solidFill>
              </a:rPr>
              <a:t>Step 3</a:t>
            </a:r>
          </a:p>
        </p:txBody>
      </p:sp>
      <p:sp>
        <p:nvSpPr>
          <p:cNvPr id="18" name="TextBox 17"/>
          <p:cNvSpPr txBox="1"/>
          <p:nvPr/>
        </p:nvSpPr>
        <p:spPr>
          <a:xfrm>
            <a:off x="5120640" y="2240280"/>
            <a:ext cx="1874520" cy="365760"/>
          </a:xfrm>
          <a:prstGeom prst="rect">
            <a:avLst/>
          </a:prstGeom>
          <a:noFill/>
        </p:spPr>
        <p:txBody>
          <a:bodyPr wrap="square">
            <a:spAutoFit/>
          </a:bodyPr>
          <a:lstStyle/>
          <a:p>
            <a:pPr algn="ctr"/>
            <a:r>
              <a:rPr sz="1600" b="1" i="0">
                <a:solidFill>
                  <a:srgbClr val="1A1A2E"/>
                </a:solidFill>
              </a:rPr>
              <a:t>Identify Gaps</a:t>
            </a:r>
          </a:p>
        </p:txBody>
      </p:sp>
      <p:sp>
        <p:nvSpPr>
          <p:cNvPr id="19" name="TextBox 18"/>
          <p:cNvSpPr txBox="1"/>
          <p:nvPr/>
        </p:nvSpPr>
        <p:spPr>
          <a:xfrm>
            <a:off x="5120640" y="2651760"/>
            <a:ext cx="1874520" cy="1188720"/>
          </a:xfrm>
          <a:prstGeom prst="rect">
            <a:avLst/>
          </a:prstGeom>
          <a:noFill/>
        </p:spPr>
        <p:txBody>
          <a:bodyPr wrap="square">
            <a:spAutoFit/>
          </a:bodyPr>
          <a:lstStyle/>
          <a:p>
            <a:pPr algn="ctr"/>
            <a:r>
              <a:rPr sz="1400" b="0" i="0">
                <a:solidFill>
                  <a:srgbClr val="444466"/>
                </a:solidFill>
              </a:rPr>
              <a:t>What's missing? What's
wrong? What's off-tone?</a:t>
            </a:r>
          </a:p>
        </p:txBody>
      </p:sp>
      <p:sp>
        <p:nvSpPr>
          <p:cNvPr id="20" name="Rounded Rectangle 19"/>
          <p:cNvSpPr/>
          <p:nvPr/>
        </p:nvSpPr>
        <p:spPr>
          <a:xfrm>
            <a:off x="7315200" y="1645920"/>
            <a:ext cx="2148840" cy="237744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0" y="1645920"/>
            <a:ext cx="2148840" cy="50292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673352"/>
            <a:ext cx="1965960" cy="411480"/>
          </a:xfrm>
          <a:prstGeom prst="rect">
            <a:avLst/>
          </a:prstGeom>
          <a:noFill/>
        </p:spPr>
        <p:txBody>
          <a:bodyPr wrap="square">
            <a:spAutoFit/>
          </a:bodyPr>
          <a:lstStyle/>
          <a:p>
            <a:pPr algn="ctr"/>
            <a:r>
              <a:rPr sz="1800" b="1" i="0">
                <a:solidFill>
                  <a:srgbClr val="FFFFFF"/>
                </a:solidFill>
              </a:rPr>
              <a:t>Step 4</a:t>
            </a:r>
          </a:p>
        </p:txBody>
      </p:sp>
      <p:sp>
        <p:nvSpPr>
          <p:cNvPr id="23" name="TextBox 22"/>
          <p:cNvSpPr txBox="1"/>
          <p:nvPr/>
        </p:nvSpPr>
        <p:spPr>
          <a:xfrm>
            <a:off x="7452360" y="2240280"/>
            <a:ext cx="1874520" cy="365760"/>
          </a:xfrm>
          <a:prstGeom prst="rect">
            <a:avLst/>
          </a:prstGeom>
          <a:noFill/>
        </p:spPr>
        <p:txBody>
          <a:bodyPr wrap="square">
            <a:spAutoFit/>
          </a:bodyPr>
          <a:lstStyle/>
          <a:p>
            <a:pPr algn="ctr"/>
            <a:r>
              <a:rPr sz="1600" b="1" i="0">
                <a:solidFill>
                  <a:srgbClr val="1A1A2E"/>
                </a:solidFill>
              </a:rPr>
              <a:t>Refine &amp; Iterate</a:t>
            </a:r>
          </a:p>
        </p:txBody>
      </p:sp>
      <p:sp>
        <p:nvSpPr>
          <p:cNvPr id="24" name="TextBox 23"/>
          <p:cNvSpPr txBox="1"/>
          <p:nvPr/>
        </p:nvSpPr>
        <p:spPr>
          <a:xfrm>
            <a:off x="7452360" y="2651760"/>
            <a:ext cx="1874520" cy="1188720"/>
          </a:xfrm>
          <a:prstGeom prst="rect">
            <a:avLst/>
          </a:prstGeom>
          <a:noFill/>
        </p:spPr>
        <p:txBody>
          <a:bodyPr wrap="square">
            <a:spAutoFit/>
          </a:bodyPr>
          <a:lstStyle/>
          <a:p>
            <a:pPr algn="ctr"/>
            <a:r>
              <a:rPr sz="1400" b="0" i="0">
                <a:solidFill>
                  <a:srgbClr val="444466"/>
                </a:solidFill>
              </a:rPr>
              <a:t>Adjust the prompt based
on what you learned</a:t>
            </a:r>
          </a:p>
        </p:txBody>
      </p:sp>
      <p:sp>
        <p:nvSpPr>
          <p:cNvPr id="25" name="Rounded Rectangle 24"/>
          <p:cNvSpPr/>
          <p:nvPr/>
        </p:nvSpPr>
        <p:spPr>
          <a:xfrm>
            <a:off x="9646920" y="1645920"/>
            <a:ext cx="2148840" cy="237744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46920" y="1645920"/>
            <a:ext cx="2148840" cy="5029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1673352"/>
            <a:ext cx="1965960" cy="411480"/>
          </a:xfrm>
          <a:prstGeom prst="rect">
            <a:avLst/>
          </a:prstGeom>
          <a:noFill/>
        </p:spPr>
        <p:txBody>
          <a:bodyPr wrap="square">
            <a:spAutoFit/>
          </a:bodyPr>
          <a:lstStyle/>
          <a:p>
            <a:pPr algn="ctr"/>
            <a:r>
              <a:rPr sz="1800" b="1" i="0">
                <a:solidFill>
                  <a:srgbClr val="FFFFFF"/>
                </a:solidFill>
              </a:rPr>
              <a:t>Step 5</a:t>
            </a:r>
          </a:p>
        </p:txBody>
      </p:sp>
      <p:sp>
        <p:nvSpPr>
          <p:cNvPr id="28" name="TextBox 27"/>
          <p:cNvSpPr txBox="1"/>
          <p:nvPr/>
        </p:nvSpPr>
        <p:spPr>
          <a:xfrm>
            <a:off x="9784080" y="2240280"/>
            <a:ext cx="1874520" cy="365760"/>
          </a:xfrm>
          <a:prstGeom prst="rect">
            <a:avLst/>
          </a:prstGeom>
          <a:noFill/>
        </p:spPr>
        <p:txBody>
          <a:bodyPr wrap="square">
            <a:spAutoFit/>
          </a:bodyPr>
          <a:lstStyle/>
          <a:p>
            <a:pPr algn="ctr"/>
            <a:r>
              <a:rPr sz="1600" b="1" i="0">
                <a:solidFill>
                  <a:srgbClr val="1A1A2E"/>
                </a:solidFill>
              </a:rPr>
              <a:t>Validate</a:t>
            </a:r>
          </a:p>
        </p:txBody>
      </p:sp>
      <p:sp>
        <p:nvSpPr>
          <p:cNvPr id="29" name="TextBox 28"/>
          <p:cNvSpPr txBox="1"/>
          <p:nvPr/>
        </p:nvSpPr>
        <p:spPr>
          <a:xfrm>
            <a:off x="9784080" y="2651760"/>
            <a:ext cx="1874520" cy="1188720"/>
          </a:xfrm>
          <a:prstGeom prst="rect">
            <a:avLst/>
          </a:prstGeom>
          <a:noFill/>
        </p:spPr>
        <p:txBody>
          <a:bodyPr wrap="square">
            <a:spAutoFit/>
          </a:bodyPr>
          <a:lstStyle/>
          <a:p>
            <a:pPr algn="ctr"/>
            <a:r>
              <a:rPr sz="1400" b="0" i="0">
                <a:solidFill>
                  <a:srgbClr val="444466"/>
                </a:solidFill>
              </a:rPr>
              <a:t>Does the final output meet
your quality criteria?</a:t>
            </a:r>
          </a:p>
        </p:txBody>
      </p:sp>
      <p:sp>
        <p:nvSpPr>
          <p:cNvPr id="30" name="TextBox 29"/>
          <p:cNvSpPr txBox="1"/>
          <p:nvPr/>
        </p:nvSpPr>
        <p:spPr>
          <a:xfrm>
            <a:off x="2487168" y="2468880"/>
            <a:ext cx="274320" cy="365760"/>
          </a:xfrm>
          <a:prstGeom prst="rect">
            <a:avLst/>
          </a:prstGeom>
          <a:noFill/>
        </p:spPr>
        <p:txBody>
          <a:bodyPr wrap="square">
            <a:spAutoFit/>
          </a:bodyPr>
          <a:lstStyle/>
          <a:p>
            <a:pPr algn="ctr"/>
            <a:r>
              <a:rPr sz="2800" b="1" i="0">
                <a:solidFill>
                  <a:srgbClr val="444466"/>
                </a:solidFill>
              </a:rPr>
              <a:t>&gt;</a:t>
            </a:r>
          </a:p>
        </p:txBody>
      </p:sp>
      <p:sp>
        <p:nvSpPr>
          <p:cNvPr id="31" name="TextBox 30"/>
          <p:cNvSpPr txBox="1"/>
          <p:nvPr/>
        </p:nvSpPr>
        <p:spPr>
          <a:xfrm>
            <a:off x="4818888" y="2468880"/>
            <a:ext cx="274320" cy="365760"/>
          </a:xfrm>
          <a:prstGeom prst="rect">
            <a:avLst/>
          </a:prstGeom>
          <a:noFill/>
        </p:spPr>
        <p:txBody>
          <a:bodyPr wrap="square">
            <a:spAutoFit/>
          </a:bodyPr>
          <a:lstStyle/>
          <a:p>
            <a:pPr algn="ctr"/>
            <a:r>
              <a:rPr sz="2800" b="1" i="0">
                <a:solidFill>
                  <a:srgbClr val="444466"/>
                </a:solidFill>
              </a:rPr>
              <a:t>&gt;</a:t>
            </a:r>
          </a:p>
        </p:txBody>
      </p:sp>
      <p:sp>
        <p:nvSpPr>
          <p:cNvPr id="32" name="TextBox 31"/>
          <p:cNvSpPr txBox="1"/>
          <p:nvPr/>
        </p:nvSpPr>
        <p:spPr>
          <a:xfrm>
            <a:off x="7150608" y="2468880"/>
            <a:ext cx="274320" cy="365760"/>
          </a:xfrm>
          <a:prstGeom prst="rect">
            <a:avLst/>
          </a:prstGeom>
          <a:noFill/>
        </p:spPr>
        <p:txBody>
          <a:bodyPr wrap="square">
            <a:spAutoFit/>
          </a:bodyPr>
          <a:lstStyle/>
          <a:p>
            <a:pPr algn="ctr"/>
            <a:r>
              <a:rPr sz="2800" b="1" i="0">
                <a:solidFill>
                  <a:srgbClr val="444466"/>
                </a:solidFill>
              </a:rPr>
              <a:t>&gt;</a:t>
            </a:r>
          </a:p>
        </p:txBody>
      </p:sp>
      <p:sp>
        <p:nvSpPr>
          <p:cNvPr id="33" name="TextBox 32"/>
          <p:cNvSpPr txBox="1"/>
          <p:nvPr/>
        </p:nvSpPr>
        <p:spPr>
          <a:xfrm>
            <a:off x="9482328" y="2468880"/>
            <a:ext cx="274320" cy="365760"/>
          </a:xfrm>
          <a:prstGeom prst="rect">
            <a:avLst/>
          </a:prstGeom>
          <a:noFill/>
        </p:spPr>
        <p:txBody>
          <a:bodyPr wrap="square">
            <a:spAutoFit/>
          </a:bodyPr>
          <a:lstStyle/>
          <a:p>
            <a:pPr algn="ctr"/>
            <a:r>
              <a:rPr sz="2800" b="1" i="0">
                <a:solidFill>
                  <a:srgbClr val="444466"/>
                </a:solidFill>
              </a:rPr>
              <a:t>&gt;</a:t>
            </a:r>
          </a:p>
        </p:txBody>
      </p:sp>
      <p:sp>
        <p:nvSpPr>
          <p:cNvPr id="34" name="Rounded Rectangle 33"/>
          <p:cNvSpPr/>
          <p:nvPr/>
        </p:nvSpPr>
        <p:spPr>
          <a:xfrm>
            <a:off x="365760" y="4297680"/>
            <a:ext cx="11430000" cy="22860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389120"/>
            <a:ext cx="10972800" cy="365760"/>
          </a:xfrm>
          <a:prstGeom prst="rect">
            <a:avLst/>
          </a:prstGeom>
          <a:noFill/>
        </p:spPr>
        <p:txBody>
          <a:bodyPr wrap="square">
            <a:spAutoFit/>
          </a:bodyPr>
          <a:lstStyle/>
          <a:p>
            <a:pPr algn="l"/>
            <a:r>
              <a:rPr sz="2000" b="1" i="0">
                <a:solidFill>
                  <a:srgbClr val="228BE6"/>
                </a:solidFill>
              </a:rPr>
              <a:t>Refinement Strategies</a:t>
            </a:r>
          </a:p>
        </p:txBody>
      </p:sp>
      <p:sp>
        <p:nvSpPr>
          <p:cNvPr id="36" name="TextBox 35"/>
          <p:cNvSpPr txBox="1"/>
          <p:nvPr/>
        </p:nvSpPr>
        <p:spPr>
          <a:xfrm>
            <a:off x="548640" y="4800600"/>
            <a:ext cx="2743200" cy="274320"/>
          </a:xfrm>
          <a:prstGeom prst="rect">
            <a:avLst/>
          </a:prstGeom>
          <a:noFill/>
        </p:spPr>
        <p:txBody>
          <a:bodyPr wrap="square">
            <a:spAutoFit/>
          </a:bodyPr>
          <a:lstStyle/>
          <a:p>
            <a:pPr algn="l"/>
            <a:r>
              <a:rPr sz="1500" b="1" i="0">
                <a:solidFill>
                  <a:srgbClr val="228BE6"/>
                </a:solidFill>
              </a:rPr>
              <a:t>  Add more context:</a:t>
            </a:r>
          </a:p>
        </p:txBody>
      </p:sp>
      <p:sp>
        <p:nvSpPr>
          <p:cNvPr id="37" name="TextBox 36"/>
          <p:cNvSpPr txBox="1"/>
          <p:nvPr/>
        </p:nvSpPr>
        <p:spPr>
          <a:xfrm>
            <a:off x="3017520" y="4800600"/>
            <a:ext cx="8686800" cy="274320"/>
          </a:xfrm>
          <a:prstGeom prst="rect">
            <a:avLst/>
          </a:prstGeom>
          <a:noFill/>
        </p:spPr>
        <p:txBody>
          <a:bodyPr wrap="square">
            <a:spAutoFit/>
          </a:bodyPr>
          <a:lstStyle/>
          <a:p>
            <a:pPr algn="l"/>
            <a:r>
              <a:rPr sz="1500" b="0" i="0">
                <a:solidFill>
                  <a:srgbClr val="444466"/>
                </a:solidFill>
              </a:rPr>
              <a:t>If the output is too generic, provide specific details, examples, or constraints</a:t>
            </a:r>
          </a:p>
        </p:txBody>
      </p:sp>
      <p:sp>
        <p:nvSpPr>
          <p:cNvPr id="38" name="TextBox 37"/>
          <p:cNvSpPr txBox="1"/>
          <p:nvPr/>
        </p:nvSpPr>
        <p:spPr>
          <a:xfrm>
            <a:off x="548640" y="5148072"/>
            <a:ext cx="2743200" cy="274320"/>
          </a:xfrm>
          <a:prstGeom prst="rect">
            <a:avLst/>
          </a:prstGeom>
          <a:noFill/>
        </p:spPr>
        <p:txBody>
          <a:bodyPr wrap="square">
            <a:spAutoFit/>
          </a:bodyPr>
          <a:lstStyle/>
          <a:p>
            <a:pPr algn="l"/>
            <a:r>
              <a:rPr sz="1500" b="1" i="0">
                <a:solidFill>
                  <a:srgbClr val="228BE6"/>
                </a:solidFill>
              </a:rPr>
              <a:t>  Adjust the format:</a:t>
            </a:r>
          </a:p>
        </p:txBody>
      </p:sp>
      <p:sp>
        <p:nvSpPr>
          <p:cNvPr id="39" name="TextBox 38"/>
          <p:cNvSpPr txBox="1"/>
          <p:nvPr/>
        </p:nvSpPr>
        <p:spPr>
          <a:xfrm>
            <a:off x="3017520" y="5148072"/>
            <a:ext cx="8686800" cy="274320"/>
          </a:xfrm>
          <a:prstGeom prst="rect">
            <a:avLst/>
          </a:prstGeom>
          <a:noFill/>
        </p:spPr>
        <p:txBody>
          <a:bodyPr wrap="square">
            <a:spAutoFit/>
          </a:bodyPr>
          <a:lstStyle/>
          <a:p>
            <a:pPr algn="l"/>
            <a:r>
              <a:rPr sz="1500" b="0" i="0">
                <a:solidFill>
                  <a:srgbClr val="444466"/>
                </a:solidFill>
              </a:rPr>
              <a:t>If the structure doesn't work, specify a different output format explicitly</a:t>
            </a:r>
          </a:p>
        </p:txBody>
      </p:sp>
      <p:sp>
        <p:nvSpPr>
          <p:cNvPr id="40" name="TextBox 39"/>
          <p:cNvSpPr txBox="1"/>
          <p:nvPr/>
        </p:nvSpPr>
        <p:spPr>
          <a:xfrm>
            <a:off x="548640" y="5495544"/>
            <a:ext cx="2743200" cy="274320"/>
          </a:xfrm>
          <a:prstGeom prst="rect">
            <a:avLst/>
          </a:prstGeom>
          <a:noFill/>
        </p:spPr>
        <p:txBody>
          <a:bodyPr wrap="square">
            <a:spAutoFit/>
          </a:bodyPr>
          <a:lstStyle/>
          <a:p>
            <a:pPr algn="l"/>
            <a:r>
              <a:rPr sz="1500" b="1" i="0">
                <a:solidFill>
                  <a:srgbClr val="228BE6"/>
                </a:solidFill>
              </a:rPr>
              <a:t>  Change the role:</a:t>
            </a:r>
          </a:p>
        </p:txBody>
      </p:sp>
      <p:sp>
        <p:nvSpPr>
          <p:cNvPr id="41" name="TextBox 40"/>
          <p:cNvSpPr txBox="1"/>
          <p:nvPr/>
        </p:nvSpPr>
        <p:spPr>
          <a:xfrm>
            <a:off x="3017520" y="5495544"/>
            <a:ext cx="8686800" cy="274320"/>
          </a:xfrm>
          <a:prstGeom prst="rect">
            <a:avLst/>
          </a:prstGeom>
          <a:noFill/>
        </p:spPr>
        <p:txBody>
          <a:bodyPr wrap="square">
            <a:spAutoFit/>
          </a:bodyPr>
          <a:lstStyle/>
          <a:p>
            <a:pPr algn="l"/>
            <a:r>
              <a:rPr sz="1500" b="0" i="0">
                <a:solidFill>
                  <a:srgbClr val="444466"/>
                </a:solidFill>
              </a:rPr>
              <a:t>If the tone is wrong, try a different expert persona that better fits your needs</a:t>
            </a:r>
          </a:p>
        </p:txBody>
      </p:sp>
      <p:sp>
        <p:nvSpPr>
          <p:cNvPr id="42" name="TextBox 41"/>
          <p:cNvSpPr txBox="1"/>
          <p:nvPr/>
        </p:nvSpPr>
        <p:spPr>
          <a:xfrm>
            <a:off x="548640" y="5843016"/>
            <a:ext cx="2743200" cy="274320"/>
          </a:xfrm>
          <a:prstGeom prst="rect">
            <a:avLst/>
          </a:prstGeom>
          <a:noFill/>
        </p:spPr>
        <p:txBody>
          <a:bodyPr wrap="square">
            <a:spAutoFit/>
          </a:bodyPr>
          <a:lstStyle/>
          <a:p>
            <a:pPr algn="l"/>
            <a:r>
              <a:rPr sz="1500" b="1" i="0">
                <a:solidFill>
                  <a:srgbClr val="228BE6"/>
                </a:solidFill>
              </a:rPr>
              <a:t>  Break it down:</a:t>
            </a:r>
          </a:p>
        </p:txBody>
      </p:sp>
      <p:sp>
        <p:nvSpPr>
          <p:cNvPr id="43" name="TextBox 42"/>
          <p:cNvSpPr txBox="1"/>
          <p:nvPr/>
        </p:nvSpPr>
        <p:spPr>
          <a:xfrm>
            <a:off x="3017520" y="5843016"/>
            <a:ext cx="8686800" cy="274320"/>
          </a:xfrm>
          <a:prstGeom prst="rect">
            <a:avLst/>
          </a:prstGeom>
          <a:noFill/>
        </p:spPr>
        <p:txBody>
          <a:bodyPr wrap="square">
            <a:spAutoFit/>
          </a:bodyPr>
          <a:lstStyle/>
          <a:p>
            <a:pPr algn="l"/>
            <a:r>
              <a:rPr sz="1500" b="0" i="0">
                <a:solidFill>
                  <a:srgbClr val="444466"/>
                </a:solidFill>
              </a:rPr>
              <a:t>If the output is too broad, split your prompt into smaller, focused sub-tasks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Evaluating AI Outputs</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Critical thinking is your superpower</a:t>
            </a:r>
          </a:p>
        </p:txBody>
      </p:sp>
      <p:sp>
        <p:nvSpPr>
          <p:cNvPr id="5" name="Rounded Rectangle 4"/>
          <p:cNvSpPr/>
          <p:nvPr/>
        </p:nvSpPr>
        <p:spPr>
          <a:xfrm>
            <a:off x="365760" y="1554480"/>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228600" cy="9144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2286000" cy="320040"/>
          </a:xfrm>
          <a:prstGeom prst="rect">
            <a:avLst/>
          </a:prstGeom>
          <a:noFill/>
        </p:spPr>
        <p:txBody>
          <a:bodyPr wrap="square">
            <a:spAutoFit/>
          </a:bodyPr>
          <a:lstStyle/>
          <a:p>
            <a:pPr algn="l"/>
            <a:r>
              <a:rPr sz="1800" b="1" i="0">
                <a:solidFill>
                  <a:srgbClr val="E91E8C"/>
                </a:solidFill>
              </a:rPr>
              <a:t>Accuracy</a:t>
            </a:r>
          </a:p>
        </p:txBody>
      </p:sp>
      <p:sp>
        <p:nvSpPr>
          <p:cNvPr id="8" name="TextBox 7"/>
          <p:cNvSpPr txBox="1"/>
          <p:nvPr/>
        </p:nvSpPr>
        <p:spPr>
          <a:xfrm>
            <a:off x="2926080" y="1572768"/>
            <a:ext cx="5029200" cy="320040"/>
          </a:xfrm>
          <a:prstGeom prst="rect">
            <a:avLst/>
          </a:prstGeom>
          <a:noFill/>
        </p:spPr>
        <p:txBody>
          <a:bodyPr wrap="square">
            <a:spAutoFit/>
          </a:bodyPr>
          <a:lstStyle/>
          <a:p>
            <a:pPr algn="l"/>
            <a:r>
              <a:rPr sz="1500" b="0" i="0">
                <a:solidFill>
                  <a:srgbClr val="1A1A2E"/>
                </a:solidFill>
              </a:rPr>
              <a:t>Is the information factually correct? Cross-check claims.</a:t>
            </a:r>
          </a:p>
        </p:txBody>
      </p:sp>
      <p:sp>
        <p:nvSpPr>
          <p:cNvPr id="9" name="TextBox 8"/>
          <p:cNvSpPr txBox="1"/>
          <p:nvPr/>
        </p:nvSpPr>
        <p:spPr>
          <a:xfrm>
            <a:off x="2926080" y="1920240"/>
            <a:ext cx="8686800" cy="502920"/>
          </a:xfrm>
          <a:prstGeom prst="rect">
            <a:avLst/>
          </a:prstGeom>
          <a:noFill/>
        </p:spPr>
        <p:txBody>
          <a:bodyPr wrap="square">
            <a:spAutoFit/>
          </a:bodyPr>
          <a:lstStyle/>
          <a:p>
            <a:pPr algn="l"/>
            <a:r>
              <a:rPr sz="1300" b="0" i="1">
                <a:solidFill>
                  <a:srgbClr val="444466"/>
                </a:solidFill>
              </a:rPr>
              <a:t>Don't assume AI outputs are accurate — verify key facts</a:t>
            </a:r>
          </a:p>
        </p:txBody>
      </p:sp>
      <p:sp>
        <p:nvSpPr>
          <p:cNvPr id="10" name="Rounded Rectangle 9"/>
          <p:cNvSpPr/>
          <p:nvPr/>
        </p:nvSpPr>
        <p:spPr>
          <a:xfrm>
            <a:off x="365760" y="2578608"/>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578608"/>
            <a:ext cx="228600" cy="91440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96896"/>
            <a:ext cx="2286000" cy="320040"/>
          </a:xfrm>
          <a:prstGeom prst="rect">
            <a:avLst/>
          </a:prstGeom>
          <a:noFill/>
        </p:spPr>
        <p:txBody>
          <a:bodyPr wrap="square">
            <a:spAutoFit/>
          </a:bodyPr>
          <a:lstStyle/>
          <a:p>
            <a:pPr algn="l"/>
            <a:r>
              <a:rPr sz="1800" b="1" i="0">
                <a:solidFill>
                  <a:srgbClr val="6C35DE"/>
                </a:solidFill>
              </a:rPr>
              <a:t>Relevance</a:t>
            </a:r>
          </a:p>
        </p:txBody>
      </p:sp>
      <p:sp>
        <p:nvSpPr>
          <p:cNvPr id="13" name="TextBox 12"/>
          <p:cNvSpPr txBox="1"/>
          <p:nvPr/>
        </p:nvSpPr>
        <p:spPr>
          <a:xfrm>
            <a:off x="2926080" y="2596896"/>
            <a:ext cx="5029200" cy="320040"/>
          </a:xfrm>
          <a:prstGeom prst="rect">
            <a:avLst/>
          </a:prstGeom>
          <a:noFill/>
        </p:spPr>
        <p:txBody>
          <a:bodyPr wrap="square">
            <a:spAutoFit/>
          </a:bodyPr>
          <a:lstStyle/>
          <a:p>
            <a:pPr algn="l"/>
            <a:r>
              <a:rPr sz="1500" b="0" i="0">
                <a:solidFill>
                  <a:srgbClr val="1A1A2E"/>
                </a:solidFill>
              </a:rPr>
              <a:t>Does it actually address what you asked for?</a:t>
            </a:r>
          </a:p>
        </p:txBody>
      </p:sp>
      <p:sp>
        <p:nvSpPr>
          <p:cNvPr id="14" name="TextBox 13"/>
          <p:cNvSpPr txBox="1"/>
          <p:nvPr/>
        </p:nvSpPr>
        <p:spPr>
          <a:xfrm>
            <a:off x="2926080" y="2944368"/>
            <a:ext cx="8686800" cy="502920"/>
          </a:xfrm>
          <a:prstGeom prst="rect">
            <a:avLst/>
          </a:prstGeom>
          <a:noFill/>
        </p:spPr>
        <p:txBody>
          <a:bodyPr wrap="square">
            <a:spAutoFit/>
          </a:bodyPr>
          <a:lstStyle/>
          <a:p>
            <a:pPr algn="l"/>
            <a:r>
              <a:rPr sz="1300" b="0" i="1">
                <a:solidFill>
                  <a:srgbClr val="444466"/>
                </a:solidFill>
              </a:rPr>
              <a:t>A well-written but off-topic answer is still a miss</a:t>
            </a:r>
          </a:p>
        </p:txBody>
      </p:sp>
      <p:sp>
        <p:nvSpPr>
          <p:cNvPr id="15" name="Rounded Rectangle 14"/>
          <p:cNvSpPr/>
          <p:nvPr/>
        </p:nvSpPr>
        <p:spPr>
          <a:xfrm>
            <a:off x="365760" y="3602736"/>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602736"/>
            <a:ext cx="228600" cy="91440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621024"/>
            <a:ext cx="2286000" cy="320040"/>
          </a:xfrm>
          <a:prstGeom prst="rect">
            <a:avLst/>
          </a:prstGeom>
          <a:noFill/>
        </p:spPr>
        <p:txBody>
          <a:bodyPr wrap="square">
            <a:spAutoFit/>
          </a:bodyPr>
          <a:lstStyle/>
          <a:p>
            <a:pPr algn="l"/>
            <a:r>
              <a:rPr sz="1800" b="1" i="0">
                <a:solidFill>
                  <a:srgbClr val="228BE6"/>
                </a:solidFill>
              </a:rPr>
              <a:t>Completeness</a:t>
            </a:r>
          </a:p>
        </p:txBody>
      </p:sp>
      <p:sp>
        <p:nvSpPr>
          <p:cNvPr id="18" name="TextBox 17"/>
          <p:cNvSpPr txBox="1"/>
          <p:nvPr/>
        </p:nvSpPr>
        <p:spPr>
          <a:xfrm>
            <a:off x="2926080" y="3621024"/>
            <a:ext cx="5029200" cy="320040"/>
          </a:xfrm>
          <a:prstGeom prst="rect">
            <a:avLst/>
          </a:prstGeom>
          <a:noFill/>
        </p:spPr>
        <p:txBody>
          <a:bodyPr wrap="square">
            <a:spAutoFit/>
          </a:bodyPr>
          <a:lstStyle/>
          <a:p>
            <a:pPr algn="l"/>
            <a:r>
              <a:rPr sz="1500" b="0" i="0">
                <a:solidFill>
                  <a:srgbClr val="1A1A2E"/>
                </a:solidFill>
              </a:rPr>
              <a:t>Is anything important missing from the response?</a:t>
            </a:r>
          </a:p>
        </p:txBody>
      </p:sp>
      <p:sp>
        <p:nvSpPr>
          <p:cNvPr id="19" name="TextBox 18"/>
          <p:cNvSpPr txBox="1"/>
          <p:nvPr/>
        </p:nvSpPr>
        <p:spPr>
          <a:xfrm>
            <a:off x="2926080" y="3968496"/>
            <a:ext cx="8686800" cy="502920"/>
          </a:xfrm>
          <a:prstGeom prst="rect">
            <a:avLst/>
          </a:prstGeom>
          <a:noFill/>
        </p:spPr>
        <p:txBody>
          <a:bodyPr wrap="square">
            <a:spAutoFit/>
          </a:bodyPr>
          <a:lstStyle/>
          <a:p>
            <a:pPr algn="l"/>
            <a:r>
              <a:rPr sz="1300" b="0" i="1">
                <a:solidFill>
                  <a:srgbClr val="444466"/>
                </a:solidFill>
              </a:rPr>
              <a:t>Check if all parts of your request were addressed</a:t>
            </a:r>
          </a:p>
        </p:txBody>
      </p:sp>
      <p:sp>
        <p:nvSpPr>
          <p:cNvPr id="20" name="Rounded Rectangle 19"/>
          <p:cNvSpPr/>
          <p:nvPr/>
        </p:nvSpPr>
        <p:spPr>
          <a:xfrm>
            <a:off x="365760" y="4626864"/>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626864"/>
            <a:ext cx="228600" cy="91440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645152"/>
            <a:ext cx="2286000" cy="320040"/>
          </a:xfrm>
          <a:prstGeom prst="rect">
            <a:avLst/>
          </a:prstGeom>
          <a:noFill/>
        </p:spPr>
        <p:txBody>
          <a:bodyPr wrap="square">
            <a:spAutoFit/>
          </a:bodyPr>
          <a:lstStyle/>
          <a:p>
            <a:pPr algn="l"/>
            <a:r>
              <a:rPr sz="1800" b="1" i="0">
                <a:solidFill>
                  <a:srgbClr val="00BFA5"/>
                </a:solidFill>
              </a:rPr>
              <a:t>Tone &amp; Style</a:t>
            </a:r>
          </a:p>
        </p:txBody>
      </p:sp>
      <p:sp>
        <p:nvSpPr>
          <p:cNvPr id="23" name="TextBox 22"/>
          <p:cNvSpPr txBox="1"/>
          <p:nvPr/>
        </p:nvSpPr>
        <p:spPr>
          <a:xfrm>
            <a:off x="2926080" y="4645152"/>
            <a:ext cx="5029200" cy="320040"/>
          </a:xfrm>
          <a:prstGeom prst="rect">
            <a:avLst/>
          </a:prstGeom>
          <a:noFill/>
        </p:spPr>
        <p:txBody>
          <a:bodyPr wrap="square">
            <a:spAutoFit/>
          </a:bodyPr>
          <a:lstStyle/>
          <a:p>
            <a:pPr algn="l"/>
            <a:r>
              <a:rPr sz="1500" b="0" i="0">
                <a:solidFill>
                  <a:srgbClr val="1A1A2E"/>
                </a:solidFill>
              </a:rPr>
              <a:t>Does it match the intended voice and audience?</a:t>
            </a:r>
          </a:p>
        </p:txBody>
      </p:sp>
      <p:sp>
        <p:nvSpPr>
          <p:cNvPr id="24" name="TextBox 23"/>
          <p:cNvSpPr txBox="1"/>
          <p:nvPr/>
        </p:nvSpPr>
        <p:spPr>
          <a:xfrm>
            <a:off x="2926080" y="4992624"/>
            <a:ext cx="8686800" cy="502920"/>
          </a:xfrm>
          <a:prstGeom prst="rect">
            <a:avLst/>
          </a:prstGeom>
          <a:noFill/>
        </p:spPr>
        <p:txBody>
          <a:bodyPr wrap="square">
            <a:spAutoFit/>
          </a:bodyPr>
          <a:lstStyle/>
          <a:p>
            <a:pPr algn="l"/>
            <a:r>
              <a:rPr sz="1300" b="0" i="1">
                <a:solidFill>
                  <a:srgbClr val="444466"/>
                </a:solidFill>
              </a:rPr>
              <a:t>Read it as if your audience will — does it land right?</a:t>
            </a:r>
          </a:p>
        </p:txBody>
      </p:sp>
      <p:sp>
        <p:nvSpPr>
          <p:cNvPr id="25" name="Rounded Rectangle 24"/>
          <p:cNvSpPr/>
          <p:nvPr/>
        </p:nvSpPr>
        <p:spPr>
          <a:xfrm>
            <a:off x="365760" y="5650992"/>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5650992"/>
            <a:ext cx="228600" cy="91440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669280"/>
            <a:ext cx="2286000" cy="320040"/>
          </a:xfrm>
          <a:prstGeom prst="rect">
            <a:avLst/>
          </a:prstGeom>
          <a:noFill/>
        </p:spPr>
        <p:txBody>
          <a:bodyPr wrap="square">
            <a:spAutoFit/>
          </a:bodyPr>
          <a:lstStyle/>
          <a:p>
            <a:pPr algn="l"/>
            <a:r>
              <a:rPr sz="1800" b="1" i="0">
                <a:solidFill>
                  <a:srgbClr val="FF6D00"/>
                </a:solidFill>
              </a:rPr>
              <a:t>Bias &amp; Fairness</a:t>
            </a:r>
          </a:p>
        </p:txBody>
      </p:sp>
      <p:sp>
        <p:nvSpPr>
          <p:cNvPr id="28" name="TextBox 27"/>
          <p:cNvSpPr txBox="1"/>
          <p:nvPr/>
        </p:nvSpPr>
        <p:spPr>
          <a:xfrm>
            <a:off x="2926080" y="5669280"/>
            <a:ext cx="5029200" cy="320040"/>
          </a:xfrm>
          <a:prstGeom prst="rect">
            <a:avLst/>
          </a:prstGeom>
          <a:noFill/>
        </p:spPr>
        <p:txBody>
          <a:bodyPr wrap="square">
            <a:spAutoFit/>
          </a:bodyPr>
          <a:lstStyle/>
          <a:p>
            <a:pPr algn="l"/>
            <a:r>
              <a:rPr sz="1500" b="0" i="0">
                <a:solidFill>
                  <a:srgbClr val="1A1A2E"/>
                </a:solidFill>
              </a:rPr>
              <a:t>Does the output show unintended bias or assumptions?</a:t>
            </a:r>
          </a:p>
        </p:txBody>
      </p:sp>
      <p:sp>
        <p:nvSpPr>
          <p:cNvPr id="29" name="TextBox 28"/>
          <p:cNvSpPr txBox="1"/>
          <p:nvPr/>
        </p:nvSpPr>
        <p:spPr>
          <a:xfrm>
            <a:off x="2926080" y="6016752"/>
            <a:ext cx="8686800" cy="502920"/>
          </a:xfrm>
          <a:prstGeom prst="rect">
            <a:avLst/>
          </a:prstGeom>
          <a:noFill/>
        </p:spPr>
        <p:txBody>
          <a:bodyPr wrap="square">
            <a:spAutoFit/>
          </a:bodyPr>
          <a:lstStyle/>
          <a:p>
            <a:pPr algn="l"/>
            <a:r>
              <a:rPr sz="1300" b="0" i="1">
                <a:solidFill>
                  <a:srgbClr val="444466"/>
                </a:solidFill>
              </a:rPr>
              <a:t>Watch for stereotypes, one-sided perspectives, or exclusions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Interactive Activity: Refine &amp; Evaluate</a:t>
            </a:r>
          </a:p>
        </p:txBody>
      </p:sp>
      <p:sp>
        <p:nvSpPr>
          <p:cNvPr id="4" name="TextBox 3"/>
          <p:cNvSpPr txBox="1"/>
          <p:nvPr/>
        </p:nvSpPr>
        <p:spPr>
          <a:xfrm>
            <a:off x="365760" y="868680"/>
            <a:ext cx="11247120" cy="438912"/>
          </a:xfrm>
          <a:prstGeom prst="rect">
            <a:avLst/>
          </a:prstGeom>
          <a:noFill/>
        </p:spPr>
        <p:txBody>
          <a:bodyPr wrap="square">
            <a:spAutoFit/>
          </a:bodyPr>
          <a:lstStyle/>
          <a:p>
            <a:pPr algn="l"/>
            <a:r>
              <a:rPr sz="1800" b="0" i="1">
                <a:solidFill>
                  <a:srgbClr val="E8ECF8"/>
                </a:solidFill>
              </a:rPr>
              <a:t>Practice the refinement cycle with a partner</a:t>
            </a:r>
          </a:p>
        </p:txBody>
      </p:sp>
      <p:sp>
        <p:nvSpPr>
          <p:cNvPr id="5" name="Rounded Rectangle 4"/>
          <p:cNvSpPr/>
          <p:nvPr/>
        </p:nvSpPr>
        <p:spPr>
          <a:xfrm>
            <a:off x="365760" y="1508760"/>
            <a:ext cx="5486400" cy="5029200"/>
          </a:xfrm>
          <a:prstGeom prst="roundRect">
            <a:avLst/>
          </a:prstGeom>
          <a:solidFill>
            <a:srgbClr val="FDF0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5120640" cy="411480"/>
          </a:xfrm>
          <a:prstGeom prst="rect">
            <a:avLst/>
          </a:prstGeom>
          <a:noFill/>
        </p:spPr>
        <p:txBody>
          <a:bodyPr wrap="square">
            <a:spAutoFit/>
          </a:bodyPr>
          <a:lstStyle/>
          <a:p>
            <a:pPr algn="l"/>
            <a:r>
              <a:rPr sz="2200" b="1" i="0">
                <a:solidFill>
                  <a:srgbClr val="FF6D00"/>
                </a:solidFill>
              </a:rPr>
              <a:t>The Exercise</a:t>
            </a:r>
          </a:p>
        </p:txBody>
      </p:sp>
      <p:sp>
        <p:nvSpPr>
          <p:cNvPr id="7" name="TextBox 6"/>
          <p:cNvSpPr txBox="1"/>
          <p:nvPr/>
        </p:nvSpPr>
        <p:spPr>
          <a:xfrm>
            <a:off x="548640" y="2103120"/>
            <a:ext cx="5120640" cy="4389120"/>
          </a:xfrm>
          <a:prstGeom prst="rect">
            <a:avLst/>
          </a:prstGeom>
          <a:noFill/>
        </p:spPr>
        <p:txBody>
          <a:bodyPr wrap="square">
            <a:spAutoFit/>
          </a:bodyPr>
          <a:lstStyle/>
          <a:p>
            <a:pPr algn="l"/>
            <a:r>
              <a:rPr sz="1600" b="0" i="0">
                <a:solidFill>
                  <a:srgbClr val="1A1A2E"/>
                </a:solidFill>
              </a:rPr>
              <a:t>Step 1: Pick any framework you've learned
today and write a prompt for this task:
"Create training materials for onboarding
 new employees at your organization."
Step 2: Run your prompt in an AI tool
Step 3: Evaluate the output using the
5 criteria (accuracy, relevance,
completeness, tone, bias)
Step 4: Identify 2-3 specific improvements
and refine your prompt
Step 5: Run again and compare!</a:t>
            </a:r>
          </a:p>
        </p:txBody>
      </p:sp>
      <p:sp>
        <p:nvSpPr>
          <p:cNvPr id="8" name="Rounded Rectangle 7"/>
          <p:cNvSpPr/>
          <p:nvPr/>
        </p:nvSpPr>
        <p:spPr>
          <a:xfrm>
            <a:off x="6217920" y="1508760"/>
            <a:ext cx="5577840" cy="50292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212080" cy="411480"/>
          </a:xfrm>
          <a:prstGeom prst="rect">
            <a:avLst/>
          </a:prstGeom>
          <a:noFill/>
        </p:spPr>
        <p:txBody>
          <a:bodyPr wrap="square">
            <a:spAutoFit/>
          </a:bodyPr>
          <a:lstStyle/>
          <a:p>
            <a:pPr algn="l"/>
            <a:r>
              <a:rPr sz="2200" b="1" i="0">
                <a:solidFill>
                  <a:srgbClr val="6C35DE"/>
                </a:solidFill>
              </a:rPr>
              <a:t>Evaluation Checklist</a:t>
            </a:r>
          </a:p>
        </p:txBody>
      </p:sp>
      <p:sp>
        <p:nvSpPr>
          <p:cNvPr id="10" name="TextBox 9"/>
          <p:cNvSpPr txBox="1"/>
          <p:nvPr/>
        </p:nvSpPr>
        <p:spPr>
          <a:xfrm>
            <a:off x="6400800" y="2194560"/>
            <a:ext cx="5212080" cy="320040"/>
          </a:xfrm>
          <a:prstGeom prst="rect">
            <a:avLst/>
          </a:prstGeom>
          <a:noFill/>
        </p:spPr>
        <p:txBody>
          <a:bodyPr wrap="square">
            <a:spAutoFit/>
          </a:bodyPr>
          <a:lstStyle/>
          <a:p>
            <a:pPr algn="l"/>
            <a:r>
              <a:rPr sz="1600" b="0" i="0">
                <a:solidFill>
                  <a:srgbClr val="1A1A2E"/>
                </a:solidFill>
              </a:rPr>
              <a:t>   Is the output accurate and factual?</a:t>
            </a:r>
          </a:p>
        </p:txBody>
      </p:sp>
      <p:sp>
        <p:nvSpPr>
          <p:cNvPr id="11" name="TextBox 10"/>
          <p:cNvSpPr txBox="1"/>
          <p:nvPr/>
        </p:nvSpPr>
        <p:spPr>
          <a:xfrm>
            <a:off x="6400800" y="2633472"/>
            <a:ext cx="5212080" cy="320040"/>
          </a:xfrm>
          <a:prstGeom prst="rect">
            <a:avLst/>
          </a:prstGeom>
          <a:noFill/>
        </p:spPr>
        <p:txBody>
          <a:bodyPr wrap="square">
            <a:spAutoFit/>
          </a:bodyPr>
          <a:lstStyle/>
          <a:p>
            <a:pPr algn="l"/>
            <a:r>
              <a:rPr sz="1600" b="0" i="0">
                <a:solidFill>
                  <a:srgbClr val="1A1A2E"/>
                </a:solidFill>
              </a:rPr>
              <a:t>   Does it address all parts of my request?</a:t>
            </a:r>
          </a:p>
        </p:txBody>
      </p:sp>
      <p:sp>
        <p:nvSpPr>
          <p:cNvPr id="12" name="TextBox 11"/>
          <p:cNvSpPr txBox="1"/>
          <p:nvPr/>
        </p:nvSpPr>
        <p:spPr>
          <a:xfrm>
            <a:off x="6400800" y="3072384"/>
            <a:ext cx="5212080" cy="320040"/>
          </a:xfrm>
          <a:prstGeom prst="rect">
            <a:avLst/>
          </a:prstGeom>
          <a:noFill/>
        </p:spPr>
        <p:txBody>
          <a:bodyPr wrap="square">
            <a:spAutoFit/>
          </a:bodyPr>
          <a:lstStyle/>
          <a:p>
            <a:pPr algn="l"/>
            <a:r>
              <a:rPr sz="1600" b="0" i="0">
                <a:solidFill>
                  <a:srgbClr val="1A1A2E"/>
                </a:solidFill>
              </a:rPr>
              <a:t>   Is anything important missing?</a:t>
            </a:r>
          </a:p>
        </p:txBody>
      </p:sp>
      <p:sp>
        <p:nvSpPr>
          <p:cNvPr id="13" name="TextBox 12"/>
          <p:cNvSpPr txBox="1"/>
          <p:nvPr/>
        </p:nvSpPr>
        <p:spPr>
          <a:xfrm>
            <a:off x="6400800" y="3511296"/>
            <a:ext cx="5212080" cy="320040"/>
          </a:xfrm>
          <a:prstGeom prst="rect">
            <a:avLst/>
          </a:prstGeom>
          <a:noFill/>
        </p:spPr>
        <p:txBody>
          <a:bodyPr wrap="square">
            <a:spAutoFit/>
          </a:bodyPr>
          <a:lstStyle/>
          <a:p>
            <a:pPr algn="l"/>
            <a:r>
              <a:rPr sz="1600" b="0" i="0">
                <a:solidFill>
                  <a:srgbClr val="1A1A2E"/>
                </a:solidFill>
              </a:rPr>
              <a:t>   Does the tone fit the intended audience?</a:t>
            </a:r>
          </a:p>
        </p:txBody>
      </p:sp>
      <p:sp>
        <p:nvSpPr>
          <p:cNvPr id="14" name="TextBox 13"/>
          <p:cNvSpPr txBox="1"/>
          <p:nvPr/>
        </p:nvSpPr>
        <p:spPr>
          <a:xfrm>
            <a:off x="6400800" y="3950208"/>
            <a:ext cx="5212080" cy="320040"/>
          </a:xfrm>
          <a:prstGeom prst="rect">
            <a:avLst/>
          </a:prstGeom>
          <a:noFill/>
        </p:spPr>
        <p:txBody>
          <a:bodyPr wrap="square">
            <a:spAutoFit/>
          </a:bodyPr>
          <a:lstStyle/>
          <a:p>
            <a:pPr algn="l"/>
            <a:r>
              <a:rPr sz="1600" b="0" i="0">
                <a:solidFill>
                  <a:srgbClr val="1A1A2E"/>
                </a:solidFill>
              </a:rPr>
              <a:t>   Do I see any biased assumptions?</a:t>
            </a:r>
          </a:p>
        </p:txBody>
      </p:sp>
      <p:sp>
        <p:nvSpPr>
          <p:cNvPr id="15" name="TextBox 14"/>
          <p:cNvSpPr txBox="1"/>
          <p:nvPr/>
        </p:nvSpPr>
        <p:spPr>
          <a:xfrm>
            <a:off x="6400800" y="4389120"/>
            <a:ext cx="5212080" cy="320040"/>
          </a:xfrm>
          <a:prstGeom prst="rect">
            <a:avLst/>
          </a:prstGeom>
          <a:noFill/>
        </p:spPr>
        <p:txBody>
          <a:bodyPr wrap="square">
            <a:spAutoFit/>
          </a:bodyPr>
          <a:lstStyle/>
          <a:p>
            <a:pPr algn="l"/>
            <a:r>
              <a:rPr sz="1600" b="0" i="0">
                <a:solidFill>
                  <a:srgbClr val="1A1A2E"/>
                </a:solidFill>
              </a:rPr>
              <a:t>   What would I change in my prompt?</a:t>
            </a:r>
          </a:p>
        </p:txBody>
      </p:sp>
      <p:sp>
        <p:nvSpPr>
          <p:cNvPr id="16" name="TextBox 15"/>
          <p:cNvSpPr txBox="1"/>
          <p:nvPr/>
        </p:nvSpPr>
        <p:spPr>
          <a:xfrm>
            <a:off x="6400800" y="4828032"/>
            <a:ext cx="5212080" cy="320040"/>
          </a:xfrm>
          <a:prstGeom prst="rect">
            <a:avLst/>
          </a:prstGeom>
          <a:noFill/>
        </p:spPr>
        <p:txBody>
          <a:bodyPr wrap="square">
            <a:spAutoFit/>
          </a:bodyPr>
          <a:lstStyle/>
          <a:p>
            <a:pPr algn="l"/>
            <a:r>
              <a:rPr sz="1600" b="0" i="0">
                <a:solidFill>
                  <a:srgbClr val="1A1A2E"/>
                </a:solidFill>
              </a:rPr>
              <a:t>   What worked well that I should keep?</a:t>
            </a:r>
          </a:p>
        </p:txBody>
      </p:sp>
      <p:sp>
        <p:nvSpPr>
          <p:cNvPr id="17" name="TextBox 16"/>
          <p:cNvSpPr txBox="1"/>
          <p:nvPr/>
        </p:nvSpPr>
        <p:spPr>
          <a:xfrm>
            <a:off x="6400800" y="5266944"/>
            <a:ext cx="5212080" cy="320040"/>
          </a:xfrm>
          <a:prstGeom prst="rect">
            <a:avLst/>
          </a:prstGeom>
          <a:noFill/>
        </p:spPr>
        <p:txBody>
          <a:bodyPr wrap="square">
            <a:spAutoFit/>
          </a:bodyPr>
          <a:lstStyle/>
          <a:p>
            <a:pPr algn="l"/>
            <a:r>
              <a:rPr sz="1600" b="0" i="0">
                <a:solidFill>
                  <a:srgbClr val="1A1A2E"/>
                </a:solidFill>
              </a:rPr>
              <a:t>   Is this better than my first attempt?</a:t>
            </a:r>
          </a:p>
        </p:txBody>
      </p:sp>
      <p:sp>
        <p:nvSpPr>
          <p:cNvPr id="18" name="TextBox 17"/>
          <p:cNvSpPr txBox="1"/>
          <p:nvPr/>
        </p:nvSpPr>
        <p:spPr>
          <a:xfrm>
            <a:off x="365760" y="6537960"/>
            <a:ext cx="11430000" cy="320040"/>
          </a:xfrm>
          <a:prstGeom prst="rect">
            <a:avLst/>
          </a:prstGeom>
          <a:noFill/>
        </p:spPr>
        <p:txBody>
          <a:bodyPr wrap="square">
            <a:spAutoFit/>
          </a:bodyPr>
          <a:lstStyle/>
          <a:p>
            <a:pPr algn="l"/>
            <a:r>
              <a:rPr sz="1600" b="1" i="1">
                <a:solidFill>
                  <a:srgbClr val="FF6D00"/>
                </a:solidFill>
              </a:rPr>
              <a:t>Time: 8 minutes  |  Be ready to share what you changed and why!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247120" cy="777240"/>
          </a:xfrm>
          <a:prstGeom prst="rect">
            <a:avLst/>
          </a:prstGeom>
          <a:noFill/>
        </p:spPr>
        <p:txBody>
          <a:bodyPr wrap="square">
            <a:spAutoFit/>
          </a:bodyPr>
          <a:lstStyle/>
          <a:p>
            <a:pPr algn="l"/>
            <a:r>
              <a:rPr sz="3600" b="1" i="0">
                <a:solidFill>
                  <a:srgbClr val="FFFFFF"/>
                </a:solidFill>
              </a:rPr>
              <a:t>Key Takeaways</a:t>
            </a:r>
          </a:p>
        </p:txBody>
      </p:sp>
      <p:sp>
        <p:nvSpPr>
          <p:cNvPr id="4" name="Rounded Rectangle 3"/>
          <p:cNvSpPr/>
          <p:nvPr/>
        </p:nvSpPr>
        <p:spPr>
          <a:xfrm>
            <a:off x="365760" y="1554480"/>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554480"/>
            <a:ext cx="228600" cy="914400"/>
          </a:xfrm>
          <a:prstGeom prst="rect">
            <a:avLst/>
          </a:prstGeom>
          <a:solidFill>
            <a:srgbClr val="228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10789920" cy="320040"/>
          </a:xfrm>
          <a:prstGeom prst="rect">
            <a:avLst/>
          </a:prstGeom>
          <a:noFill/>
        </p:spPr>
        <p:txBody>
          <a:bodyPr wrap="square">
            <a:spAutoFit/>
          </a:bodyPr>
          <a:lstStyle/>
          <a:p>
            <a:pPr algn="l"/>
            <a:r>
              <a:rPr sz="2000" b="1" i="0">
                <a:solidFill>
                  <a:srgbClr val="228BE6"/>
                </a:solidFill>
              </a:rPr>
              <a:t>Frameworks give you structure</a:t>
            </a:r>
          </a:p>
        </p:txBody>
      </p:sp>
      <p:sp>
        <p:nvSpPr>
          <p:cNvPr id="7" name="TextBox 6"/>
          <p:cNvSpPr txBox="1"/>
          <p:nvPr/>
        </p:nvSpPr>
        <p:spPr>
          <a:xfrm>
            <a:off x="777240" y="1965960"/>
            <a:ext cx="10789920" cy="457200"/>
          </a:xfrm>
          <a:prstGeom prst="rect">
            <a:avLst/>
          </a:prstGeom>
          <a:noFill/>
        </p:spPr>
        <p:txBody>
          <a:bodyPr wrap="square">
            <a:spAutoFit/>
          </a:bodyPr>
          <a:lstStyle/>
          <a:p>
            <a:pPr algn="l"/>
            <a:r>
              <a:rPr sz="1600" b="0" i="0">
                <a:solidFill>
                  <a:srgbClr val="444466"/>
                </a:solidFill>
              </a:rPr>
              <a:t>RTF, CREATE, CO-STAR, CRISPE, RISEN, RACE — pick the one that fits your task</a:t>
            </a:r>
          </a:p>
        </p:txBody>
      </p:sp>
      <p:sp>
        <p:nvSpPr>
          <p:cNvPr id="8" name="Rounded Rectangle 7"/>
          <p:cNvSpPr/>
          <p:nvPr/>
        </p:nvSpPr>
        <p:spPr>
          <a:xfrm>
            <a:off x="365760" y="2578608"/>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578608"/>
            <a:ext cx="228600" cy="914400"/>
          </a:xfrm>
          <a:prstGeom prst="rect">
            <a:avLst/>
          </a:prstGeom>
          <a:solidFill>
            <a:srgbClr val="6C3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24328"/>
            <a:ext cx="10789920" cy="320040"/>
          </a:xfrm>
          <a:prstGeom prst="rect">
            <a:avLst/>
          </a:prstGeom>
          <a:noFill/>
        </p:spPr>
        <p:txBody>
          <a:bodyPr wrap="square">
            <a:spAutoFit/>
          </a:bodyPr>
          <a:lstStyle/>
          <a:p>
            <a:pPr algn="l"/>
            <a:r>
              <a:rPr sz="2000" b="1" i="0">
                <a:solidFill>
                  <a:srgbClr val="6C35DE"/>
                </a:solidFill>
              </a:rPr>
              <a:t>Better prompts = better results, faster</a:t>
            </a:r>
          </a:p>
        </p:txBody>
      </p:sp>
      <p:sp>
        <p:nvSpPr>
          <p:cNvPr id="11" name="TextBox 10"/>
          <p:cNvSpPr txBox="1"/>
          <p:nvPr/>
        </p:nvSpPr>
        <p:spPr>
          <a:xfrm>
            <a:off x="777240" y="2990088"/>
            <a:ext cx="10789920" cy="457200"/>
          </a:xfrm>
          <a:prstGeom prst="rect">
            <a:avLst/>
          </a:prstGeom>
          <a:noFill/>
        </p:spPr>
        <p:txBody>
          <a:bodyPr wrap="square">
            <a:spAutoFit/>
          </a:bodyPr>
          <a:lstStyle/>
          <a:p>
            <a:pPr algn="l"/>
            <a:r>
              <a:rPr sz="1600" b="0" i="0">
                <a:solidFill>
                  <a:srgbClr val="444466"/>
                </a:solidFill>
              </a:rPr>
              <a:t>Specificity and context reduce ambiguity and rework</a:t>
            </a:r>
          </a:p>
        </p:txBody>
      </p:sp>
      <p:sp>
        <p:nvSpPr>
          <p:cNvPr id="12" name="Rounded Rectangle 11"/>
          <p:cNvSpPr/>
          <p:nvPr/>
        </p:nvSpPr>
        <p:spPr>
          <a:xfrm>
            <a:off x="365760" y="3602736"/>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602736"/>
            <a:ext cx="228600" cy="91440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648456"/>
            <a:ext cx="10789920" cy="320040"/>
          </a:xfrm>
          <a:prstGeom prst="rect">
            <a:avLst/>
          </a:prstGeom>
          <a:noFill/>
        </p:spPr>
        <p:txBody>
          <a:bodyPr wrap="square">
            <a:spAutoFit/>
          </a:bodyPr>
          <a:lstStyle/>
          <a:p>
            <a:pPr algn="l"/>
            <a:r>
              <a:rPr sz="2000" b="1" i="0">
                <a:solidFill>
                  <a:srgbClr val="00BFA5"/>
                </a:solidFill>
              </a:rPr>
              <a:t>You stay in charge</a:t>
            </a:r>
          </a:p>
        </p:txBody>
      </p:sp>
      <p:sp>
        <p:nvSpPr>
          <p:cNvPr id="15" name="TextBox 14"/>
          <p:cNvSpPr txBox="1"/>
          <p:nvPr/>
        </p:nvSpPr>
        <p:spPr>
          <a:xfrm>
            <a:off x="777240" y="4014216"/>
            <a:ext cx="10789920" cy="457200"/>
          </a:xfrm>
          <a:prstGeom prst="rect">
            <a:avLst/>
          </a:prstGeom>
          <a:noFill/>
        </p:spPr>
        <p:txBody>
          <a:bodyPr wrap="square">
            <a:spAutoFit/>
          </a:bodyPr>
          <a:lstStyle/>
          <a:p>
            <a:pPr algn="l"/>
            <a:r>
              <a:rPr sz="1600" b="0" i="0">
                <a:solidFill>
                  <a:srgbClr val="444466"/>
                </a:solidFill>
              </a:rPr>
              <a:t>Good prompting keeps critical thinking and human judgment at the center</a:t>
            </a:r>
          </a:p>
        </p:txBody>
      </p:sp>
      <p:sp>
        <p:nvSpPr>
          <p:cNvPr id="16" name="Rounded Rectangle 15"/>
          <p:cNvSpPr/>
          <p:nvPr/>
        </p:nvSpPr>
        <p:spPr>
          <a:xfrm>
            <a:off x="365760" y="4626864"/>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26864"/>
            <a:ext cx="228600"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672584"/>
            <a:ext cx="10789920" cy="320040"/>
          </a:xfrm>
          <a:prstGeom prst="rect">
            <a:avLst/>
          </a:prstGeom>
          <a:noFill/>
        </p:spPr>
        <p:txBody>
          <a:bodyPr wrap="square">
            <a:spAutoFit/>
          </a:bodyPr>
          <a:lstStyle/>
          <a:p>
            <a:pPr algn="l"/>
            <a:r>
              <a:rPr sz="2000" b="1" i="0">
                <a:solidFill>
                  <a:srgbClr val="2E7D32"/>
                </a:solidFill>
              </a:rPr>
              <a:t>Prompting can be greener</a:t>
            </a:r>
          </a:p>
        </p:txBody>
      </p:sp>
      <p:sp>
        <p:nvSpPr>
          <p:cNvPr id="19" name="TextBox 18"/>
          <p:cNvSpPr txBox="1"/>
          <p:nvPr/>
        </p:nvSpPr>
        <p:spPr>
          <a:xfrm>
            <a:off x="777240" y="5038344"/>
            <a:ext cx="10789920" cy="457200"/>
          </a:xfrm>
          <a:prstGeom prst="rect">
            <a:avLst/>
          </a:prstGeom>
          <a:noFill/>
        </p:spPr>
        <p:txBody>
          <a:bodyPr wrap="square">
            <a:spAutoFit/>
          </a:bodyPr>
          <a:lstStyle/>
          <a:p>
            <a:pPr algn="l"/>
            <a:r>
              <a:rPr sz="1600" b="0" i="0">
                <a:solidFill>
                  <a:srgbClr val="444466"/>
                </a:solidFill>
              </a:rPr>
              <a:t>Efficient prompts reduce compute waste and environmental impact</a:t>
            </a:r>
          </a:p>
        </p:txBody>
      </p:sp>
      <p:sp>
        <p:nvSpPr>
          <p:cNvPr id="20" name="Rounded Rectangle 19"/>
          <p:cNvSpPr/>
          <p:nvPr/>
        </p:nvSpPr>
        <p:spPr>
          <a:xfrm>
            <a:off x="365760" y="5650992"/>
            <a:ext cx="11430000" cy="914400"/>
          </a:xfrm>
          <a:prstGeom prst="roundRect">
            <a:avLst/>
          </a:prstGeom>
          <a:solidFill>
            <a:srgbClr val="F4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5650992"/>
            <a:ext cx="228600" cy="91440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696712"/>
            <a:ext cx="10789920" cy="320040"/>
          </a:xfrm>
          <a:prstGeom prst="rect">
            <a:avLst/>
          </a:prstGeom>
          <a:noFill/>
        </p:spPr>
        <p:txBody>
          <a:bodyPr wrap="square">
            <a:spAutoFit/>
          </a:bodyPr>
          <a:lstStyle/>
          <a:p>
            <a:pPr algn="l"/>
            <a:r>
              <a:rPr sz="2000" b="1" i="0">
                <a:solidFill>
                  <a:srgbClr val="FF6D00"/>
                </a:solidFill>
              </a:rPr>
              <a:t>Iterate and evaluate</a:t>
            </a:r>
          </a:p>
        </p:txBody>
      </p:sp>
      <p:sp>
        <p:nvSpPr>
          <p:cNvPr id="23" name="TextBox 22"/>
          <p:cNvSpPr txBox="1"/>
          <p:nvPr/>
        </p:nvSpPr>
        <p:spPr>
          <a:xfrm>
            <a:off x="777240" y="6062472"/>
            <a:ext cx="10789920" cy="457200"/>
          </a:xfrm>
          <a:prstGeom prst="rect">
            <a:avLst/>
          </a:prstGeom>
          <a:noFill/>
        </p:spPr>
        <p:txBody>
          <a:bodyPr wrap="square">
            <a:spAutoFit/>
          </a:bodyPr>
          <a:lstStyle/>
          <a:p>
            <a:pPr algn="l"/>
            <a:r>
              <a:rPr sz="1600" b="0" i="0">
                <a:solidFill>
                  <a:srgbClr val="444466"/>
                </a:solidFill>
              </a:rPr>
              <a:t>Use the refinement cycle and evaluation criteria to continuously improve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6C35D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10972800" cy="1188720"/>
          </a:xfrm>
          <a:prstGeom prst="rect">
            <a:avLst/>
          </a:prstGeom>
          <a:noFill/>
        </p:spPr>
        <p:txBody>
          <a:bodyPr wrap="square">
            <a:spAutoFit/>
          </a:bodyPr>
          <a:lstStyle/>
          <a:p>
            <a:pPr algn="l"/>
            <a:r>
              <a:rPr sz="5600" b="1" i="0">
                <a:solidFill>
                  <a:srgbClr val="FFFFFF"/>
                </a:solidFill>
              </a:rPr>
              <a:t>Thank You!</a:t>
            </a:r>
          </a:p>
        </p:txBody>
      </p:sp>
      <p:sp>
        <p:nvSpPr>
          <p:cNvPr id="4" name="TextBox 3"/>
          <p:cNvSpPr txBox="1"/>
          <p:nvPr/>
        </p:nvSpPr>
        <p:spPr>
          <a:xfrm>
            <a:off x="777240" y="3108960"/>
            <a:ext cx="10972800" cy="731520"/>
          </a:xfrm>
          <a:prstGeom prst="rect">
            <a:avLst/>
          </a:prstGeom>
          <a:noFill/>
        </p:spPr>
        <p:txBody>
          <a:bodyPr wrap="square">
            <a:spAutoFit/>
          </a:bodyPr>
          <a:lstStyle/>
          <a:p>
            <a:pPr algn="l"/>
            <a:r>
              <a:rPr sz="3200" b="0" i="0">
                <a:solidFill>
                  <a:srgbClr val="E8ECF8"/>
                </a:solidFill>
              </a:rPr>
              <a:t>Questions &amp; Discussion</a:t>
            </a:r>
          </a:p>
        </p:txBody>
      </p:sp>
      <p:sp>
        <p:nvSpPr>
          <p:cNvPr id="5" name="Rectangle 4"/>
          <p:cNvSpPr/>
          <p:nvPr/>
        </p:nvSpPr>
        <p:spPr>
          <a:xfrm>
            <a:off x="777240" y="3931920"/>
            <a:ext cx="4114800" cy="54864"/>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297680"/>
            <a:ext cx="9144000" cy="914400"/>
          </a:xfrm>
          <a:prstGeom prst="rect">
            <a:avLst/>
          </a:prstGeom>
          <a:noFill/>
        </p:spPr>
        <p:txBody>
          <a:bodyPr wrap="square">
            <a:spAutoFit/>
          </a:bodyPr>
          <a:lstStyle/>
          <a:p>
            <a:pPr algn="l"/>
            <a:r>
              <a:rPr sz="2000" b="0" i="1">
                <a:solidFill>
                  <a:srgbClr val="E8ECF8"/>
                </a:solidFill>
              </a:rPr>
              <a:t>Keep practicing with frameworks — the more you use them,
the more natural structured prompting becomes.</a:t>
            </a:r>
          </a:p>
        </p:txBody>
      </p:sp>
      <p:sp>
        <p:nvSpPr>
          <p:cNvPr id="7" name="TextBox 6"/>
          <p:cNvSpPr txBox="1"/>
          <p:nvPr/>
        </p:nvSpPr>
        <p:spPr>
          <a:xfrm>
            <a:off x="777240" y="5303520"/>
            <a:ext cx="9144000" cy="457200"/>
          </a:xfrm>
          <a:prstGeom prst="rect">
            <a:avLst/>
          </a:prstGeom>
          <a:noFill/>
        </p:spPr>
        <p:txBody>
          <a:bodyPr wrap="square">
            <a:spAutoFit/>
          </a:bodyPr>
          <a:lstStyle/>
          <a:p>
            <a:pPr algn="l"/>
            <a:r>
              <a:rPr sz="1800" b="1" i="0">
                <a:solidFill>
                  <a:srgbClr val="FFD600"/>
                </a:solidFill>
              </a:rPr>
              <a:t>Remember: AI is a tool — your expertise drives the outcome.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